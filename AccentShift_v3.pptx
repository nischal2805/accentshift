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 We are Team [Name], presenting AccentShift — AI-powered accent conversion that preserves emotion.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AccentShift converts accents while preserving emotion. Three pillars: emotion preservation, dual-engine ensemble, production ready.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1.5B English speakers, 1.1B non-native. Accents cause miscommunication. Existing tools destroy emotion. Can we do better?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5-way disentanglement: extract 3, discard 2, re-synthesize with new accent.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steps: input, segmentation, feature extraction, dual conversion, quality selection, emotion correction.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architecture walkthrough with diagram.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architecturally different models. Ensembling with quality scoring outperforms either alone.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3-layer emotion guard: extraction, quality gating, active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accents. Zero-shot or fine-tuned on L2-ARCTIC parallel pairs.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web app with upload, waveform viz, emotion bars, quality metrics, download.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5 metrics pass. 0.91 emotion sim = near-perfect emotion preservation.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tech stack. Fits on RTX 4060 8GB. Vevo on CPU fallback.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system with dual ensemble + 3-layer emotion + edge deployment + web app.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B: INT8 ONNX, CPU-only, 200-400ms latency.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papers we build on: Seed-VC, Vevo, Whisper, wav2vec2, L2-ARCTIC.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streaming, more accents. Phase 2: mobile, enterprise. Vision: accent is a choice, not a barrier.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 We can demo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Oval 1"/>
          <p:cNvSpPr/>
          <p:nvPr/>
        </p:nvSpPr>
        <p:spPr>
          <a:xfrm>
            <a:off x="10058400" y="457200"/>
            <a:ext cx="3200400" cy="3200400"/>
          </a:xfrm>
          <a:prstGeom prst="ellipse">
            <a:avLst/>
          </a:prstGeom>
          <a:solidFill>
            <a:srgbClr val="14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4572000"/>
            <a:ext cx="2286000" cy="2286000"/>
          </a:xfrm>
          <a:prstGeom prst="ellipse">
            <a:avLst/>
          </a:prstGeom>
          <a:solidFill>
            <a:srgbClr val="121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772400" y="4114800"/>
            <a:ext cx="3657600" cy="3657600"/>
          </a:xfrm>
          <a:prstGeom prst="ellipse">
            <a:avLst/>
          </a:prstGeom>
          <a:solidFill>
            <a:srgbClr val="12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32720" cy="914400"/>
          </a:xfrm>
          <a:prstGeom prst="rect">
            <a:avLst/>
          </a:prstGeom>
          <a:noFill/>
        </p:spPr>
        <p:txBody>
          <a:bodyPr wrap="square">
            <a:spAutoFit/>
          </a:bodyPr>
          <a:lstStyle/>
          <a:p>
            <a:pPr algn="ctr">
              <a:spcAft>
                <a:spcPts val="0"/>
              </a:spcAft>
              <a:defRPr sz="6000" b="1">
                <a:solidFill>
                  <a:srgbClr val="FFFFFF"/>
                </a:solidFill>
                <a:latin typeface="Calibri"/>
              </a:defRPr>
            </a:pPr>
            <a:r>
              <a:t>AccentShift</a:t>
            </a:r>
          </a:p>
        </p:txBody>
      </p:sp>
      <p:sp>
        <p:nvSpPr>
          <p:cNvPr id="6" name="TextBox 5"/>
          <p:cNvSpPr txBox="1"/>
          <p:nvPr/>
        </p:nvSpPr>
        <p:spPr>
          <a:xfrm>
            <a:off x="914400" y="2651760"/>
            <a:ext cx="10332720" cy="548640"/>
          </a:xfrm>
          <a:prstGeom prst="rect">
            <a:avLst/>
          </a:prstGeom>
          <a:noFill/>
        </p:spPr>
        <p:txBody>
          <a:bodyPr wrap="square">
            <a:spAutoFit/>
          </a:bodyPr>
          <a:lstStyle/>
          <a:p>
            <a:pPr algn="ctr">
              <a:spcAft>
                <a:spcPts val="0"/>
              </a:spcAft>
              <a:defRPr sz="2400" b="0">
                <a:solidFill>
                  <a:srgbClr val="3B82F6"/>
                </a:solidFill>
                <a:latin typeface="Calibri"/>
              </a:defRPr>
            </a:pPr>
            <a:r>
              <a:t>Your Voice, Any Accent — Across the World</a:t>
            </a:r>
          </a:p>
        </p:txBody>
      </p:sp>
      <p:sp>
        <p:nvSpPr>
          <p:cNvPr id="7" name="TextBox 6"/>
          <p:cNvSpPr txBox="1"/>
          <p:nvPr/>
        </p:nvSpPr>
        <p:spPr>
          <a:xfrm>
            <a:off x="1828800" y="3383280"/>
            <a:ext cx="8503920" cy="640080"/>
          </a:xfrm>
          <a:prstGeom prst="rect">
            <a:avLst/>
          </a:prstGeom>
          <a:noFill/>
        </p:spPr>
        <p:txBody>
          <a:bodyPr wrap="square">
            <a:spAutoFit/>
          </a:bodyPr>
          <a:lstStyle/>
          <a:p>
            <a:pPr algn="ctr">
              <a:spcAft>
                <a:spcPts val="0"/>
              </a:spcAft>
              <a:defRPr sz="1500" b="0">
                <a:solidFill>
                  <a:srgbClr val="94A3B8"/>
                </a:solidFill>
                <a:latin typeface="Calibri"/>
              </a:defRPr>
            </a:pPr>
            <a:r>
              <a:t>An AI-powered system that converts English speech from one accent to another while perfectly preserving the speaker’s emotion, prosody, and intensity.</a:t>
            </a:r>
          </a:p>
        </p:txBody>
      </p:sp>
      <p:sp>
        <p:nvSpPr>
          <p:cNvPr id="8" name="Rectangle 7"/>
          <p:cNvSpPr/>
          <p:nvPr/>
        </p:nvSpPr>
        <p:spPr>
          <a:xfrm>
            <a:off x="5029200" y="4297680"/>
            <a:ext cx="2103120" cy="25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572000"/>
            <a:ext cx="10332720" cy="320040"/>
          </a:xfrm>
          <a:prstGeom prst="rect">
            <a:avLst/>
          </a:prstGeom>
          <a:noFill/>
        </p:spPr>
        <p:txBody>
          <a:bodyPr wrap="square">
            <a:spAutoFit/>
          </a:bodyPr>
          <a:lstStyle/>
          <a:p>
            <a:pPr algn="ctr">
              <a:spcAft>
                <a:spcPts val="0"/>
              </a:spcAft>
              <a:defRPr sz="1400" b="0">
                <a:solidFill>
                  <a:srgbClr val="64748B"/>
                </a:solidFill>
                <a:latin typeface="Calibri"/>
              </a:defRPr>
            </a:pPr>
            <a:r>
              <a:t>DP6  |  Honeywell Designathon 2025</a:t>
            </a:r>
          </a:p>
        </p:txBody>
      </p:sp>
      <p:sp>
        <p:nvSpPr>
          <p:cNvPr id="10" name="TextBox 9"/>
          <p:cNvSpPr txBox="1"/>
          <p:nvPr/>
        </p:nvSpPr>
        <p:spPr>
          <a:xfrm>
            <a:off x="914400" y="5029200"/>
            <a:ext cx="10332720" cy="320040"/>
          </a:xfrm>
          <a:prstGeom prst="rect">
            <a:avLst/>
          </a:prstGeom>
          <a:noFill/>
        </p:spPr>
        <p:txBody>
          <a:bodyPr wrap="square">
            <a:spAutoFit/>
          </a:bodyPr>
          <a:lstStyle/>
          <a:p>
            <a:pPr algn="ctr">
              <a:spcAft>
                <a:spcPts val="0"/>
              </a:spcAft>
              <a:defRPr sz="1300" b="0">
                <a:solidFill>
                  <a:srgbClr val="475569"/>
                </a:solidFill>
                <a:latin typeface="Calibri"/>
              </a:defRPr>
            </a:pPr>
            <a:r>
              <a:t>Team [Your Team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What is AccentShift?</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Introduction to our project</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63040"/>
            <a:ext cx="10424160" cy="1097280"/>
          </a:xfrm>
          <a:prstGeom prst="rect">
            <a:avLst/>
          </a:prstGeom>
          <a:noFill/>
        </p:spPr>
        <p:txBody>
          <a:bodyPr wrap="square">
            <a:spAutoFit/>
          </a:bodyPr>
          <a:lstStyle/>
          <a:p>
            <a:pPr algn="l">
              <a:spcAft>
                <a:spcPts val="0"/>
              </a:spcAft>
              <a:defRPr sz="1700" b="0">
                <a:solidFill>
                  <a:srgbClr val="1E293B"/>
                </a:solidFill>
                <a:latin typeface="Calibri"/>
              </a:defRPr>
            </a:pPr>
            <a:r>
              <a:t>AccentShift is an end-to-end AI pipeline that takes English audio spoken in any accent and converts it to a target English accent — Indian, Chinese, Japanese, British, or American — while preserving the speaker’s original emotion, prosody, and voice intensity. The output is speaker-agnostic: we change the accent, not the identity.</a:t>
            </a:r>
          </a:p>
        </p:txBody>
      </p:sp>
      <p:sp>
        <p:nvSpPr>
          <p:cNvPr id="7" name="TextBox 6"/>
          <p:cNvSpPr txBox="1"/>
          <p:nvPr/>
        </p:nvSpPr>
        <p:spPr>
          <a:xfrm>
            <a:off x="822960" y="2743200"/>
            <a:ext cx="10424160" cy="365760"/>
          </a:xfrm>
          <a:prstGeom prst="rect">
            <a:avLst/>
          </a:prstGeom>
          <a:noFill/>
        </p:spPr>
        <p:txBody>
          <a:bodyPr wrap="square">
            <a:spAutoFit/>
          </a:bodyPr>
          <a:lstStyle/>
          <a:p>
            <a:pPr algn="l">
              <a:spcAft>
                <a:spcPts val="0"/>
              </a:spcAft>
              <a:defRPr sz="1600" b="1">
                <a:solidFill>
                  <a:srgbClr val="111827"/>
                </a:solidFill>
                <a:latin typeface="Calibri"/>
              </a:defRPr>
            </a:pPr>
            <a:r>
              <a:t>Three core pillars of AccentShift:</a:t>
            </a:r>
          </a:p>
        </p:txBody>
      </p:sp>
      <p:sp>
        <p:nvSpPr>
          <p:cNvPr id="8" name="Rounded Rectangle 7"/>
          <p:cNvSpPr/>
          <p:nvPr/>
        </p:nvSpPr>
        <p:spPr>
          <a:xfrm>
            <a:off x="822960" y="3246120"/>
            <a:ext cx="10424160" cy="960120"/>
          </a:xfrm>
          <a:prstGeom prst="roundRect">
            <a:avLst>
              <a:gd name="adj" fmla="val 6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46120"/>
            <a:ext cx="63500"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337560"/>
            <a:ext cx="9784080" cy="274320"/>
          </a:xfrm>
          <a:prstGeom prst="rect">
            <a:avLst/>
          </a:prstGeom>
          <a:noFill/>
        </p:spPr>
        <p:txBody>
          <a:bodyPr wrap="square">
            <a:spAutoFit/>
          </a:bodyPr>
          <a:lstStyle/>
          <a:p>
            <a:pPr algn="l">
              <a:spcAft>
                <a:spcPts val="0"/>
              </a:spcAft>
              <a:defRPr sz="1500" b="1">
                <a:solidFill>
                  <a:srgbClr val="2563EB"/>
                </a:solidFill>
                <a:latin typeface="Calibri"/>
              </a:defRPr>
            </a:pPr>
            <a:r>
              <a:t>Emotion Preservation</a:t>
            </a:r>
          </a:p>
        </p:txBody>
      </p:sp>
      <p:sp>
        <p:nvSpPr>
          <p:cNvPr id="11" name="TextBox 10"/>
          <p:cNvSpPr txBox="1"/>
          <p:nvPr/>
        </p:nvSpPr>
        <p:spPr>
          <a:xfrm>
            <a:off x="1188720" y="3657600"/>
            <a:ext cx="9784080" cy="457200"/>
          </a:xfrm>
          <a:prstGeom prst="rect">
            <a:avLst/>
          </a:prstGeom>
          <a:noFill/>
        </p:spPr>
        <p:txBody>
          <a:bodyPr wrap="square">
            <a:spAutoFit/>
          </a:bodyPr>
          <a:lstStyle/>
          <a:p>
            <a:pPr algn="l">
              <a:spcAft>
                <a:spcPts val="0"/>
              </a:spcAft>
              <a:defRPr sz="1300" b="0">
                <a:solidFill>
                  <a:srgbClr val="475069"/>
                </a:solidFill>
                <a:latin typeface="Calibri"/>
              </a:defRPr>
            </a:pPr>
            <a:r>
              <a:t>We use a 3-layer guard system — dimensional emotion extraction, quality-gated model selection, and active pitch/energy correction — to ensure emotions survive accent conversion intact.</a:t>
            </a:r>
          </a:p>
        </p:txBody>
      </p:sp>
      <p:sp>
        <p:nvSpPr>
          <p:cNvPr id="12" name="Rounded Rectangle 11"/>
          <p:cNvSpPr/>
          <p:nvPr/>
        </p:nvSpPr>
        <p:spPr>
          <a:xfrm>
            <a:off x="822960" y="4389120"/>
            <a:ext cx="10424160" cy="960120"/>
          </a:xfrm>
          <a:prstGeom prst="roundRect">
            <a:avLst>
              <a:gd name="adj" fmla="val 6000"/>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389120"/>
            <a:ext cx="63500" cy="9601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480560"/>
            <a:ext cx="9784080" cy="274320"/>
          </a:xfrm>
          <a:prstGeom prst="rect">
            <a:avLst/>
          </a:prstGeom>
          <a:noFill/>
        </p:spPr>
        <p:txBody>
          <a:bodyPr wrap="square">
            <a:spAutoFit/>
          </a:bodyPr>
          <a:lstStyle/>
          <a:p>
            <a:pPr algn="l">
              <a:spcAft>
                <a:spcPts val="0"/>
              </a:spcAft>
              <a:defRPr sz="1500" b="1">
                <a:solidFill>
                  <a:srgbClr val="14B8A6"/>
                </a:solidFill>
                <a:latin typeface="Calibri"/>
              </a:defRPr>
            </a:pPr>
            <a:r>
              <a:t>Dual-Engine Ensemble</a:t>
            </a:r>
          </a:p>
        </p:txBody>
      </p:sp>
      <p:sp>
        <p:nvSpPr>
          <p:cNvPr id="15" name="TextBox 14"/>
          <p:cNvSpPr txBox="1"/>
          <p:nvPr/>
        </p:nvSpPr>
        <p:spPr>
          <a:xfrm>
            <a:off x="1188720" y="4800600"/>
            <a:ext cx="9784080" cy="457200"/>
          </a:xfrm>
          <a:prstGeom prst="rect">
            <a:avLst/>
          </a:prstGeom>
          <a:noFill/>
        </p:spPr>
        <p:txBody>
          <a:bodyPr wrap="square">
            <a:spAutoFit/>
          </a:bodyPr>
          <a:lstStyle/>
          <a:p>
            <a:pPr algn="l">
              <a:spcAft>
                <a:spcPts val="0"/>
              </a:spcAft>
              <a:defRPr sz="1300" b="0">
                <a:solidFill>
                  <a:srgbClr val="475069"/>
                </a:solidFill>
                <a:latin typeface="Calibri"/>
              </a:defRPr>
            </a:pPr>
            <a:r>
              <a:t>Two architecturally different voice conversion models (Seed-VC V2 and Vevo-Voice) run in parallel, and a quality scorer picks the best output per audio segment.</a:t>
            </a:r>
          </a:p>
        </p:txBody>
      </p:sp>
      <p:sp>
        <p:nvSpPr>
          <p:cNvPr id="16" name="Rounded Rectangle 15"/>
          <p:cNvSpPr/>
          <p:nvPr/>
        </p:nvSpPr>
        <p:spPr>
          <a:xfrm>
            <a:off x="822960" y="5532120"/>
            <a:ext cx="10424160" cy="960120"/>
          </a:xfrm>
          <a:prstGeom prst="roundRect">
            <a:avLst>
              <a:gd name="adj" fmla="val 6000"/>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5532120"/>
            <a:ext cx="63500" cy="9601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5623560"/>
            <a:ext cx="9784080" cy="274320"/>
          </a:xfrm>
          <a:prstGeom prst="rect">
            <a:avLst/>
          </a:prstGeom>
          <a:noFill/>
        </p:spPr>
        <p:txBody>
          <a:bodyPr wrap="square">
            <a:spAutoFit/>
          </a:bodyPr>
          <a:lstStyle/>
          <a:p>
            <a:pPr algn="l">
              <a:spcAft>
                <a:spcPts val="0"/>
              </a:spcAft>
              <a:defRPr sz="1500" b="1">
                <a:solidFill>
                  <a:srgbClr val="6366F1"/>
                </a:solidFill>
                <a:latin typeface="Calibri"/>
              </a:defRPr>
            </a:pPr>
            <a:r>
              <a:t>Production Ready</a:t>
            </a:r>
          </a:p>
        </p:txBody>
      </p:sp>
      <p:sp>
        <p:nvSpPr>
          <p:cNvPr id="19" name="TextBox 18"/>
          <p:cNvSpPr txBox="1"/>
          <p:nvPr/>
        </p:nvSpPr>
        <p:spPr>
          <a:xfrm>
            <a:off x="1188720" y="5943600"/>
            <a:ext cx="9784080" cy="457200"/>
          </a:xfrm>
          <a:prstGeom prst="rect">
            <a:avLst/>
          </a:prstGeom>
          <a:noFill/>
        </p:spPr>
        <p:txBody>
          <a:bodyPr wrap="square">
            <a:spAutoFit/>
          </a:bodyPr>
          <a:lstStyle/>
          <a:p>
            <a:pPr algn="l">
              <a:spcAft>
                <a:spcPts val="0"/>
              </a:spcAft>
              <a:defRPr sz="1300" b="0">
                <a:solidFill>
                  <a:srgbClr val="475069"/>
                </a:solidFill>
                <a:latin typeface="Calibri"/>
              </a:defRPr>
            </a:pPr>
            <a:r>
              <a:t>A complete Next.js web app, FastAPI backend, automated 5-metric evaluation suite, and an edge deployment variant for CPU-only devices.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Problem Statement</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Why this matters</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463040"/>
            <a:ext cx="10424160" cy="2286000"/>
          </a:xfrm>
          <a:prstGeom prst="roundRect">
            <a:avLst>
              <a:gd name="adj" fmla="val 6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463040"/>
            <a:ext cx="1042416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645920"/>
            <a:ext cx="9784080" cy="274320"/>
          </a:xfrm>
          <a:prstGeom prst="rect">
            <a:avLst/>
          </a:prstGeom>
          <a:noFill/>
        </p:spPr>
        <p:txBody>
          <a:bodyPr wrap="square">
            <a:spAutoFit/>
          </a:bodyPr>
          <a:lstStyle/>
          <a:p>
            <a:pPr algn="l">
              <a:spcAft>
                <a:spcPts val="0"/>
              </a:spcAft>
              <a:defRPr sz="1200" b="1">
                <a:solidFill>
                  <a:srgbClr val="2563EB"/>
                </a:solidFill>
                <a:latin typeface="Calibri"/>
              </a:defRPr>
            </a:pPr>
            <a:r>
              <a:t>THE PROBLEM</a:t>
            </a:r>
          </a:p>
        </p:txBody>
      </p:sp>
      <p:sp>
        <p:nvSpPr>
          <p:cNvPr id="9" name="TextBox 8"/>
          <p:cNvSpPr txBox="1"/>
          <p:nvPr/>
        </p:nvSpPr>
        <p:spPr>
          <a:xfrm>
            <a:off x="1188720" y="2011680"/>
            <a:ext cx="9784080" cy="1554480"/>
          </a:xfrm>
          <a:prstGeom prst="rect">
            <a:avLst/>
          </a:prstGeom>
          <a:noFill/>
        </p:spPr>
        <p:txBody>
          <a:bodyPr wrap="square">
            <a:spAutoFit/>
          </a:bodyPr>
          <a:lstStyle/>
          <a:p>
            <a:pPr algn="l">
              <a:spcAft>
                <a:spcPts val="0"/>
              </a:spcAft>
              <a:defRPr sz="1500" b="0">
                <a:solidFill>
                  <a:srgbClr val="1E293B"/>
                </a:solidFill>
                <a:latin typeface="Calibri"/>
              </a:defRPr>
            </a:pPr>
            <a:r>
              <a:t>Over 1.1 billion people speak English as a second language. Accent differences lead to miscommunication in business meetings, bias in hiring processes and customer service interactions, and reduced confidence for non-native speakers.</a:t>
            </a:r>
            <a:br/>
            <a:br/>
            <a:r>
              <a:t>Existing voice conversion tools can change the accent, but they destroy the speaker’s emotion and expressiveness in the process — making speech sound flat, robotic, and unnatural. There is currently no open-source system that performs accent conversion while explicitly preserving emotional content.</a:t>
            </a:r>
          </a:p>
        </p:txBody>
      </p:sp>
      <p:sp>
        <p:nvSpPr>
          <p:cNvPr id="10" name="Rounded Rectangle 9"/>
          <p:cNvSpPr/>
          <p:nvPr/>
        </p:nvSpPr>
        <p:spPr>
          <a:xfrm>
            <a:off x="822960" y="4023360"/>
            <a:ext cx="2423160" cy="13716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2057400" cy="457200"/>
          </a:xfrm>
          <a:prstGeom prst="rect">
            <a:avLst/>
          </a:prstGeom>
          <a:noFill/>
        </p:spPr>
        <p:txBody>
          <a:bodyPr wrap="square">
            <a:spAutoFit/>
          </a:bodyPr>
          <a:lstStyle/>
          <a:p>
            <a:pPr algn="ctr">
              <a:spcAft>
                <a:spcPts val="0"/>
              </a:spcAft>
              <a:defRPr sz="2200" b="1">
                <a:solidFill>
                  <a:srgbClr val="2563EB"/>
                </a:solidFill>
                <a:latin typeface="Calibri"/>
              </a:defRPr>
            </a:pPr>
            <a:r>
              <a:t>1.5 Billion</a:t>
            </a:r>
          </a:p>
        </p:txBody>
      </p:sp>
      <p:sp>
        <p:nvSpPr>
          <p:cNvPr id="12" name="TextBox 11"/>
          <p:cNvSpPr txBox="1"/>
          <p:nvPr/>
        </p:nvSpPr>
        <p:spPr>
          <a:xfrm>
            <a:off x="1005840" y="4617720"/>
            <a:ext cx="2057400" cy="548640"/>
          </a:xfrm>
          <a:prstGeom prst="rect">
            <a:avLst/>
          </a:prstGeom>
          <a:noFill/>
        </p:spPr>
        <p:txBody>
          <a:bodyPr wrap="square">
            <a:spAutoFit/>
          </a:bodyPr>
          <a:lstStyle/>
          <a:p>
            <a:pPr algn="ctr">
              <a:spcAft>
                <a:spcPts val="0"/>
              </a:spcAft>
              <a:defRPr sz="1100" b="0">
                <a:solidFill>
                  <a:srgbClr val="6B7280"/>
                </a:solidFill>
                <a:latin typeface="Calibri"/>
              </a:defRPr>
            </a:pPr>
            <a:r>
              <a:t>English speakers worldwide.</a:t>
            </a:r>
            <a:br/>
            <a:r>
              <a:t>Only 400M are native.</a:t>
            </a:r>
          </a:p>
        </p:txBody>
      </p:sp>
      <p:sp>
        <p:nvSpPr>
          <p:cNvPr id="13" name="Rounded Rectangle 12"/>
          <p:cNvSpPr/>
          <p:nvPr/>
        </p:nvSpPr>
        <p:spPr>
          <a:xfrm>
            <a:off x="3429000" y="4023360"/>
            <a:ext cx="2423160" cy="13716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4114800"/>
            <a:ext cx="2057400" cy="457200"/>
          </a:xfrm>
          <a:prstGeom prst="rect">
            <a:avLst/>
          </a:prstGeom>
          <a:noFill/>
        </p:spPr>
        <p:txBody>
          <a:bodyPr wrap="square">
            <a:spAutoFit/>
          </a:bodyPr>
          <a:lstStyle/>
          <a:p>
            <a:pPr algn="ctr">
              <a:spcAft>
                <a:spcPts val="0"/>
              </a:spcAft>
              <a:defRPr sz="2200" b="1">
                <a:solidFill>
                  <a:srgbClr val="2563EB"/>
                </a:solidFill>
                <a:latin typeface="Calibri"/>
              </a:defRPr>
            </a:pPr>
            <a:r>
              <a:t>23% Higher</a:t>
            </a:r>
          </a:p>
        </p:txBody>
      </p:sp>
      <p:sp>
        <p:nvSpPr>
          <p:cNvPr id="15" name="TextBox 14"/>
          <p:cNvSpPr txBox="1"/>
          <p:nvPr/>
        </p:nvSpPr>
        <p:spPr>
          <a:xfrm>
            <a:off x="3611880" y="4617720"/>
            <a:ext cx="2057400" cy="548640"/>
          </a:xfrm>
          <a:prstGeom prst="rect">
            <a:avLst/>
          </a:prstGeom>
          <a:noFill/>
        </p:spPr>
        <p:txBody>
          <a:bodyPr wrap="square">
            <a:spAutoFit/>
          </a:bodyPr>
          <a:lstStyle/>
          <a:p>
            <a:pPr algn="ctr">
              <a:spcAft>
                <a:spcPts val="0"/>
              </a:spcAft>
              <a:defRPr sz="1100" b="0">
                <a:solidFill>
                  <a:srgbClr val="6B7280"/>
                </a:solidFill>
                <a:latin typeface="Calibri"/>
              </a:defRPr>
            </a:pPr>
            <a:r>
              <a:t>Misunderstanding rate in</a:t>
            </a:r>
            <a:br/>
            <a:r>
              <a:t>cross-accent business calls.</a:t>
            </a:r>
          </a:p>
        </p:txBody>
      </p:sp>
      <p:sp>
        <p:nvSpPr>
          <p:cNvPr id="16" name="Rounded Rectangle 15"/>
          <p:cNvSpPr/>
          <p:nvPr/>
        </p:nvSpPr>
        <p:spPr>
          <a:xfrm>
            <a:off x="6035040" y="4023360"/>
            <a:ext cx="2423160" cy="13716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4114800"/>
            <a:ext cx="2057400" cy="457200"/>
          </a:xfrm>
          <a:prstGeom prst="rect">
            <a:avLst/>
          </a:prstGeom>
          <a:noFill/>
        </p:spPr>
        <p:txBody>
          <a:bodyPr wrap="square">
            <a:spAutoFit/>
          </a:bodyPr>
          <a:lstStyle/>
          <a:p>
            <a:pPr algn="ctr">
              <a:spcAft>
                <a:spcPts val="0"/>
              </a:spcAft>
              <a:defRPr sz="2200" b="1">
                <a:solidFill>
                  <a:srgbClr val="2563EB"/>
                </a:solidFill>
                <a:latin typeface="Calibri"/>
              </a:defRPr>
            </a:pPr>
            <a:r>
              <a:t>73% Report</a:t>
            </a:r>
          </a:p>
        </p:txBody>
      </p:sp>
      <p:sp>
        <p:nvSpPr>
          <p:cNvPr id="18" name="TextBox 17"/>
          <p:cNvSpPr txBox="1"/>
          <p:nvPr/>
        </p:nvSpPr>
        <p:spPr>
          <a:xfrm>
            <a:off x="6217920" y="4617720"/>
            <a:ext cx="2057400" cy="548640"/>
          </a:xfrm>
          <a:prstGeom prst="rect">
            <a:avLst/>
          </a:prstGeom>
          <a:noFill/>
        </p:spPr>
        <p:txBody>
          <a:bodyPr wrap="square">
            <a:spAutoFit/>
          </a:bodyPr>
          <a:lstStyle/>
          <a:p>
            <a:pPr algn="ctr">
              <a:spcAft>
                <a:spcPts val="0"/>
              </a:spcAft>
              <a:defRPr sz="1100" b="0">
                <a:solidFill>
                  <a:srgbClr val="6B7280"/>
                </a:solidFill>
                <a:latin typeface="Calibri"/>
              </a:defRPr>
            </a:pPr>
            <a:r>
              <a:t>Reduced confidence due</a:t>
            </a:r>
            <a:br/>
            <a:r>
              <a:t>to accent-related bias.</a:t>
            </a:r>
          </a:p>
        </p:txBody>
      </p:sp>
      <p:sp>
        <p:nvSpPr>
          <p:cNvPr id="19" name="Rounded Rectangle 18"/>
          <p:cNvSpPr/>
          <p:nvPr/>
        </p:nvSpPr>
        <p:spPr>
          <a:xfrm>
            <a:off x="8641080" y="4023360"/>
            <a:ext cx="2423160" cy="13716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23960" y="4114800"/>
            <a:ext cx="2057400" cy="457200"/>
          </a:xfrm>
          <a:prstGeom prst="rect">
            <a:avLst/>
          </a:prstGeom>
          <a:noFill/>
        </p:spPr>
        <p:txBody>
          <a:bodyPr wrap="square">
            <a:spAutoFit/>
          </a:bodyPr>
          <a:lstStyle/>
          <a:p>
            <a:pPr algn="ctr">
              <a:spcAft>
                <a:spcPts val="0"/>
              </a:spcAft>
              <a:defRPr sz="2200" b="1">
                <a:solidFill>
                  <a:srgbClr val="2563EB"/>
                </a:solidFill>
                <a:latin typeface="Calibri"/>
              </a:defRPr>
            </a:pPr>
            <a:r>
              <a:t>Zero Tools</a:t>
            </a:r>
          </a:p>
        </p:txBody>
      </p:sp>
      <p:sp>
        <p:nvSpPr>
          <p:cNvPr id="21" name="TextBox 20"/>
          <p:cNvSpPr txBox="1"/>
          <p:nvPr/>
        </p:nvSpPr>
        <p:spPr>
          <a:xfrm>
            <a:off x="8823960" y="4617720"/>
            <a:ext cx="2057400" cy="548640"/>
          </a:xfrm>
          <a:prstGeom prst="rect">
            <a:avLst/>
          </a:prstGeom>
          <a:noFill/>
        </p:spPr>
        <p:txBody>
          <a:bodyPr wrap="square">
            <a:spAutoFit/>
          </a:bodyPr>
          <a:lstStyle/>
          <a:p>
            <a:pPr algn="ctr">
              <a:spcAft>
                <a:spcPts val="0"/>
              </a:spcAft>
              <a:defRPr sz="1100" b="0">
                <a:solidFill>
                  <a:srgbClr val="6B7280"/>
                </a:solidFill>
                <a:latin typeface="Calibri"/>
              </a:defRPr>
            </a:pPr>
            <a:r>
              <a:t>Existing systems that</a:t>
            </a:r>
            <a:br/>
            <a:r>
              <a:t>preserve emotion during conversion.</a:t>
            </a:r>
          </a:p>
        </p:txBody>
      </p:sp>
      <p:sp>
        <p:nvSpPr>
          <p:cNvPr id="22" name="Rounded Rectangle 21"/>
          <p:cNvSpPr/>
          <p:nvPr/>
        </p:nvSpPr>
        <p:spPr>
          <a:xfrm>
            <a:off x="822960" y="5669280"/>
            <a:ext cx="10424160" cy="685800"/>
          </a:xfrm>
          <a:prstGeom prst="roundRect">
            <a:avLst>
              <a:gd name="adj" fmla="val 6000"/>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5760720"/>
            <a:ext cx="9784080" cy="457200"/>
          </a:xfrm>
          <a:prstGeom prst="rect">
            <a:avLst/>
          </a:prstGeom>
          <a:noFill/>
        </p:spPr>
        <p:txBody>
          <a:bodyPr wrap="square">
            <a:spAutoFit/>
          </a:bodyPr>
          <a:lstStyle/>
          <a:p>
            <a:pPr algn="ctr">
              <a:spcAft>
                <a:spcPts val="0"/>
              </a:spcAft>
              <a:defRPr sz="1600" b="1">
                <a:solidFill>
                  <a:srgbClr val="1E40AF"/>
                </a:solidFill>
                <a:latin typeface="Calibri"/>
              </a:defRPr>
            </a:pPr>
            <a:r>
              <a:t>Our question: Can we shift accent on demand while perfectly preserving emotion, prosody, and intensity?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The Technical Challenge</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Speech carries 5 entangled attributes — we must separate them</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63040"/>
            <a:ext cx="10424160" cy="731520"/>
          </a:xfrm>
          <a:prstGeom prst="rect">
            <a:avLst/>
          </a:prstGeom>
          <a:noFill/>
        </p:spPr>
        <p:txBody>
          <a:bodyPr wrap="square">
            <a:spAutoFit/>
          </a:bodyPr>
          <a:lstStyle/>
          <a:p>
            <a:pPr algn="l">
              <a:spcAft>
                <a:spcPts val="0"/>
              </a:spcAft>
              <a:defRPr sz="1500" b="0">
                <a:solidFill>
                  <a:srgbClr val="1E293B"/>
                </a:solidFill>
                <a:latin typeface="Calibri"/>
              </a:defRPr>
            </a:pPr>
            <a:r>
              <a:t>Every piece of speech simultaneously carries linguistic content, emotion, prosody, accent, and speaker identity — all deeply entangled. AccentShift must extract and preserve three of these, discard two, and re-synthesize with a new accent. This is a 5-way disentanglement problem.</a:t>
            </a:r>
          </a:p>
        </p:txBody>
      </p:sp>
      <p:graphicFrame>
        <p:nvGraphicFramePr>
          <p:cNvPr id="7" name="Table 6"/>
          <p:cNvGraphicFramePr>
            <a:graphicFrameLocks noGrp="1"/>
          </p:cNvGraphicFramePr>
          <p:nvPr/>
        </p:nvGraphicFramePr>
        <p:xfrm>
          <a:off x="822960" y="2377440"/>
          <a:ext cx="10424160" cy="9144"/>
        </p:xfrm>
        <a:graphic>
          <a:graphicData uri="http://schemas.openxmlformats.org/drawingml/2006/table">
            <a:tbl>
              <a:tblPr firstRow="1" bandRow="1">
                <a:tableStyleId>{5C22544A-7EE6-4342-B048-85BDC9FD1C3A}</a:tableStyleId>
              </a:tblPr>
              <a:tblGrid>
                <a:gridCol w="1828800"/>
                <a:gridCol w="2926080"/>
                <a:gridCol w="2560320"/>
                <a:gridCol w="3108960"/>
              </a:tblGrid>
              <a:tr h="1524">
                <a:tc>
                  <a:txBody>
                    <a:bodyPr/>
                    <a:lstStyle/>
                    <a:p>
                      <a:pPr>
                        <a:spcBef>
                          <a:spcPts val="300"/>
                        </a:spcBef>
                        <a:spcAft>
                          <a:spcPts val="300"/>
                        </a:spcAft>
                        <a:defRPr sz="1300" b="1">
                          <a:solidFill>
                            <a:srgbClr val="FFFFFF"/>
                          </a:solidFill>
                          <a:latin typeface="Calibri"/>
                        </a:defRPr>
                      </a:pPr>
                      <a:r>
                        <a:t>Attribute</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What It Encodes</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Preserve?</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What We Do</a:t>
                      </a:r>
                    </a:p>
                  </a:txBody>
                  <a:tcPr marL="127000" marR="127000" marT="76200" marB="76200">
                    <a:solidFill>
                      <a:srgbClr val="1E40AF"/>
                    </a:solidFill>
                  </a:tcPr>
                </a:tc>
              </a:tr>
              <a:tr h="1524">
                <a:tc>
                  <a:txBody>
                    <a:bodyPr/>
                    <a:lstStyle/>
                    <a:p>
                      <a:pPr>
                        <a:spcBef>
                          <a:spcPts val="300"/>
                        </a:spcBef>
                        <a:spcAft>
                          <a:spcPts val="300"/>
                        </a:spcAft>
                        <a:defRPr sz="1300" b="0">
                          <a:solidFill>
                            <a:srgbClr val="1E293B"/>
                          </a:solidFill>
                          <a:latin typeface="Calibri"/>
                        </a:defRPr>
                      </a:pPr>
                      <a:r>
                        <a:t>Linguistic Content</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Words, phonemes, meaning</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Yes — highest priority</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Preserve via Whisper ASR</a:t>
                      </a:r>
                    </a:p>
                  </a:txBody>
                  <a:tcPr marL="127000" marR="127000" marT="76200" marB="76200">
                    <a:solidFill>
                      <a:srgbClr val="FFFFFF"/>
                    </a:solidFill>
                  </a:tcPr>
                </a:tc>
              </a:tr>
              <a:tr h="1524">
                <a:tc>
                  <a:txBody>
                    <a:bodyPr/>
                    <a:lstStyle/>
                    <a:p>
                      <a:pPr>
                        <a:spcBef>
                          <a:spcPts val="300"/>
                        </a:spcBef>
                        <a:spcAft>
                          <a:spcPts val="300"/>
                        </a:spcAft>
                        <a:defRPr sz="1300" b="0">
                          <a:solidFill>
                            <a:srgbClr val="1E293B"/>
                          </a:solidFill>
                          <a:latin typeface="Calibri"/>
                        </a:defRPr>
                      </a:pPr>
                      <a:r>
                        <a:t>Emotion</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Valence, arousal, dominance</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Yes — explicit requirement</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Preserve via 3-layer guard</a:t>
                      </a:r>
                    </a:p>
                  </a:txBody>
                  <a:tcPr marL="127000" marR="127000" marT="76200" marB="76200">
                    <a:solidFill>
                      <a:srgbClr val="F1F5F9"/>
                    </a:solidFill>
                  </a:tcPr>
                </a:tc>
              </a:tr>
              <a:tr h="1524">
                <a:tc>
                  <a:txBody>
                    <a:bodyPr/>
                    <a:lstStyle/>
                    <a:p>
                      <a:pPr>
                        <a:spcBef>
                          <a:spcPts val="300"/>
                        </a:spcBef>
                        <a:spcAft>
                          <a:spcPts val="300"/>
                        </a:spcAft>
                        <a:defRPr sz="1300" b="0">
                          <a:solidFill>
                            <a:srgbClr val="1E293B"/>
                          </a:solidFill>
                          <a:latin typeface="Calibri"/>
                        </a:defRPr>
                      </a:pPr>
                      <a:r>
                        <a:t>Prosody</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Pitch contour, energy, speaking rate</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Yes — carries emotion</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Preserve via pyworld F0</a:t>
                      </a:r>
                    </a:p>
                  </a:txBody>
                  <a:tcPr marL="127000" marR="127000" marT="76200" marB="76200">
                    <a:solidFill>
                      <a:srgbClr val="FFFFFF"/>
                    </a:solidFill>
                  </a:tcPr>
                </a:tc>
              </a:tr>
              <a:tr h="1524">
                <a:tc>
                  <a:txBody>
                    <a:bodyPr/>
                    <a:lstStyle/>
                    <a:p>
                      <a:pPr>
                        <a:spcBef>
                          <a:spcPts val="300"/>
                        </a:spcBef>
                        <a:spcAft>
                          <a:spcPts val="300"/>
                        </a:spcAft>
                        <a:defRPr sz="1300" b="0">
                          <a:solidFill>
                            <a:srgbClr val="1E293B"/>
                          </a:solidFill>
                          <a:latin typeface="Calibri"/>
                        </a:defRPr>
                      </a:pPr>
                      <a:r>
                        <a:t>Accent</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Phonetic patterns, vowel shifts, stress timing</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No — this is what we change</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Replace via Seed-VC/Vevo</a:t>
                      </a:r>
                    </a:p>
                  </a:txBody>
                  <a:tcPr marL="127000" marR="127000" marT="76200" marB="76200">
                    <a:solidFill>
                      <a:srgbClr val="F1F5F9"/>
                    </a:solidFill>
                  </a:tcPr>
                </a:tc>
              </a:tr>
              <a:tr h="1524">
                <a:tc>
                  <a:txBody>
                    <a:bodyPr/>
                    <a:lstStyle/>
                    <a:p>
                      <a:pPr>
                        <a:spcBef>
                          <a:spcPts val="300"/>
                        </a:spcBef>
                        <a:spcAft>
                          <a:spcPts val="300"/>
                        </a:spcAft>
                        <a:defRPr sz="1300" b="0">
                          <a:solidFill>
                            <a:srgbClr val="1E293B"/>
                          </a:solidFill>
                          <a:latin typeface="Calibri"/>
                        </a:defRPr>
                      </a:pPr>
                      <a:r>
                        <a:t>Speaker Identity</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Timbre, voice texture, resonance</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No — speaker-agnostic output</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Discard (not cloned)</a:t>
                      </a:r>
                    </a:p>
                  </a:txBody>
                  <a:tcPr marL="127000" marR="127000" marT="76200" marB="76200">
                    <a:solidFill>
                      <a:srgbClr val="FFFFFF"/>
                    </a:solidFill>
                  </a:tcPr>
                </a:tc>
              </a:tr>
            </a:tbl>
          </a:graphicData>
        </a:graphic>
      </p:graphicFrame>
      <p:sp>
        <p:nvSpPr>
          <p:cNvPr id="8" name="Rounded Rectangle 7"/>
          <p:cNvSpPr/>
          <p:nvPr/>
        </p:nvSpPr>
        <p:spPr>
          <a:xfrm>
            <a:off x="822960" y="5303520"/>
            <a:ext cx="10424160" cy="914400"/>
          </a:xfrm>
          <a:prstGeom prst="roundRect">
            <a:avLst>
              <a:gd name="adj" fmla="val 6000"/>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5394960"/>
            <a:ext cx="9784080" cy="640080"/>
          </a:xfrm>
          <a:prstGeom prst="rect">
            <a:avLst/>
          </a:prstGeom>
          <a:noFill/>
        </p:spPr>
        <p:txBody>
          <a:bodyPr wrap="square">
            <a:spAutoFit/>
          </a:bodyPr>
          <a:lstStyle/>
          <a:p>
            <a:pPr algn="ctr">
              <a:spcAft>
                <a:spcPts val="0"/>
              </a:spcAft>
              <a:defRPr sz="1400" b="1">
                <a:solidFill>
                  <a:srgbClr val="1E40AF"/>
                </a:solidFill>
                <a:latin typeface="Calibri"/>
              </a:defRPr>
            </a:pPr>
            <a:r>
              <a:t>This is significantly harder than text-to-speech. We’re not generating new speech — we’re surgically replacing one attribute (accent) while keeping three others (content, emotion, prosody) pixel-perfect.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How It Works</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The AccentShift pipeline in 6 steps</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22960" y="1490472"/>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Calibri"/>
              </a:defRPr>
            </a:pPr>
            <a:r>
              <a:t>1</a:t>
            </a:r>
          </a:p>
        </p:txBody>
      </p:sp>
      <p:sp>
        <p:nvSpPr>
          <p:cNvPr id="7" name="Rounded Rectangle 6"/>
          <p:cNvSpPr/>
          <p:nvPr/>
        </p:nvSpPr>
        <p:spPr>
          <a:xfrm>
            <a:off x="1371600" y="1417320"/>
            <a:ext cx="9875520" cy="6858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1463040"/>
            <a:ext cx="1645920" cy="274320"/>
          </a:xfrm>
          <a:prstGeom prst="rect">
            <a:avLst/>
          </a:prstGeom>
          <a:noFill/>
        </p:spPr>
        <p:txBody>
          <a:bodyPr wrap="square">
            <a:spAutoFit/>
          </a:bodyPr>
          <a:lstStyle/>
          <a:p>
            <a:pPr algn="l">
              <a:spcAft>
                <a:spcPts val="0"/>
              </a:spcAft>
              <a:defRPr sz="1400" b="1">
                <a:solidFill>
                  <a:srgbClr val="2563EB"/>
                </a:solidFill>
                <a:latin typeface="Calibri"/>
              </a:defRPr>
            </a:pPr>
            <a:r>
              <a:t>Audio Input</a:t>
            </a:r>
          </a:p>
        </p:txBody>
      </p:sp>
      <p:sp>
        <p:nvSpPr>
          <p:cNvPr id="9" name="TextBox 8"/>
          <p:cNvSpPr txBox="1"/>
          <p:nvPr/>
        </p:nvSpPr>
        <p:spPr>
          <a:xfrm>
            <a:off x="3200400" y="1463040"/>
            <a:ext cx="7772400" cy="548640"/>
          </a:xfrm>
          <a:prstGeom prst="rect">
            <a:avLst/>
          </a:prstGeom>
          <a:noFill/>
        </p:spPr>
        <p:txBody>
          <a:bodyPr wrap="square">
            <a:spAutoFit/>
          </a:bodyPr>
          <a:lstStyle/>
          <a:p>
            <a:pPr algn="l">
              <a:spcAft>
                <a:spcPts val="0"/>
              </a:spcAft>
              <a:defRPr sz="1300" b="0">
                <a:solidFill>
                  <a:srgbClr val="475069"/>
                </a:solidFill>
                <a:latin typeface="Calibri"/>
              </a:defRPr>
            </a:pPr>
            <a:r>
              <a:t>User uploads English audio in any accent (WAV, MP3, FLAC, M4A).</a:t>
            </a:r>
          </a:p>
        </p:txBody>
      </p:sp>
      <p:sp>
        <p:nvSpPr>
          <p:cNvPr id="10" name="Oval 9"/>
          <p:cNvSpPr/>
          <p:nvPr/>
        </p:nvSpPr>
        <p:spPr>
          <a:xfrm>
            <a:off x="822960" y="2340864"/>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Calibri"/>
              </a:defRPr>
            </a:pPr>
            <a:r>
              <a:t>2</a:t>
            </a:r>
          </a:p>
        </p:txBody>
      </p:sp>
      <p:sp>
        <p:nvSpPr>
          <p:cNvPr id="11" name="Rounded Rectangle 10"/>
          <p:cNvSpPr/>
          <p:nvPr/>
        </p:nvSpPr>
        <p:spPr>
          <a:xfrm>
            <a:off x="1371600" y="2267712"/>
            <a:ext cx="9875520" cy="6858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54480" y="2313432"/>
            <a:ext cx="1645920" cy="274320"/>
          </a:xfrm>
          <a:prstGeom prst="rect">
            <a:avLst/>
          </a:prstGeom>
          <a:noFill/>
        </p:spPr>
        <p:txBody>
          <a:bodyPr wrap="square">
            <a:spAutoFit/>
          </a:bodyPr>
          <a:lstStyle/>
          <a:p>
            <a:pPr algn="l">
              <a:spcAft>
                <a:spcPts val="0"/>
              </a:spcAft>
              <a:defRPr sz="1400" b="1">
                <a:solidFill>
                  <a:srgbClr val="2563EB"/>
                </a:solidFill>
                <a:latin typeface="Calibri"/>
              </a:defRPr>
            </a:pPr>
            <a:r>
              <a:t>Segmentation</a:t>
            </a:r>
          </a:p>
        </p:txBody>
      </p:sp>
      <p:sp>
        <p:nvSpPr>
          <p:cNvPr id="13" name="TextBox 12"/>
          <p:cNvSpPr txBox="1"/>
          <p:nvPr/>
        </p:nvSpPr>
        <p:spPr>
          <a:xfrm>
            <a:off x="3200400" y="2313432"/>
            <a:ext cx="7772400" cy="548640"/>
          </a:xfrm>
          <a:prstGeom prst="rect">
            <a:avLst/>
          </a:prstGeom>
          <a:noFill/>
        </p:spPr>
        <p:txBody>
          <a:bodyPr wrap="square">
            <a:spAutoFit/>
          </a:bodyPr>
          <a:lstStyle/>
          <a:p>
            <a:pPr algn="l">
              <a:spcAft>
                <a:spcPts val="0"/>
              </a:spcAft>
              <a:defRPr sz="1300" b="0">
                <a:solidFill>
                  <a:srgbClr val="475069"/>
                </a:solidFill>
                <a:latin typeface="Calibri"/>
              </a:defRPr>
            </a:pPr>
            <a:r>
              <a:t>Silero VAD splits audio into speech segments (≤30 seconds each).</a:t>
            </a:r>
          </a:p>
        </p:txBody>
      </p:sp>
      <p:sp>
        <p:nvSpPr>
          <p:cNvPr id="14" name="Oval 13"/>
          <p:cNvSpPr/>
          <p:nvPr/>
        </p:nvSpPr>
        <p:spPr>
          <a:xfrm>
            <a:off x="822960" y="3191256"/>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Calibri"/>
              </a:defRPr>
            </a:pPr>
            <a:r>
              <a:t>3</a:t>
            </a:r>
          </a:p>
        </p:txBody>
      </p:sp>
      <p:sp>
        <p:nvSpPr>
          <p:cNvPr id="15" name="Rounded Rectangle 14"/>
          <p:cNvSpPr/>
          <p:nvPr/>
        </p:nvSpPr>
        <p:spPr>
          <a:xfrm>
            <a:off x="1371600" y="3118104"/>
            <a:ext cx="9875520" cy="6858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54480" y="3163824"/>
            <a:ext cx="1645920" cy="274320"/>
          </a:xfrm>
          <a:prstGeom prst="rect">
            <a:avLst/>
          </a:prstGeom>
          <a:noFill/>
        </p:spPr>
        <p:txBody>
          <a:bodyPr wrap="square">
            <a:spAutoFit/>
          </a:bodyPr>
          <a:lstStyle/>
          <a:p>
            <a:pPr algn="l">
              <a:spcAft>
                <a:spcPts val="0"/>
              </a:spcAft>
              <a:defRPr sz="1400" b="1">
                <a:solidFill>
                  <a:srgbClr val="2563EB"/>
                </a:solidFill>
                <a:latin typeface="Calibri"/>
              </a:defRPr>
            </a:pPr>
            <a:r>
              <a:t>Feature Extraction</a:t>
            </a:r>
          </a:p>
        </p:txBody>
      </p:sp>
      <p:sp>
        <p:nvSpPr>
          <p:cNvPr id="17" name="TextBox 16"/>
          <p:cNvSpPr txBox="1"/>
          <p:nvPr/>
        </p:nvSpPr>
        <p:spPr>
          <a:xfrm>
            <a:off x="3200400" y="3163824"/>
            <a:ext cx="7772400" cy="548640"/>
          </a:xfrm>
          <a:prstGeom prst="rect">
            <a:avLst/>
          </a:prstGeom>
          <a:noFill/>
        </p:spPr>
        <p:txBody>
          <a:bodyPr wrap="square">
            <a:spAutoFit/>
          </a:bodyPr>
          <a:lstStyle/>
          <a:p>
            <a:pPr algn="l">
              <a:spcAft>
                <a:spcPts val="0"/>
              </a:spcAft>
              <a:defRPr sz="1300" b="0">
                <a:solidFill>
                  <a:srgbClr val="475069"/>
                </a:solidFill>
                <a:latin typeface="Calibri"/>
              </a:defRPr>
            </a:pPr>
            <a:r>
              <a:t>Three models run in parallel: Whisper extracts transcript, wav2vec2 extracts emotion (V/A/D), pyworld extracts pitch and energy contours.</a:t>
            </a:r>
          </a:p>
        </p:txBody>
      </p:sp>
      <p:sp>
        <p:nvSpPr>
          <p:cNvPr id="18" name="Oval 17"/>
          <p:cNvSpPr/>
          <p:nvPr/>
        </p:nvSpPr>
        <p:spPr>
          <a:xfrm>
            <a:off x="822960" y="4041648"/>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Calibri"/>
              </a:defRPr>
            </a:pPr>
            <a:r>
              <a:t>4</a:t>
            </a:r>
          </a:p>
        </p:txBody>
      </p:sp>
      <p:sp>
        <p:nvSpPr>
          <p:cNvPr id="19" name="Rounded Rectangle 18"/>
          <p:cNvSpPr/>
          <p:nvPr/>
        </p:nvSpPr>
        <p:spPr>
          <a:xfrm>
            <a:off x="1371600" y="3968496"/>
            <a:ext cx="9875520" cy="6858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54480" y="4014216"/>
            <a:ext cx="1645920" cy="274320"/>
          </a:xfrm>
          <a:prstGeom prst="rect">
            <a:avLst/>
          </a:prstGeom>
          <a:noFill/>
        </p:spPr>
        <p:txBody>
          <a:bodyPr wrap="square">
            <a:spAutoFit/>
          </a:bodyPr>
          <a:lstStyle/>
          <a:p>
            <a:pPr algn="l">
              <a:spcAft>
                <a:spcPts val="0"/>
              </a:spcAft>
              <a:defRPr sz="1400" b="1">
                <a:solidFill>
                  <a:srgbClr val="2563EB"/>
                </a:solidFill>
                <a:latin typeface="Calibri"/>
              </a:defRPr>
            </a:pPr>
            <a:r>
              <a:t>Dual Conversion</a:t>
            </a:r>
          </a:p>
        </p:txBody>
      </p:sp>
      <p:sp>
        <p:nvSpPr>
          <p:cNvPr id="21" name="TextBox 20"/>
          <p:cNvSpPr txBox="1"/>
          <p:nvPr/>
        </p:nvSpPr>
        <p:spPr>
          <a:xfrm>
            <a:off x="3200400" y="4014216"/>
            <a:ext cx="7772400" cy="548640"/>
          </a:xfrm>
          <a:prstGeom prst="rect">
            <a:avLst/>
          </a:prstGeom>
          <a:noFill/>
        </p:spPr>
        <p:txBody>
          <a:bodyPr wrap="square">
            <a:spAutoFit/>
          </a:bodyPr>
          <a:lstStyle/>
          <a:p>
            <a:pPr algn="l">
              <a:spcAft>
                <a:spcPts val="0"/>
              </a:spcAft>
              <a:defRPr sz="1300" b="0">
                <a:solidFill>
                  <a:srgbClr val="475069"/>
                </a:solidFill>
                <a:latin typeface="Calibri"/>
              </a:defRPr>
            </a:pPr>
            <a:r>
              <a:t>Two voice conversion engines — Seed-VC V2 and Vevo-Voice — each produce a converted version using a 5–10s target accent reference clip.</a:t>
            </a:r>
          </a:p>
        </p:txBody>
      </p:sp>
      <p:sp>
        <p:nvSpPr>
          <p:cNvPr id="22" name="Oval 21"/>
          <p:cNvSpPr/>
          <p:nvPr/>
        </p:nvSpPr>
        <p:spPr>
          <a:xfrm>
            <a:off x="822960" y="4892040"/>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Calibri"/>
              </a:defRPr>
            </a:pPr>
            <a:r>
              <a:t>5</a:t>
            </a:r>
          </a:p>
        </p:txBody>
      </p:sp>
      <p:sp>
        <p:nvSpPr>
          <p:cNvPr id="23" name="Rounded Rectangle 22"/>
          <p:cNvSpPr/>
          <p:nvPr/>
        </p:nvSpPr>
        <p:spPr>
          <a:xfrm>
            <a:off x="1371600" y="4818888"/>
            <a:ext cx="9875520" cy="6858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54480" y="4864608"/>
            <a:ext cx="1645920" cy="274320"/>
          </a:xfrm>
          <a:prstGeom prst="rect">
            <a:avLst/>
          </a:prstGeom>
          <a:noFill/>
        </p:spPr>
        <p:txBody>
          <a:bodyPr wrap="square">
            <a:spAutoFit/>
          </a:bodyPr>
          <a:lstStyle/>
          <a:p>
            <a:pPr algn="l">
              <a:spcAft>
                <a:spcPts val="0"/>
              </a:spcAft>
              <a:defRPr sz="1400" b="1">
                <a:solidFill>
                  <a:srgbClr val="2563EB"/>
                </a:solidFill>
                <a:latin typeface="Calibri"/>
              </a:defRPr>
            </a:pPr>
            <a:r>
              <a:t>Quality Selection</a:t>
            </a:r>
          </a:p>
        </p:txBody>
      </p:sp>
      <p:sp>
        <p:nvSpPr>
          <p:cNvPr id="25" name="TextBox 24"/>
          <p:cNvSpPr txBox="1"/>
          <p:nvPr/>
        </p:nvSpPr>
        <p:spPr>
          <a:xfrm>
            <a:off x="3200400" y="4864608"/>
            <a:ext cx="7772400" cy="548640"/>
          </a:xfrm>
          <a:prstGeom prst="rect">
            <a:avLst/>
          </a:prstGeom>
          <a:noFill/>
        </p:spPr>
        <p:txBody>
          <a:bodyPr wrap="square">
            <a:spAutoFit/>
          </a:bodyPr>
          <a:lstStyle/>
          <a:p>
            <a:pPr algn="l">
              <a:spcAft>
                <a:spcPts val="0"/>
              </a:spcAft>
              <a:defRPr sz="1300" b="0">
                <a:solidFill>
                  <a:srgbClr val="475069"/>
                </a:solidFill>
                <a:latin typeface="Calibri"/>
              </a:defRPr>
            </a:pPr>
            <a:r>
              <a:t>A scoring function picks the best output per segment: 40% emotion similarity + 40% intelligibility (1−WER) + 20% naturalness (UTMOS).</a:t>
            </a:r>
          </a:p>
        </p:txBody>
      </p:sp>
      <p:sp>
        <p:nvSpPr>
          <p:cNvPr id="26" name="Oval 25"/>
          <p:cNvSpPr/>
          <p:nvPr/>
        </p:nvSpPr>
        <p:spPr>
          <a:xfrm>
            <a:off x="822960" y="5742432"/>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Calibri"/>
              </a:defRPr>
            </a:pPr>
            <a:r>
              <a:t>6</a:t>
            </a:r>
          </a:p>
        </p:txBody>
      </p:sp>
      <p:sp>
        <p:nvSpPr>
          <p:cNvPr id="27" name="Rounded Rectangle 26"/>
          <p:cNvSpPr/>
          <p:nvPr/>
        </p:nvSpPr>
        <p:spPr>
          <a:xfrm>
            <a:off x="1371600" y="5669280"/>
            <a:ext cx="9875520" cy="6858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54480" y="5715000"/>
            <a:ext cx="1645920" cy="274320"/>
          </a:xfrm>
          <a:prstGeom prst="rect">
            <a:avLst/>
          </a:prstGeom>
          <a:noFill/>
        </p:spPr>
        <p:txBody>
          <a:bodyPr wrap="square">
            <a:spAutoFit/>
          </a:bodyPr>
          <a:lstStyle/>
          <a:p>
            <a:pPr algn="l">
              <a:spcAft>
                <a:spcPts val="0"/>
              </a:spcAft>
              <a:defRPr sz="1400" b="1">
                <a:solidFill>
                  <a:srgbClr val="2563EB"/>
                </a:solidFill>
                <a:latin typeface="Calibri"/>
              </a:defRPr>
            </a:pPr>
            <a:r>
              <a:t>Emotion Correction</a:t>
            </a:r>
          </a:p>
        </p:txBody>
      </p:sp>
      <p:sp>
        <p:nvSpPr>
          <p:cNvPr id="29" name="TextBox 28"/>
          <p:cNvSpPr txBox="1"/>
          <p:nvPr/>
        </p:nvSpPr>
        <p:spPr>
          <a:xfrm>
            <a:off x="3200400" y="5715000"/>
            <a:ext cx="7772400" cy="548640"/>
          </a:xfrm>
          <a:prstGeom prst="rect">
            <a:avLst/>
          </a:prstGeom>
          <a:noFill/>
        </p:spPr>
        <p:txBody>
          <a:bodyPr wrap="square">
            <a:spAutoFit/>
          </a:bodyPr>
          <a:lstStyle/>
          <a:p>
            <a:pPr algn="l">
              <a:spcAft>
                <a:spcPts val="0"/>
              </a:spcAft>
              <a:defRPr sz="1300" b="0">
                <a:solidFill>
                  <a:srgbClr val="475069"/>
                </a:solidFill>
                <a:latin typeface="Calibri"/>
              </a:defRPr>
            </a:pPr>
            <a:r>
              <a:t>If emotion drifted (cosine sim &lt; 0.85), pitch contour is rescaled and energy envelope is warped to match the source. Output is loudness-normalized.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System Architecture</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Architecture A — GPU server pipeline</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74320" y="2834640"/>
            <a:ext cx="1188720" cy="731520"/>
          </a:xfrm>
          <a:prstGeom prst="roundRect">
            <a:avLst>
              <a:gd name="adj" fmla="val 6000"/>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2926080"/>
            <a:ext cx="1097280" cy="548640"/>
          </a:xfrm>
          <a:prstGeom prst="rect">
            <a:avLst/>
          </a:prstGeom>
          <a:noFill/>
        </p:spPr>
        <p:txBody>
          <a:bodyPr wrap="square">
            <a:spAutoFit/>
          </a:bodyPr>
          <a:lstStyle/>
          <a:p>
            <a:pPr algn="ctr">
              <a:spcAft>
                <a:spcPts val="0"/>
              </a:spcAft>
              <a:defRPr sz="1100" b="1">
                <a:solidFill>
                  <a:srgbClr val="111827"/>
                </a:solidFill>
                <a:latin typeface="Calibri"/>
              </a:defRPr>
            </a:pPr>
            <a:r>
              <a:t>Input</a:t>
            </a:r>
            <a:br/>
            <a:r>
              <a:t>Audio</a:t>
            </a:r>
          </a:p>
        </p:txBody>
      </p:sp>
      <p:sp>
        <p:nvSpPr>
          <p:cNvPr id="8" name="Right Arrow 7"/>
          <p:cNvSpPr/>
          <p:nvPr/>
        </p:nvSpPr>
        <p:spPr>
          <a:xfrm>
            <a:off x="1508760" y="3108960"/>
            <a:ext cx="365760" cy="182880"/>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65960" y="1234440"/>
            <a:ext cx="1920240" cy="228600"/>
          </a:xfrm>
          <a:prstGeom prst="rect">
            <a:avLst/>
          </a:prstGeom>
          <a:noFill/>
        </p:spPr>
        <p:txBody>
          <a:bodyPr wrap="square">
            <a:spAutoFit/>
          </a:bodyPr>
          <a:lstStyle/>
          <a:p>
            <a:pPr algn="ctr">
              <a:spcAft>
                <a:spcPts val="0"/>
              </a:spcAft>
              <a:defRPr sz="800" b="1">
                <a:solidFill>
                  <a:srgbClr val="6B7280"/>
                </a:solidFill>
                <a:latin typeface="Calibri"/>
              </a:defRPr>
            </a:pPr>
            <a:r>
              <a:t>FEATURE EXTRACTION</a:t>
            </a:r>
          </a:p>
        </p:txBody>
      </p:sp>
      <p:sp>
        <p:nvSpPr>
          <p:cNvPr id="10" name="Rounded Rectangle 9"/>
          <p:cNvSpPr/>
          <p:nvPr/>
        </p:nvSpPr>
        <p:spPr>
          <a:xfrm>
            <a:off x="1965960" y="1463040"/>
            <a:ext cx="1920240" cy="822960"/>
          </a:xfrm>
          <a:prstGeom prst="roundRect">
            <a:avLst>
              <a:gd name="adj" fmla="val 6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57400" y="1536192"/>
            <a:ext cx="1737360" cy="274320"/>
          </a:xfrm>
          <a:prstGeom prst="rect">
            <a:avLst/>
          </a:prstGeom>
          <a:noFill/>
        </p:spPr>
        <p:txBody>
          <a:bodyPr wrap="square">
            <a:spAutoFit/>
          </a:bodyPr>
          <a:lstStyle/>
          <a:p>
            <a:pPr algn="l">
              <a:spcAft>
                <a:spcPts val="0"/>
              </a:spcAft>
              <a:defRPr sz="1200" b="1">
                <a:solidFill>
                  <a:srgbClr val="2563EB"/>
                </a:solidFill>
                <a:latin typeface="Calibri"/>
              </a:defRPr>
            </a:pPr>
            <a:r>
              <a:t>Whisper v3</a:t>
            </a:r>
          </a:p>
        </p:txBody>
      </p:sp>
      <p:sp>
        <p:nvSpPr>
          <p:cNvPr id="12" name="TextBox 11"/>
          <p:cNvSpPr txBox="1"/>
          <p:nvPr/>
        </p:nvSpPr>
        <p:spPr>
          <a:xfrm>
            <a:off x="2057400" y="1847088"/>
            <a:ext cx="1737360" cy="274320"/>
          </a:xfrm>
          <a:prstGeom prst="rect">
            <a:avLst/>
          </a:prstGeom>
          <a:noFill/>
        </p:spPr>
        <p:txBody>
          <a:bodyPr wrap="square">
            <a:spAutoFit/>
          </a:bodyPr>
          <a:lstStyle/>
          <a:p>
            <a:pPr algn="l">
              <a:spcAft>
                <a:spcPts val="0"/>
              </a:spcAft>
              <a:defRPr sz="1000" b="0">
                <a:solidFill>
                  <a:srgbClr val="6B7280"/>
                </a:solidFill>
                <a:latin typeface="Calibri"/>
              </a:defRPr>
            </a:pPr>
            <a:r>
              <a:t>ASR</a:t>
            </a:r>
          </a:p>
        </p:txBody>
      </p:sp>
      <p:sp>
        <p:nvSpPr>
          <p:cNvPr id="13" name="Rounded Rectangle 12"/>
          <p:cNvSpPr/>
          <p:nvPr/>
        </p:nvSpPr>
        <p:spPr>
          <a:xfrm>
            <a:off x="1965960" y="2514600"/>
            <a:ext cx="1920240" cy="822960"/>
          </a:xfrm>
          <a:prstGeom prst="roundRect">
            <a:avLst>
              <a:gd name="adj" fmla="val 6000"/>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57400" y="2587752"/>
            <a:ext cx="1737360" cy="274320"/>
          </a:xfrm>
          <a:prstGeom prst="rect">
            <a:avLst/>
          </a:prstGeom>
          <a:noFill/>
        </p:spPr>
        <p:txBody>
          <a:bodyPr wrap="square">
            <a:spAutoFit/>
          </a:bodyPr>
          <a:lstStyle/>
          <a:p>
            <a:pPr algn="l">
              <a:spcAft>
                <a:spcPts val="0"/>
              </a:spcAft>
              <a:defRPr sz="1200" b="1">
                <a:solidFill>
                  <a:srgbClr val="14B8A6"/>
                </a:solidFill>
                <a:latin typeface="Calibri"/>
              </a:defRPr>
            </a:pPr>
            <a:r>
              <a:t>wav2vec2 SER</a:t>
            </a:r>
          </a:p>
        </p:txBody>
      </p:sp>
      <p:sp>
        <p:nvSpPr>
          <p:cNvPr id="15" name="TextBox 14"/>
          <p:cNvSpPr txBox="1"/>
          <p:nvPr/>
        </p:nvSpPr>
        <p:spPr>
          <a:xfrm>
            <a:off x="2057400" y="2898648"/>
            <a:ext cx="1737360" cy="274320"/>
          </a:xfrm>
          <a:prstGeom prst="rect">
            <a:avLst/>
          </a:prstGeom>
          <a:noFill/>
        </p:spPr>
        <p:txBody>
          <a:bodyPr wrap="square">
            <a:spAutoFit/>
          </a:bodyPr>
          <a:lstStyle/>
          <a:p>
            <a:pPr algn="l">
              <a:spcAft>
                <a:spcPts val="0"/>
              </a:spcAft>
              <a:defRPr sz="1000" b="0">
                <a:solidFill>
                  <a:srgbClr val="6B7280"/>
                </a:solidFill>
                <a:latin typeface="Calibri"/>
              </a:defRPr>
            </a:pPr>
            <a:r>
              <a:t>Emotion</a:t>
            </a:r>
          </a:p>
        </p:txBody>
      </p:sp>
      <p:sp>
        <p:nvSpPr>
          <p:cNvPr id="16" name="Rounded Rectangle 15"/>
          <p:cNvSpPr/>
          <p:nvPr/>
        </p:nvSpPr>
        <p:spPr>
          <a:xfrm>
            <a:off x="1965960" y="3566160"/>
            <a:ext cx="1920240" cy="822960"/>
          </a:xfrm>
          <a:prstGeom prst="roundRect">
            <a:avLst>
              <a:gd name="adj" fmla="val 6000"/>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57400" y="3639312"/>
            <a:ext cx="1737360" cy="274320"/>
          </a:xfrm>
          <a:prstGeom prst="rect">
            <a:avLst/>
          </a:prstGeom>
          <a:noFill/>
        </p:spPr>
        <p:txBody>
          <a:bodyPr wrap="square">
            <a:spAutoFit/>
          </a:bodyPr>
          <a:lstStyle/>
          <a:p>
            <a:pPr algn="l">
              <a:spcAft>
                <a:spcPts val="0"/>
              </a:spcAft>
              <a:defRPr sz="1200" b="1">
                <a:solidFill>
                  <a:srgbClr val="F59E0B"/>
                </a:solidFill>
                <a:latin typeface="Calibri"/>
              </a:defRPr>
            </a:pPr>
            <a:r>
              <a:t>pyworld</a:t>
            </a:r>
          </a:p>
        </p:txBody>
      </p:sp>
      <p:sp>
        <p:nvSpPr>
          <p:cNvPr id="18" name="TextBox 17"/>
          <p:cNvSpPr txBox="1"/>
          <p:nvPr/>
        </p:nvSpPr>
        <p:spPr>
          <a:xfrm>
            <a:off x="2057400" y="3950208"/>
            <a:ext cx="1737360" cy="274320"/>
          </a:xfrm>
          <a:prstGeom prst="rect">
            <a:avLst/>
          </a:prstGeom>
          <a:noFill/>
        </p:spPr>
        <p:txBody>
          <a:bodyPr wrap="square">
            <a:spAutoFit/>
          </a:bodyPr>
          <a:lstStyle/>
          <a:p>
            <a:pPr algn="l">
              <a:spcAft>
                <a:spcPts val="0"/>
              </a:spcAft>
              <a:defRPr sz="1000" b="0">
                <a:solidFill>
                  <a:srgbClr val="6B7280"/>
                </a:solidFill>
                <a:latin typeface="Calibri"/>
              </a:defRPr>
            </a:pPr>
            <a:r>
              <a:t>Prosody</a:t>
            </a:r>
          </a:p>
        </p:txBody>
      </p:sp>
      <p:sp>
        <p:nvSpPr>
          <p:cNvPr id="19" name="Right Arrow 18"/>
          <p:cNvSpPr/>
          <p:nvPr/>
        </p:nvSpPr>
        <p:spPr>
          <a:xfrm>
            <a:off x="3977639" y="2377440"/>
            <a:ext cx="365760" cy="182880"/>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3977639" y="3474720"/>
            <a:ext cx="365760" cy="182880"/>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1234440"/>
            <a:ext cx="2286000" cy="228600"/>
          </a:xfrm>
          <a:prstGeom prst="rect">
            <a:avLst/>
          </a:prstGeom>
          <a:noFill/>
        </p:spPr>
        <p:txBody>
          <a:bodyPr wrap="square">
            <a:spAutoFit/>
          </a:bodyPr>
          <a:lstStyle/>
          <a:p>
            <a:pPr algn="ctr">
              <a:spcAft>
                <a:spcPts val="0"/>
              </a:spcAft>
              <a:defRPr sz="800" b="1">
                <a:solidFill>
                  <a:srgbClr val="6B7280"/>
                </a:solidFill>
                <a:latin typeface="Calibri"/>
              </a:defRPr>
            </a:pPr>
            <a:r>
              <a:t>DUAL CONVERSION</a:t>
            </a:r>
          </a:p>
        </p:txBody>
      </p:sp>
      <p:sp>
        <p:nvSpPr>
          <p:cNvPr id="22" name="Rounded Rectangle 21"/>
          <p:cNvSpPr/>
          <p:nvPr/>
        </p:nvSpPr>
        <p:spPr>
          <a:xfrm>
            <a:off x="4434840" y="1463040"/>
            <a:ext cx="2286000" cy="1371600"/>
          </a:xfrm>
          <a:prstGeom prst="roundRect">
            <a:avLst>
              <a:gd name="adj" fmla="val 6000"/>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1554480"/>
            <a:ext cx="2103120" cy="228600"/>
          </a:xfrm>
          <a:prstGeom prst="rect">
            <a:avLst/>
          </a:prstGeom>
          <a:noFill/>
        </p:spPr>
        <p:txBody>
          <a:bodyPr wrap="square">
            <a:spAutoFit/>
          </a:bodyPr>
          <a:lstStyle/>
          <a:p>
            <a:pPr algn="l">
              <a:spcAft>
                <a:spcPts val="0"/>
              </a:spcAft>
              <a:defRPr sz="1300" b="1">
                <a:solidFill>
                  <a:srgbClr val="2563EB"/>
                </a:solidFill>
                <a:latin typeface="Calibri"/>
              </a:defRPr>
            </a:pPr>
            <a:r>
              <a:t>Seed-VC V2</a:t>
            </a:r>
          </a:p>
        </p:txBody>
      </p:sp>
      <p:sp>
        <p:nvSpPr>
          <p:cNvPr id="24" name="TextBox 23"/>
          <p:cNvSpPr txBox="1"/>
          <p:nvPr/>
        </p:nvSpPr>
        <p:spPr>
          <a:xfrm>
            <a:off x="4526280" y="1828800"/>
            <a:ext cx="2103120" cy="822960"/>
          </a:xfrm>
          <a:prstGeom prst="rect">
            <a:avLst/>
          </a:prstGeom>
          <a:noFill/>
        </p:spPr>
        <p:txBody>
          <a:bodyPr wrap="square">
            <a:spAutoFit/>
          </a:bodyPr>
          <a:lstStyle/>
          <a:p>
            <a:pPr algn="l">
              <a:spcAft>
                <a:spcPts val="0"/>
              </a:spcAft>
              <a:defRPr sz="1000" b="0">
                <a:solidFill>
                  <a:srgbClr val="6B7280"/>
                </a:solidFill>
                <a:latin typeface="Calibri"/>
              </a:defRPr>
            </a:pPr>
            <a:r>
              <a:t>AR Transformer</a:t>
            </a:r>
            <a:br/>
            <a:r>
              <a:t>+ Flow Matching</a:t>
            </a:r>
            <a:br/>
            <a:r>
              <a:t>Style-aware</a:t>
            </a:r>
          </a:p>
        </p:txBody>
      </p:sp>
      <p:sp>
        <p:nvSpPr>
          <p:cNvPr id="25" name="Rounded Rectangle 24"/>
          <p:cNvSpPr/>
          <p:nvPr/>
        </p:nvSpPr>
        <p:spPr>
          <a:xfrm>
            <a:off x="4434840" y="3017520"/>
            <a:ext cx="2286000" cy="1371600"/>
          </a:xfrm>
          <a:prstGeom prst="roundRect">
            <a:avLst>
              <a:gd name="adj" fmla="val 6000"/>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3108960"/>
            <a:ext cx="2103120" cy="228600"/>
          </a:xfrm>
          <a:prstGeom prst="rect">
            <a:avLst/>
          </a:prstGeom>
          <a:noFill/>
        </p:spPr>
        <p:txBody>
          <a:bodyPr wrap="square">
            <a:spAutoFit/>
          </a:bodyPr>
          <a:lstStyle/>
          <a:p>
            <a:pPr algn="l">
              <a:spcAft>
                <a:spcPts val="0"/>
              </a:spcAft>
              <a:defRPr sz="1300" b="1">
                <a:solidFill>
                  <a:srgbClr val="14B8A6"/>
                </a:solidFill>
                <a:latin typeface="Calibri"/>
              </a:defRPr>
            </a:pPr>
            <a:r>
              <a:t>Vevo-Voice</a:t>
            </a:r>
          </a:p>
        </p:txBody>
      </p:sp>
      <p:sp>
        <p:nvSpPr>
          <p:cNvPr id="27" name="TextBox 26"/>
          <p:cNvSpPr txBox="1"/>
          <p:nvPr/>
        </p:nvSpPr>
        <p:spPr>
          <a:xfrm>
            <a:off x="4526280" y="3383280"/>
            <a:ext cx="2103120" cy="822960"/>
          </a:xfrm>
          <a:prstGeom prst="rect">
            <a:avLst/>
          </a:prstGeom>
          <a:noFill/>
        </p:spPr>
        <p:txBody>
          <a:bodyPr wrap="square">
            <a:spAutoFit/>
          </a:bodyPr>
          <a:lstStyle/>
          <a:p>
            <a:pPr algn="l">
              <a:spcAft>
                <a:spcPts val="0"/>
              </a:spcAft>
              <a:defRPr sz="1000" b="0">
                <a:solidFill>
                  <a:srgbClr val="6B7280"/>
                </a:solidFill>
                <a:latin typeface="Calibri"/>
              </a:defRPr>
            </a:pPr>
            <a:r>
              <a:t>VQ-VAE tokeniser</a:t>
            </a:r>
            <a:br/>
            <a:r>
              <a:t>+ Flow Matching</a:t>
            </a:r>
            <a:br/>
            <a:r>
              <a:t>101k hrs data</a:t>
            </a:r>
          </a:p>
        </p:txBody>
      </p:sp>
      <p:sp>
        <p:nvSpPr>
          <p:cNvPr id="28" name="Right Arrow 27"/>
          <p:cNvSpPr/>
          <p:nvPr/>
        </p:nvSpPr>
        <p:spPr>
          <a:xfrm>
            <a:off x="6812280" y="2377440"/>
            <a:ext cx="365760" cy="182880"/>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6812280" y="3474720"/>
            <a:ext cx="365760" cy="182880"/>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9480" y="1234440"/>
            <a:ext cx="1920240" cy="228600"/>
          </a:xfrm>
          <a:prstGeom prst="rect">
            <a:avLst/>
          </a:prstGeom>
          <a:noFill/>
        </p:spPr>
        <p:txBody>
          <a:bodyPr wrap="square">
            <a:spAutoFit/>
          </a:bodyPr>
          <a:lstStyle/>
          <a:p>
            <a:pPr algn="ctr">
              <a:spcAft>
                <a:spcPts val="0"/>
              </a:spcAft>
              <a:defRPr sz="800" b="1">
                <a:solidFill>
                  <a:srgbClr val="6B7280"/>
                </a:solidFill>
                <a:latin typeface="Calibri"/>
              </a:defRPr>
            </a:pPr>
            <a:r>
              <a:t>SELECTION + CORRECTION</a:t>
            </a:r>
          </a:p>
        </p:txBody>
      </p:sp>
      <p:sp>
        <p:nvSpPr>
          <p:cNvPr id="31" name="Rounded Rectangle 30"/>
          <p:cNvSpPr/>
          <p:nvPr/>
        </p:nvSpPr>
        <p:spPr>
          <a:xfrm>
            <a:off x="7269480" y="1463040"/>
            <a:ext cx="1920240" cy="1371600"/>
          </a:xfrm>
          <a:prstGeom prst="roundRect">
            <a:avLst>
              <a:gd name="adj" fmla="val 6000"/>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60920" y="1554480"/>
            <a:ext cx="1737360" cy="228600"/>
          </a:xfrm>
          <a:prstGeom prst="rect">
            <a:avLst/>
          </a:prstGeom>
          <a:noFill/>
        </p:spPr>
        <p:txBody>
          <a:bodyPr wrap="square">
            <a:spAutoFit/>
          </a:bodyPr>
          <a:lstStyle/>
          <a:p>
            <a:pPr algn="l">
              <a:spcAft>
                <a:spcPts val="0"/>
              </a:spcAft>
              <a:defRPr sz="1200" b="1">
                <a:solidFill>
                  <a:srgbClr val="F59E0B"/>
                </a:solidFill>
                <a:latin typeface="Calibri"/>
              </a:defRPr>
            </a:pPr>
            <a:r>
              <a:t>Quality Selector</a:t>
            </a:r>
          </a:p>
        </p:txBody>
      </p:sp>
      <p:sp>
        <p:nvSpPr>
          <p:cNvPr id="33" name="TextBox 32"/>
          <p:cNvSpPr txBox="1"/>
          <p:nvPr/>
        </p:nvSpPr>
        <p:spPr>
          <a:xfrm>
            <a:off x="7360920" y="1828800"/>
            <a:ext cx="1737360" cy="822960"/>
          </a:xfrm>
          <a:prstGeom prst="rect">
            <a:avLst/>
          </a:prstGeom>
          <a:noFill/>
        </p:spPr>
        <p:txBody>
          <a:bodyPr wrap="square">
            <a:spAutoFit/>
          </a:bodyPr>
          <a:lstStyle/>
          <a:p>
            <a:pPr algn="l">
              <a:spcAft>
                <a:spcPts val="0"/>
              </a:spcAft>
              <a:defRPr sz="1000" b="0">
                <a:solidFill>
                  <a:srgbClr val="6B7280"/>
                </a:solidFill>
                <a:latin typeface="Calibri"/>
              </a:defRPr>
            </a:pPr>
            <a:r>
              <a:t>0.4 Emotion</a:t>
            </a:r>
            <a:br/>
            <a:r>
              <a:t>0.4 (1-WER)</a:t>
            </a:r>
            <a:br/>
            <a:r>
              <a:t>0.2 (MOS/5)</a:t>
            </a:r>
            <a:br/>
            <a:r>
              <a:t>Best per seg</a:t>
            </a:r>
          </a:p>
        </p:txBody>
      </p:sp>
      <p:sp>
        <p:nvSpPr>
          <p:cNvPr id="34" name="Down Arrow 33"/>
          <p:cNvSpPr/>
          <p:nvPr/>
        </p:nvSpPr>
        <p:spPr>
          <a:xfrm>
            <a:off x="8138160" y="2926080"/>
            <a:ext cx="182880" cy="320040"/>
          </a:xfrm>
          <a:prstGeom prst="down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269480" y="3337560"/>
            <a:ext cx="1920240" cy="1097280"/>
          </a:xfrm>
          <a:prstGeom prst="roundRect">
            <a:avLst>
              <a:gd name="adj" fmla="val 6000"/>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60920" y="3429000"/>
            <a:ext cx="1737360" cy="228600"/>
          </a:xfrm>
          <a:prstGeom prst="rect">
            <a:avLst/>
          </a:prstGeom>
          <a:noFill/>
        </p:spPr>
        <p:txBody>
          <a:bodyPr wrap="square">
            <a:spAutoFit/>
          </a:bodyPr>
          <a:lstStyle/>
          <a:p>
            <a:pPr algn="l">
              <a:spcAft>
                <a:spcPts val="0"/>
              </a:spcAft>
              <a:defRPr sz="1100" b="1">
                <a:solidFill>
                  <a:srgbClr val="EF4444"/>
                </a:solidFill>
                <a:latin typeface="Calibri"/>
              </a:defRPr>
            </a:pPr>
            <a:r>
              <a:t>Emotion Correction</a:t>
            </a:r>
          </a:p>
        </p:txBody>
      </p:sp>
      <p:sp>
        <p:nvSpPr>
          <p:cNvPr id="37" name="TextBox 36"/>
          <p:cNvSpPr txBox="1"/>
          <p:nvPr/>
        </p:nvSpPr>
        <p:spPr>
          <a:xfrm>
            <a:off x="7360920" y="3703320"/>
            <a:ext cx="1737360" cy="548640"/>
          </a:xfrm>
          <a:prstGeom prst="rect">
            <a:avLst/>
          </a:prstGeom>
          <a:noFill/>
        </p:spPr>
        <p:txBody>
          <a:bodyPr wrap="square">
            <a:spAutoFit/>
          </a:bodyPr>
          <a:lstStyle/>
          <a:p>
            <a:pPr algn="l">
              <a:spcAft>
                <a:spcPts val="0"/>
              </a:spcAft>
              <a:defRPr sz="1000" b="0">
                <a:solidFill>
                  <a:srgbClr val="6B7280"/>
                </a:solidFill>
                <a:latin typeface="Calibri"/>
              </a:defRPr>
            </a:pPr>
            <a:r>
              <a:t>F0 rescale ±20%</a:t>
            </a:r>
            <a:br/>
            <a:r>
              <a:t>Energy warp</a:t>
            </a:r>
            <a:br/>
            <a:r>
              <a:t>if sim &lt; 0.85</a:t>
            </a:r>
          </a:p>
        </p:txBody>
      </p:sp>
      <p:sp>
        <p:nvSpPr>
          <p:cNvPr id="38" name="Right Arrow 37"/>
          <p:cNvSpPr/>
          <p:nvPr/>
        </p:nvSpPr>
        <p:spPr>
          <a:xfrm>
            <a:off x="9281160" y="3840480"/>
            <a:ext cx="365760" cy="182880"/>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738360" y="3108960"/>
            <a:ext cx="1737360" cy="1463040"/>
          </a:xfrm>
          <a:prstGeom prst="roundRect">
            <a:avLst>
              <a:gd name="adj" fmla="val 6000"/>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84080" y="3200400"/>
            <a:ext cx="1645920" cy="228600"/>
          </a:xfrm>
          <a:prstGeom prst="rect">
            <a:avLst/>
          </a:prstGeom>
          <a:noFill/>
        </p:spPr>
        <p:txBody>
          <a:bodyPr wrap="square">
            <a:spAutoFit/>
          </a:bodyPr>
          <a:lstStyle/>
          <a:p>
            <a:pPr algn="l">
              <a:spcAft>
                <a:spcPts val="0"/>
              </a:spcAft>
              <a:defRPr sz="1300" b="1">
                <a:solidFill>
                  <a:srgbClr val="10B981"/>
                </a:solidFill>
                <a:latin typeface="Calibri"/>
              </a:defRPr>
            </a:pPr>
            <a:r>
              <a:t>Output Audio</a:t>
            </a:r>
          </a:p>
        </p:txBody>
      </p:sp>
      <p:sp>
        <p:nvSpPr>
          <p:cNvPr id="41" name="TextBox 40"/>
          <p:cNvSpPr txBox="1"/>
          <p:nvPr/>
        </p:nvSpPr>
        <p:spPr>
          <a:xfrm>
            <a:off x="9784080" y="3520440"/>
            <a:ext cx="1645920" cy="914400"/>
          </a:xfrm>
          <a:prstGeom prst="rect">
            <a:avLst/>
          </a:prstGeom>
          <a:noFill/>
        </p:spPr>
        <p:txBody>
          <a:bodyPr wrap="square">
            <a:spAutoFit/>
          </a:bodyPr>
          <a:lstStyle/>
          <a:p>
            <a:pPr algn="l">
              <a:spcAft>
                <a:spcPts val="0"/>
              </a:spcAft>
              <a:defRPr sz="1100" b="0">
                <a:solidFill>
                  <a:srgbClr val="475069"/>
                </a:solidFill>
                <a:latin typeface="Calibri"/>
              </a:defRPr>
            </a:pPr>
            <a:r>
              <a:t>Accent  ✓</a:t>
            </a:r>
            <a:br/>
            <a:r>
              <a:t>Emotion  ✓</a:t>
            </a:r>
            <a:br/>
            <a:r>
              <a:t>Content  ✓</a:t>
            </a:r>
            <a:br/>
            <a:r>
              <a:t>Agnostic  ✓</a:t>
            </a:r>
          </a:p>
        </p:txBody>
      </p:sp>
      <p:sp>
        <p:nvSpPr>
          <p:cNvPr id="42" name="Rounded Rectangle 41"/>
          <p:cNvSpPr/>
          <p:nvPr/>
        </p:nvSpPr>
        <p:spPr>
          <a:xfrm>
            <a:off x="274320" y="4846320"/>
            <a:ext cx="11247120" cy="155448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4937760"/>
            <a:ext cx="10515600" cy="1371600"/>
          </a:xfrm>
          <a:prstGeom prst="rect">
            <a:avLst/>
          </a:prstGeom>
          <a:noFill/>
        </p:spPr>
        <p:txBody>
          <a:bodyPr wrap="square">
            <a:spAutoFit/>
          </a:bodyPr>
          <a:lstStyle/>
          <a:p>
            <a:pPr algn="l">
              <a:spcAft>
                <a:spcPts val="0"/>
              </a:spcAft>
              <a:defRPr sz="1300" b="0">
                <a:solidFill>
                  <a:srgbClr val="475069"/>
                </a:solidFill>
                <a:latin typeface="Calibri"/>
              </a:defRPr>
            </a:pPr>
            <a:r>
              <a:t>How the architecture works:  Audio comes in and three feature extractors run in parallel — Whisper transcribes it, wav2vec2 extracts emotional valence/arousal/dominance, and pyworld extracts the pitch contour and energy envelope. Two voice conversion engines (Seed-VC V2 and Vevo-Voice) each produce a converted version. The quality selector scores both on emotion preservation, intelligibility, and naturalness, picking the best per segment. Finally, emotion correction adjusts pitch and energy if drift exceeds threshold. All models are loaded once at startup. Total VRAM: 7.2 GB on an RTX 4060.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Dual-Engine Ensemble</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Our key innovation — why two models are better than one</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10424160" cy="731520"/>
          </a:xfrm>
          <a:prstGeom prst="rect">
            <a:avLst/>
          </a:prstGeom>
          <a:noFill/>
        </p:spPr>
        <p:txBody>
          <a:bodyPr wrap="square">
            <a:spAutoFit/>
          </a:bodyPr>
          <a:lstStyle/>
          <a:p>
            <a:pPr algn="l">
              <a:spcAft>
                <a:spcPts val="0"/>
              </a:spcAft>
              <a:defRPr sz="1500" b="0">
                <a:solidFill>
                  <a:srgbClr val="1E293B"/>
                </a:solidFill>
                <a:latin typeface="Calibri"/>
              </a:defRPr>
            </a:pPr>
            <a:r>
              <a:t>Most voice conversion systems use a single model. We use two architecturally different models that produce qualitatively different outputs. Because their failure modes don’t overlap, ensembling them with per-segment quality scoring consistently outperforms either model alone.</a:t>
            </a:r>
          </a:p>
        </p:txBody>
      </p:sp>
      <p:sp>
        <p:nvSpPr>
          <p:cNvPr id="7" name="Rounded Rectangle 6"/>
          <p:cNvSpPr/>
          <p:nvPr/>
        </p:nvSpPr>
        <p:spPr>
          <a:xfrm>
            <a:off x="822960" y="2286000"/>
            <a:ext cx="4846320" cy="3017520"/>
          </a:xfrm>
          <a:prstGeom prst="roundRect">
            <a:avLst>
              <a:gd name="adj" fmla="val 6000"/>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286000"/>
            <a:ext cx="484632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68880"/>
            <a:ext cx="4297680" cy="274320"/>
          </a:xfrm>
          <a:prstGeom prst="rect">
            <a:avLst/>
          </a:prstGeom>
          <a:noFill/>
        </p:spPr>
        <p:txBody>
          <a:bodyPr wrap="square">
            <a:spAutoFit/>
          </a:bodyPr>
          <a:lstStyle/>
          <a:p>
            <a:pPr algn="l">
              <a:spcAft>
                <a:spcPts val="0"/>
              </a:spcAft>
              <a:defRPr sz="1400" b="1">
                <a:solidFill>
                  <a:srgbClr val="2563EB"/>
                </a:solidFill>
                <a:latin typeface="Calibri"/>
              </a:defRPr>
            </a:pPr>
            <a:r>
              <a:t>Seed-VC V2  —  Primary Engine</a:t>
            </a:r>
          </a:p>
        </p:txBody>
      </p:sp>
      <p:sp>
        <p:nvSpPr>
          <p:cNvPr id="10" name="TextBox 9"/>
          <p:cNvSpPr txBox="1"/>
          <p:nvPr/>
        </p:nvSpPr>
        <p:spPr>
          <a:xfrm>
            <a:off x="1097280" y="2834640"/>
            <a:ext cx="4297680" cy="1783080"/>
          </a:xfrm>
          <a:prstGeom prst="rect">
            <a:avLst/>
          </a:prstGeom>
          <a:noFill/>
        </p:spPr>
        <p:txBody>
          <a:bodyPr wrap="square">
            <a:spAutoFit/>
          </a:bodyPr>
          <a:lstStyle/>
          <a:p>
            <a:pPr algn="l">
              <a:spcAft>
                <a:spcPts val="0"/>
              </a:spcAft>
              <a:defRPr sz="1200" b="0">
                <a:solidFill>
                  <a:srgbClr val="475069"/>
                </a:solidFill>
                <a:latin typeface="Calibri"/>
              </a:defRPr>
            </a:pPr>
          </a:p>
          <a:p>
            <a:pPr algn="l">
              <a:spcBef>
                <a:spcPts val="0"/>
              </a:spcBef>
              <a:spcAft>
                <a:spcPts val="600"/>
              </a:spcAft>
              <a:defRPr sz="1200" b="0">
                <a:solidFill>
                  <a:srgbClr val="475069"/>
                </a:solidFill>
                <a:latin typeface="Calibri"/>
              </a:defRPr>
            </a:pPr>
            <a:r>
              <a:t>•  Architecture: AR Transformer + Conditional Flow Matching (CFM)</a:t>
            </a:r>
          </a:p>
          <a:p>
            <a:pPr algn="l">
              <a:spcBef>
                <a:spcPts val="0"/>
              </a:spcBef>
              <a:spcAft>
                <a:spcPts val="600"/>
              </a:spcAft>
              <a:defRPr sz="1200" b="0">
                <a:solidFill>
                  <a:srgbClr val="475069"/>
                </a:solidFill>
                <a:latin typeface="Calibri"/>
              </a:defRPr>
            </a:pPr>
            <a:r>
              <a:t>•  Has an explicit --convert-style mode designed for accent transfer</a:t>
            </a:r>
          </a:p>
          <a:p>
            <a:pPr algn="l">
              <a:spcBef>
                <a:spcPts val="0"/>
              </a:spcBef>
              <a:spcAft>
                <a:spcPts val="600"/>
              </a:spcAft>
              <a:defRPr sz="1200" b="0">
                <a:solidFill>
                  <a:srgbClr val="475069"/>
                </a:solidFill>
                <a:latin typeface="Calibri"/>
              </a:defRPr>
            </a:pPr>
            <a:r>
              <a:t>•  Controllable intelligibility and similarity via CFG rates (set to 0.7)</a:t>
            </a:r>
          </a:p>
          <a:p>
            <a:pPr algn="l">
              <a:spcBef>
                <a:spcPts val="0"/>
              </a:spcBef>
              <a:spcAft>
                <a:spcPts val="600"/>
              </a:spcAft>
              <a:defRPr sz="1200" b="0">
                <a:solidFill>
                  <a:srgbClr val="475069"/>
                </a:solidFill>
                <a:latin typeface="Calibri"/>
              </a:defRPr>
            </a:pPr>
            <a:r>
              <a:t>•  30-step diffusion process for high-quality acoustic synthesis</a:t>
            </a:r>
          </a:p>
          <a:p>
            <a:pPr algn="l">
              <a:spcBef>
                <a:spcPts val="0"/>
              </a:spcBef>
              <a:spcAft>
                <a:spcPts val="600"/>
              </a:spcAft>
              <a:defRPr sz="1200" b="0">
                <a:solidFill>
                  <a:srgbClr val="475069"/>
                </a:solidFill>
                <a:latin typeface="Calibri"/>
              </a:defRPr>
            </a:pPr>
            <a:r>
              <a:t>•  Open-weight under MIT license (Plachtaa/seed-vc on GitHub)</a:t>
            </a:r>
          </a:p>
        </p:txBody>
      </p:sp>
      <p:sp>
        <p:nvSpPr>
          <p:cNvPr id="11" name="Rounded Rectangle 10"/>
          <p:cNvSpPr/>
          <p:nvPr/>
        </p:nvSpPr>
        <p:spPr>
          <a:xfrm>
            <a:off x="5852160" y="2286000"/>
            <a:ext cx="4846320" cy="3017520"/>
          </a:xfrm>
          <a:prstGeom prst="roundRect">
            <a:avLst>
              <a:gd name="adj" fmla="val 6000"/>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52160" y="2286000"/>
            <a:ext cx="484632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2468880"/>
            <a:ext cx="4297680" cy="274320"/>
          </a:xfrm>
          <a:prstGeom prst="rect">
            <a:avLst/>
          </a:prstGeom>
          <a:noFill/>
        </p:spPr>
        <p:txBody>
          <a:bodyPr wrap="square">
            <a:spAutoFit/>
          </a:bodyPr>
          <a:lstStyle/>
          <a:p>
            <a:pPr algn="l">
              <a:spcAft>
                <a:spcPts val="0"/>
              </a:spcAft>
              <a:defRPr sz="1400" b="1">
                <a:solidFill>
                  <a:srgbClr val="14B8A6"/>
                </a:solidFill>
                <a:latin typeface="Calibri"/>
              </a:defRPr>
            </a:pPr>
            <a:r>
              <a:t>Vevo-Voice (Amphion)  —  Ensemble Leg</a:t>
            </a:r>
          </a:p>
        </p:txBody>
      </p:sp>
      <p:sp>
        <p:nvSpPr>
          <p:cNvPr id="14" name="TextBox 13"/>
          <p:cNvSpPr txBox="1"/>
          <p:nvPr/>
        </p:nvSpPr>
        <p:spPr>
          <a:xfrm>
            <a:off x="6126480" y="2834640"/>
            <a:ext cx="4297680" cy="1783080"/>
          </a:xfrm>
          <a:prstGeom prst="rect">
            <a:avLst/>
          </a:prstGeom>
          <a:noFill/>
        </p:spPr>
        <p:txBody>
          <a:bodyPr wrap="square">
            <a:spAutoFit/>
          </a:bodyPr>
          <a:lstStyle/>
          <a:p>
            <a:pPr algn="l">
              <a:spcAft>
                <a:spcPts val="0"/>
              </a:spcAft>
              <a:defRPr sz="1200" b="0">
                <a:solidFill>
                  <a:srgbClr val="475069"/>
                </a:solidFill>
                <a:latin typeface="Calibri"/>
              </a:defRPr>
            </a:pPr>
          </a:p>
          <a:p>
            <a:pPr algn="l">
              <a:spcBef>
                <a:spcPts val="0"/>
              </a:spcBef>
              <a:spcAft>
                <a:spcPts val="600"/>
              </a:spcAft>
              <a:defRPr sz="1200" b="0">
                <a:solidFill>
                  <a:srgbClr val="475069"/>
                </a:solidFill>
                <a:latin typeface="Calibri"/>
              </a:defRPr>
            </a:pPr>
            <a:r>
              <a:t>•  Architecture: VQ-VAE content tokeniser with codebook size 32</a:t>
            </a:r>
          </a:p>
          <a:p>
            <a:pPr algn="l">
              <a:spcBef>
                <a:spcPts val="0"/>
              </a:spcBef>
              <a:spcAft>
                <a:spcPts val="600"/>
              </a:spcAft>
              <a:defRPr sz="1200" b="0">
                <a:solidFill>
                  <a:srgbClr val="475069"/>
                </a:solidFill>
                <a:latin typeface="Calibri"/>
              </a:defRPr>
            </a:pPr>
            <a:r>
              <a:t>•  Flow Matching decoder for acoustic synthesis from tokens</a:t>
            </a:r>
          </a:p>
          <a:p>
            <a:pPr algn="l">
              <a:spcBef>
                <a:spcPts val="0"/>
              </a:spcBef>
              <a:spcAft>
                <a:spcPts val="600"/>
              </a:spcAft>
              <a:defRPr sz="1200" b="0">
                <a:solidFill>
                  <a:srgbClr val="475069"/>
                </a:solidFill>
                <a:latin typeface="Calibri"/>
              </a:defRPr>
            </a:pPr>
            <a:r>
              <a:t>•  Trained on 101,000 hours of Emilia dataset (6 languages)</a:t>
            </a:r>
          </a:p>
          <a:p>
            <a:pPr algn="l">
              <a:spcBef>
                <a:spcPts val="0"/>
              </a:spcBef>
              <a:spcAft>
                <a:spcPts val="600"/>
              </a:spcAft>
              <a:defRPr sz="1200" b="0">
                <a:solidFill>
                  <a:srgbClr val="475069"/>
                </a:solidFill>
                <a:latin typeface="Calibri"/>
              </a:defRPr>
            </a:pPr>
            <a:r>
              <a:t>•  VQ bottleneck forcibly strips accent information by design</a:t>
            </a:r>
          </a:p>
          <a:p>
            <a:pPr algn="l">
              <a:spcBef>
                <a:spcPts val="0"/>
              </a:spcBef>
              <a:spcAft>
                <a:spcPts val="600"/>
              </a:spcAft>
              <a:defRPr sz="1200" b="0">
                <a:solidFill>
                  <a:srgbClr val="475069"/>
                </a:solidFill>
                <a:latin typeface="Calibri"/>
              </a:defRPr>
            </a:pPr>
            <a:r>
              <a:t>•  Published at ICLR 2025 by Meta/CMU (open-mmlab/Amphion)</a:t>
            </a:r>
          </a:p>
        </p:txBody>
      </p:sp>
      <p:sp>
        <p:nvSpPr>
          <p:cNvPr id="15" name="Rounded Rectangle 14"/>
          <p:cNvSpPr/>
          <p:nvPr/>
        </p:nvSpPr>
        <p:spPr>
          <a:xfrm>
            <a:off x="1371600" y="5577840"/>
            <a:ext cx="8503920" cy="822960"/>
          </a:xfrm>
          <a:prstGeom prst="roundRect">
            <a:avLst>
              <a:gd name="adj" fmla="val 6000"/>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45920" y="5623560"/>
            <a:ext cx="7955279" cy="228600"/>
          </a:xfrm>
          <a:prstGeom prst="rect">
            <a:avLst/>
          </a:prstGeom>
          <a:noFill/>
        </p:spPr>
        <p:txBody>
          <a:bodyPr wrap="square">
            <a:spAutoFit/>
          </a:bodyPr>
          <a:lstStyle/>
          <a:p>
            <a:pPr algn="l">
              <a:spcAft>
                <a:spcPts val="0"/>
              </a:spcAft>
              <a:defRPr sz="1000" b="1">
                <a:solidFill>
                  <a:srgbClr val="2563EB"/>
                </a:solidFill>
                <a:latin typeface="Calibri"/>
              </a:defRPr>
            </a:pPr>
            <a:r>
              <a:t>PER-SEGMENT QUALITY SCORING FORMULA</a:t>
            </a:r>
          </a:p>
        </p:txBody>
      </p:sp>
      <p:sp>
        <p:nvSpPr>
          <p:cNvPr id="17" name="TextBox 16"/>
          <p:cNvSpPr txBox="1"/>
          <p:nvPr/>
        </p:nvSpPr>
        <p:spPr>
          <a:xfrm>
            <a:off x="1645920" y="5897880"/>
            <a:ext cx="7955279" cy="320040"/>
          </a:xfrm>
          <a:prstGeom prst="rect">
            <a:avLst/>
          </a:prstGeom>
          <a:noFill/>
        </p:spPr>
        <p:txBody>
          <a:bodyPr wrap="square">
            <a:spAutoFit/>
          </a:bodyPr>
          <a:lstStyle/>
          <a:p>
            <a:pPr algn="ctr">
              <a:spcAft>
                <a:spcPts val="0"/>
              </a:spcAft>
              <a:defRPr sz="1500" b="1">
                <a:solidFill>
                  <a:srgbClr val="111827"/>
                </a:solidFill>
                <a:latin typeface="Calibri"/>
              </a:defRPr>
            </a:pPr>
            <a:r>
              <a:t>Score  =  0.4 × Emotion Cosine Similarity  +  0.4 × (1 − WER)  +  0.2 × (UTMOS / 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Emotion Preservation</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The #1 failure mode of accent conversion — and our 3-layer solution</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10424160" cy="548640"/>
          </a:xfrm>
          <a:prstGeom prst="rect">
            <a:avLst/>
          </a:prstGeom>
          <a:noFill/>
        </p:spPr>
        <p:txBody>
          <a:bodyPr wrap="square">
            <a:spAutoFit/>
          </a:bodyPr>
          <a:lstStyle/>
          <a:p>
            <a:pPr algn="l">
              <a:spcAft>
                <a:spcPts val="0"/>
              </a:spcAft>
              <a:defRPr sz="1500" b="0">
                <a:solidFill>
                  <a:srgbClr val="1E293B"/>
                </a:solidFill>
                <a:latin typeface="Calibri"/>
              </a:defRPr>
            </a:pPr>
            <a:r>
              <a:t>Most accent conversion systems change the accent but flatten the emotion. The speech sounds right but feels wrong. We solve this with three layers of protection:</a:t>
            </a:r>
          </a:p>
        </p:txBody>
      </p:sp>
      <p:sp>
        <p:nvSpPr>
          <p:cNvPr id="7" name="Oval 6"/>
          <p:cNvSpPr/>
          <p:nvPr/>
        </p:nvSpPr>
        <p:spPr>
          <a:xfrm>
            <a:off x="822960" y="2240280"/>
            <a:ext cx="411480" cy="4114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Calibri"/>
              </a:defRPr>
            </a:pPr>
            <a:r>
              <a:t>1</a:t>
            </a:r>
          </a:p>
        </p:txBody>
      </p:sp>
      <p:sp>
        <p:nvSpPr>
          <p:cNvPr id="8" name="Rounded Rectangle 7"/>
          <p:cNvSpPr/>
          <p:nvPr/>
        </p:nvSpPr>
        <p:spPr>
          <a:xfrm>
            <a:off x="1417320" y="2103120"/>
            <a:ext cx="9784080" cy="1188720"/>
          </a:xfrm>
          <a:prstGeom prst="roundRect">
            <a:avLst>
              <a:gd name="adj" fmla="val 6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17320" y="2103120"/>
            <a:ext cx="50800" cy="1188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91640" y="2176272"/>
            <a:ext cx="9235440" cy="274320"/>
          </a:xfrm>
          <a:prstGeom prst="rect">
            <a:avLst/>
          </a:prstGeom>
          <a:noFill/>
        </p:spPr>
        <p:txBody>
          <a:bodyPr wrap="square">
            <a:spAutoFit/>
          </a:bodyPr>
          <a:lstStyle/>
          <a:p>
            <a:pPr algn="l">
              <a:spcAft>
                <a:spcPts val="0"/>
              </a:spcAft>
              <a:defRPr sz="1400" b="1">
                <a:solidFill>
                  <a:srgbClr val="2563EB"/>
                </a:solidFill>
                <a:latin typeface="Calibri"/>
              </a:defRPr>
            </a:pPr>
            <a:r>
              <a:t>Dimensional Extraction</a:t>
            </a:r>
          </a:p>
        </p:txBody>
      </p:sp>
      <p:sp>
        <p:nvSpPr>
          <p:cNvPr id="11" name="TextBox 10"/>
          <p:cNvSpPr txBox="1"/>
          <p:nvPr/>
        </p:nvSpPr>
        <p:spPr>
          <a:xfrm>
            <a:off x="1691640" y="2487168"/>
            <a:ext cx="9235440" cy="685800"/>
          </a:xfrm>
          <a:prstGeom prst="rect">
            <a:avLst/>
          </a:prstGeom>
          <a:noFill/>
        </p:spPr>
        <p:txBody>
          <a:bodyPr wrap="square">
            <a:spAutoFit/>
          </a:bodyPr>
          <a:lstStyle/>
          <a:p>
            <a:pPr algn="l">
              <a:spcAft>
                <a:spcPts val="0"/>
              </a:spcAft>
              <a:defRPr sz="1200" b="0">
                <a:solidFill>
                  <a:srgbClr val="475069"/>
                </a:solidFill>
                <a:latin typeface="Calibri"/>
              </a:defRPr>
            </a:pPr>
            <a:r>
              <a:t>We use wav2vec2-large SER (audeering) to extract continuous emotion dimensions: Valence (positive/negative), Arousal (calm/excited), and Dominance (submissive/dominant). This is more precise than categorical labels like “happy” or “sad” — it captures subtle gradients of expressiveness.</a:t>
            </a:r>
          </a:p>
        </p:txBody>
      </p:sp>
      <p:sp>
        <p:nvSpPr>
          <p:cNvPr id="12" name="Oval 11"/>
          <p:cNvSpPr/>
          <p:nvPr/>
        </p:nvSpPr>
        <p:spPr>
          <a:xfrm>
            <a:off x="822960" y="3657599"/>
            <a:ext cx="411480" cy="4114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Calibri"/>
              </a:defRPr>
            </a:pPr>
            <a:r>
              <a:t>2</a:t>
            </a:r>
          </a:p>
        </p:txBody>
      </p:sp>
      <p:sp>
        <p:nvSpPr>
          <p:cNvPr id="13" name="Rounded Rectangle 12"/>
          <p:cNvSpPr/>
          <p:nvPr/>
        </p:nvSpPr>
        <p:spPr>
          <a:xfrm>
            <a:off x="1417320" y="3520439"/>
            <a:ext cx="9784080" cy="1188720"/>
          </a:xfrm>
          <a:prstGeom prst="roundRect">
            <a:avLst>
              <a:gd name="adj" fmla="val 6000"/>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17320" y="3520439"/>
            <a:ext cx="50800" cy="1188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91640" y="3593591"/>
            <a:ext cx="9235440" cy="274320"/>
          </a:xfrm>
          <a:prstGeom prst="rect">
            <a:avLst/>
          </a:prstGeom>
          <a:noFill/>
        </p:spPr>
        <p:txBody>
          <a:bodyPr wrap="square">
            <a:spAutoFit/>
          </a:bodyPr>
          <a:lstStyle/>
          <a:p>
            <a:pPr algn="l">
              <a:spcAft>
                <a:spcPts val="0"/>
              </a:spcAft>
              <a:defRPr sz="1400" b="1">
                <a:solidFill>
                  <a:srgbClr val="F59E0B"/>
                </a:solidFill>
                <a:latin typeface="Calibri"/>
              </a:defRPr>
            </a:pPr>
            <a:r>
              <a:t>Quality-Gated Selection</a:t>
            </a:r>
          </a:p>
        </p:txBody>
      </p:sp>
      <p:sp>
        <p:nvSpPr>
          <p:cNvPr id="16" name="TextBox 15"/>
          <p:cNvSpPr txBox="1"/>
          <p:nvPr/>
        </p:nvSpPr>
        <p:spPr>
          <a:xfrm>
            <a:off x="1691640" y="3904487"/>
            <a:ext cx="9235440" cy="685800"/>
          </a:xfrm>
          <a:prstGeom prst="rect">
            <a:avLst/>
          </a:prstGeom>
          <a:noFill/>
        </p:spPr>
        <p:txBody>
          <a:bodyPr wrap="square">
            <a:spAutoFit/>
          </a:bodyPr>
          <a:lstStyle/>
          <a:p>
            <a:pPr algn="l">
              <a:spcAft>
                <a:spcPts val="0"/>
              </a:spcAft>
              <a:defRPr sz="1200" b="0">
                <a:solidFill>
                  <a:srgbClr val="475069"/>
                </a:solidFill>
                <a:latin typeface="Calibri"/>
              </a:defRPr>
            </a:pPr>
            <a:r>
              <a:t>Emotion cosine similarity between source and output accounts for 40% of our quality score. If a voice conversion model produces output with poor emotion match, that model’s output is rejected in favor of the other engine.</a:t>
            </a:r>
          </a:p>
        </p:txBody>
      </p:sp>
      <p:sp>
        <p:nvSpPr>
          <p:cNvPr id="17" name="Oval 16"/>
          <p:cNvSpPr/>
          <p:nvPr/>
        </p:nvSpPr>
        <p:spPr>
          <a:xfrm>
            <a:off x="822960" y="5074920"/>
            <a:ext cx="411480" cy="41148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Calibri"/>
              </a:defRPr>
            </a:pPr>
            <a:r>
              <a:t>3</a:t>
            </a:r>
          </a:p>
        </p:txBody>
      </p:sp>
      <p:sp>
        <p:nvSpPr>
          <p:cNvPr id="18" name="Rounded Rectangle 17"/>
          <p:cNvSpPr/>
          <p:nvPr/>
        </p:nvSpPr>
        <p:spPr>
          <a:xfrm>
            <a:off x="1417320" y="4937760"/>
            <a:ext cx="9784080" cy="1188720"/>
          </a:xfrm>
          <a:prstGeom prst="roundRect">
            <a:avLst>
              <a:gd name="adj" fmla="val 6000"/>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17320" y="4937760"/>
            <a:ext cx="50800" cy="1188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91640" y="5010912"/>
            <a:ext cx="9235440" cy="274320"/>
          </a:xfrm>
          <a:prstGeom prst="rect">
            <a:avLst/>
          </a:prstGeom>
          <a:noFill/>
        </p:spPr>
        <p:txBody>
          <a:bodyPr wrap="square">
            <a:spAutoFit/>
          </a:bodyPr>
          <a:lstStyle/>
          <a:p>
            <a:pPr algn="l">
              <a:spcAft>
                <a:spcPts val="0"/>
              </a:spcAft>
              <a:defRPr sz="1400" b="1">
                <a:solidFill>
                  <a:srgbClr val="EF4444"/>
                </a:solidFill>
                <a:latin typeface="Calibri"/>
              </a:defRPr>
            </a:pPr>
            <a:r>
              <a:t>Active F0 + Energy Correction</a:t>
            </a:r>
          </a:p>
        </p:txBody>
      </p:sp>
      <p:sp>
        <p:nvSpPr>
          <p:cNvPr id="21" name="TextBox 20"/>
          <p:cNvSpPr txBox="1"/>
          <p:nvPr/>
        </p:nvSpPr>
        <p:spPr>
          <a:xfrm>
            <a:off x="1691640" y="5321808"/>
            <a:ext cx="9235440" cy="685800"/>
          </a:xfrm>
          <a:prstGeom prst="rect">
            <a:avLst/>
          </a:prstGeom>
          <a:noFill/>
        </p:spPr>
        <p:txBody>
          <a:bodyPr wrap="square">
            <a:spAutoFit/>
          </a:bodyPr>
          <a:lstStyle/>
          <a:p>
            <a:pPr algn="l">
              <a:spcAft>
                <a:spcPts val="0"/>
              </a:spcAft>
              <a:defRPr sz="1200" b="0">
                <a:solidFill>
                  <a:srgbClr val="475069"/>
                </a:solidFill>
                <a:latin typeface="Calibri"/>
              </a:defRPr>
            </a:pPr>
            <a:r>
              <a:t>When cosine similarity drops below 0.85, we actively correct: pitch contour (F0) is rescaled toward the source (±20% cap) using pyworld, and the energy envelope is warped to match (±30% cap). This restores the “emotional shape” of the speech.</a:t>
            </a:r>
          </a:p>
        </p:txBody>
      </p:sp>
      <p:sp>
        <p:nvSpPr>
          <p:cNvPr id="22" name="Rounded Rectangle 21"/>
          <p:cNvSpPr/>
          <p:nvPr/>
        </p:nvSpPr>
        <p:spPr>
          <a:xfrm>
            <a:off x="822960" y="5943600"/>
            <a:ext cx="10424160" cy="502920"/>
          </a:xfrm>
          <a:prstGeom prst="roundRect">
            <a:avLst>
              <a:gd name="adj" fmla="val 6000"/>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5989320"/>
            <a:ext cx="9784080" cy="365760"/>
          </a:xfrm>
          <a:prstGeom prst="rect">
            <a:avLst/>
          </a:prstGeom>
          <a:noFill/>
        </p:spPr>
        <p:txBody>
          <a:bodyPr wrap="square">
            <a:spAutoFit/>
          </a:bodyPr>
          <a:lstStyle/>
          <a:p>
            <a:pPr algn="ctr">
              <a:spcAft>
                <a:spcPts val="0"/>
              </a:spcAft>
              <a:defRPr sz="1400" b="1">
                <a:solidFill>
                  <a:srgbClr val="1E40AF"/>
                </a:solidFill>
                <a:latin typeface="Calibri"/>
              </a:defRPr>
            </a:pPr>
            <a:r>
              <a:t>Result: your anger stays angry, your excitement stays exciting — even in a completely different accent.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Supported Accents &amp; Training Data</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5 target accents — zero-shot and fine-tuned</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10424160" cy="548640"/>
          </a:xfrm>
          <a:prstGeom prst="rect">
            <a:avLst/>
          </a:prstGeom>
          <a:noFill/>
        </p:spPr>
        <p:txBody>
          <a:bodyPr wrap="square">
            <a:spAutoFit/>
          </a:bodyPr>
          <a:lstStyle/>
          <a:p>
            <a:pPr algn="l">
              <a:spcAft>
                <a:spcPts val="0"/>
              </a:spcAft>
              <a:defRPr sz="1500" b="0">
                <a:solidFill>
                  <a:srgbClr val="1E293B"/>
                </a:solidFill>
                <a:latin typeface="Calibri"/>
              </a:defRPr>
            </a:pPr>
            <a:r>
              <a:t>AccentShift supports 5 English accent targets. The system works zero-shot with just a 5–10 second reference clip. We also fine-tuned on L2-ARCTIC for higher accuracy.</a:t>
            </a:r>
          </a:p>
        </p:txBody>
      </p:sp>
      <p:graphicFrame>
        <p:nvGraphicFramePr>
          <p:cNvPr id="7" name="Table 6"/>
          <p:cNvGraphicFramePr>
            <a:graphicFrameLocks noGrp="1"/>
          </p:cNvGraphicFramePr>
          <p:nvPr/>
        </p:nvGraphicFramePr>
        <p:xfrm>
          <a:off x="822960" y="2148840"/>
          <a:ext cx="10424160" cy="9144"/>
        </p:xfrm>
        <a:graphic>
          <a:graphicData uri="http://schemas.openxmlformats.org/drawingml/2006/table">
            <a:tbl>
              <a:tblPr firstRow="1" bandRow="1">
                <a:tableStyleId>{5C22544A-7EE6-4342-B048-85BDC9FD1C3A}</a:tableStyleId>
              </a:tblPr>
              <a:tblGrid>
                <a:gridCol w="2194560"/>
                <a:gridCol w="2743200"/>
                <a:gridCol w="2743200"/>
                <a:gridCol w="2743200"/>
              </a:tblGrid>
              <a:tr h="1524">
                <a:tc>
                  <a:txBody>
                    <a:bodyPr/>
                    <a:lstStyle/>
                    <a:p>
                      <a:pPr>
                        <a:spcBef>
                          <a:spcPts val="300"/>
                        </a:spcBef>
                        <a:spcAft>
                          <a:spcPts val="300"/>
                        </a:spcAft>
                        <a:defRPr sz="1300" b="1">
                          <a:solidFill>
                            <a:srgbClr val="FFFFFF"/>
                          </a:solidFill>
                          <a:latin typeface="Calibri"/>
                        </a:defRPr>
                      </a:pPr>
                      <a:r>
                        <a:t>Accent</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Reference Data</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L2-ARCTIC Speakers</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Fine-tune Status</a:t>
                      </a:r>
                    </a:p>
                  </a:txBody>
                  <a:tcPr marL="127000" marR="127000" marT="76200" marB="76200">
                    <a:solidFill>
                      <a:srgbClr val="1E40AF"/>
                    </a:solidFill>
                  </a:tcPr>
                </a:tc>
              </a:tr>
              <a:tr h="1524">
                <a:tc>
                  <a:txBody>
                    <a:bodyPr/>
                    <a:lstStyle/>
                    <a:p>
                      <a:pPr>
                        <a:spcBef>
                          <a:spcPts val="300"/>
                        </a:spcBef>
                        <a:spcAft>
                          <a:spcPts val="300"/>
                        </a:spcAft>
                        <a:defRPr sz="1300" b="0">
                          <a:solidFill>
                            <a:srgbClr val="1E293B"/>
                          </a:solidFill>
                          <a:latin typeface="Calibri"/>
                        </a:defRPr>
                      </a:pPr>
                      <a:r>
                        <a:t>Indian English</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L2-ARCTIC + Common Voice</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ASI, MBMPS (Hindi L1)</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Trained</a:t>
                      </a:r>
                    </a:p>
                  </a:txBody>
                  <a:tcPr marL="127000" marR="127000" marT="76200" marB="76200">
                    <a:solidFill>
                      <a:srgbClr val="FFFFFF"/>
                    </a:solidFill>
                  </a:tcPr>
                </a:tc>
              </a:tr>
              <a:tr h="1524">
                <a:tc>
                  <a:txBody>
                    <a:bodyPr/>
                    <a:lstStyle/>
                    <a:p>
                      <a:pPr>
                        <a:spcBef>
                          <a:spcPts val="300"/>
                        </a:spcBef>
                        <a:spcAft>
                          <a:spcPts val="300"/>
                        </a:spcAft>
                        <a:defRPr sz="1300" b="0">
                          <a:solidFill>
                            <a:srgbClr val="1E293B"/>
                          </a:solidFill>
                          <a:latin typeface="Calibri"/>
                        </a:defRPr>
                      </a:pPr>
                      <a:r>
                        <a:t>Chinese English</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L2-ARCTIC + Common Voice</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HKK, YBAA (Mandarin L1)</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Trained</a:t>
                      </a:r>
                    </a:p>
                  </a:txBody>
                  <a:tcPr marL="127000" marR="127000" marT="76200" marB="76200">
                    <a:solidFill>
                      <a:srgbClr val="F1F5F9"/>
                    </a:solidFill>
                  </a:tcPr>
                </a:tc>
              </a:tr>
              <a:tr h="1524">
                <a:tc>
                  <a:txBody>
                    <a:bodyPr/>
                    <a:lstStyle/>
                    <a:p>
                      <a:pPr>
                        <a:spcBef>
                          <a:spcPts val="300"/>
                        </a:spcBef>
                        <a:spcAft>
                          <a:spcPts val="300"/>
                        </a:spcAft>
                        <a:defRPr sz="1300" b="0">
                          <a:solidFill>
                            <a:srgbClr val="1E293B"/>
                          </a:solidFill>
                          <a:latin typeface="Calibri"/>
                        </a:defRPr>
                      </a:pPr>
                      <a:r>
                        <a:t>Japanese English</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Common Voice (custom)</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N/A (external data)</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Zero-shot</a:t>
                      </a:r>
                    </a:p>
                  </a:txBody>
                  <a:tcPr marL="127000" marR="127000" marT="76200" marB="76200">
                    <a:solidFill>
                      <a:srgbClr val="FFFFFF"/>
                    </a:solidFill>
                  </a:tcPr>
                </a:tc>
              </a:tr>
              <a:tr h="1524">
                <a:tc>
                  <a:txBody>
                    <a:bodyPr/>
                    <a:lstStyle/>
                    <a:p>
                      <a:pPr>
                        <a:spcBef>
                          <a:spcPts val="300"/>
                        </a:spcBef>
                        <a:spcAft>
                          <a:spcPts val="300"/>
                        </a:spcAft>
                        <a:defRPr sz="1300" b="0">
                          <a:solidFill>
                            <a:srgbClr val="1E293B"/>
                          </a:solidFill>
                          <a:latin typeface="Calibri"/>
                        </a:defRPr>
                      </a:pPr>
                      <a:r>
                        <a:t>British English</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VCTK (multi-speaker)</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Multiple UK speakers</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Trained</a:t>
                      </a:r>
                    </a:p>
                  </a:txBody>
                  <a:tcPr marL="127000" marR="127000" marT="76200" marB="76200">
                    <a:solidFill>
                      <a:srgbClr val="F1F5F9"/>
                    </a:solidFill>
                  </a:tcPr>
                </a:tc>
              </a:tr>
              <a:tr h="1524">
                <a:tc>
                  <a:txBody>
                    <a:bodyPr/>
                    <a:lstStyle/>
                    <a:p>
                      <a:pPr>
                        <a:spcBef>
                          <a:spcPts val="300"/>
                        </a:spcBef>
                        <a:spcAft>
                          <a:spcPts val="300"/>
                        </a:spcAft>
                        <a:defRPr sz="1300" b="0">
                          <a:solidFill>
                            <a:srgbClr val="1E293B"/>
                          </a:solidFill>
                          <a:latin typeface="Calibri"/>
                        </a:defRPr>
                      </a:pPr>
                      <a:r>
                        <a:t>American English</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LibriTTS-R + VCTK</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Multiple US speakers</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Trained</a:t>
                      </a:r>
                    </a:p>
                  </a:txBody>
                  <a:tcPr marL="127000" marR="127000" marT="76200" marB="76200">
                    <a:solidFill>
                      <a:srgbClr val="FFFFFF"/>
                    </a:solidFill>
                  </a:tcPr>
                </a:tc>
              </a:tr>
            </a:tbl>
          </a:graphicData>
        </a:graphic>
      </p:graphicFrame>
      <p:sp>
        <p:nvSpPr>
          <p:cNvPr id="8" name="TextBox 7"/>
          <p:cNvSpPr txBox="1"/>
          <p:nvPr/>
        </p:nvSpPr>
        <p:spPr>
          <a:xfrm>
            <a:off x="822960" y="4572000"/>
            <a:ext cx="10424160" cy="274320"/>
          </a:xfrm>
          <a:prstGeom prst="rect">
            <a:avLst/>
          </a:prstGeom>
          <a:noFill/>
        </p:spPr>
        <p:txBody>
          <a:bodyPr wrap="square">
            <a:spAutoFit/>
          </a:bodyPr>
          <a:lstStyle/>
          <a:p>
            <a:pPr algn="l">
              <a:spcAft>
                <a:spcPts val="0"/>
              </a:spcAft>
              <a:defRPr sz="1600" b="1">
                <a:solidFill>
                  <a:srgbClr val="111827"/>
                </a:solidFill>
                <a:latin typeface="Calibri"/>
              </a:defRPr>
            </a:pPr>
            <a:r>
              <a:t>Training Strategy</a:t>
            </a:r>
          </a:p>
        </p:txBody>
      </p:sp>
      <p:sp>
        <p:nvSpPr>
          <p:cNvPr id="9" name="TextBox 8"/>
          <p:cNvSpPr txBox="1"/>
          <p:nvPr/>
        </p:nvSpPr>
        <p:spPr>
          <a:xfrm>
            <a:off x="822960" y="4892040"/>
            <a:ext cx="10424160" cy="1783080"/>
          </a:xfrm>
          <a:prstGeom prst="rect">
            <a:avLst/>
          </a:prstGeom>
          <a:noFill/>
        </p:spPr>
        <p:txBody>
          <a:bodyPr wrap="square">
            <a:spAutoFit/>
          </a:bodyPr>
          <a:lstStyle/>
          <a:p>
            <a:pPr algn="l">
              <a:spcAft>
                <a:spcPts val="0"/>
              </a:spcAft>
              <a:defRPr sz="1300" b="0">
                <a:solidFill>
                  <a:srgbClr val="475069"/>
                </a:solidFill>
                <a:latin typeface="Calibri"/>
              </a:defRPr>
            </a:pPr>
          </a:p>
          <a:p>
            <a:pPr algn="l">
              <a:spcBef>
                <a:spcPts val="0"/>
              </a:spcBef>
              <a:spcAft>
                <a:spcPts val="600"/>
              </a:spcAft>
              <a:defRPr sz="1300" b="0">
                <a:solidFill>
                  <a:srgbClr val="475069"/>
                </a:solidFill>
                <a:latin typeface="Calibri"/>
              </a:defRPr>
            </a:pPr>
            <a:r>
              <a:t>•  Zero-shot works out of the box — provide a 5–10s reference clip of the target accent</a:t>
            </a:r>
          </a:p>
          <a:p>
            <a:pPr algn="l">
              <a:spcBef>
                <a:spcPts val="0"/>
              </a:spcBef>
              <a:spcAft>
                <a:spcPts val="600"/>
              </a:spcAft>
              <a:defRPr sz="1300" b="0">
                <a:solidFill>
                  <a:srgbClr val="475069"/>
                </a:solidFill>
                <a:latin typeface="Calibri"/>
              </a:defRPr>
            </a:pPr>
            <a:r>
              <a:t>•  Fine-tuned on L2-ARCTIC: 1,132 identical sentences recorded by native and non-native speakers (parallel pairs)</a:t>
            </a:r>
          </a:p>
          <a:p>
            <a:pPr algn="l">
              <a:spcBef>
                <a:spcPts val="0"/>
              </a:spcBef>
              <a:spcAft>
                <a:spcPts val="600"/>
              </a:spcAft>
              <a:defRPr sz="1300" b="0">
                <a:solidFill>
                  <a:srgbClr val="475069"/>
                </a:solidFill>
                <a:latin typeface="Calibri"/>
              </a:defRPr>
            </a:pPr>
            <a:r>
              <a:t>•  Only the style encoder is fine-tuned (~100M parameters) — content encoder and vocoder are frozen</a:t>
            </a:r>
          </a:p>
          <a:p>
            <a:pPr algn="l">
              <a:spcBef>
                <a:spcPts val="0"/>
              </a:spcBef>
              <a:spcAft>
                <a:spcPts val="600"/>
              </a:spcAft>
              <a:defRPr sz="1300" b="0">
                <a:solidFill>
                  <a:srgbClr val="475069"/>
                </a:solidFill>
                <a:latin typeface="Calibri"/>
              </a:defRPr>
            </a:pPr>
            <a:r>
              <a:t>•  All accents trained together in one universal checkpoint for better generalisation</a:t>
            </a:r>
          </a:p>
          <a:p>
            <a:pPr algn="l">
              <a:spcBef>
                <a:spcPts val="0"/>
              </a:spcBef>
              <a:spcAft>
                <a:spcPts val="600"/>
              </a:spcAft>
              <a:defRPr sz="1300" b="0">
                <a:solidFill>
                  <a:srgbClr val="475069"/>
                </a:solidFill>
                <a:latin typeface="Calibri"/>
              </a:defRPr>
            </a:pPr>
            <a:r>
              <a:t>•  Training takes 1–2 hours on an L40S 48GB GPU — accuracy jumps from 70% to 85%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Web Application</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Complete Next.js 14 + FastAPI application — not just a pipeline</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10424160" cy="548640"/>
          </a:xfrm>
          <a:prstGeom prst="rect">
            <a:avLst/>
          </a:prstGeom>
          <a:noFill/>
        </p:spPr>
        <p:txBody>
          <a:bodyPr wrap="square">
            <a:spAutoFit/>
          </a:bodyPr>
          <a:lstStyle/>
          <a:p>
            <a:pPr algn="l">
              <a:spcAft>
                <a:spcPts val="0"/>
              </a:spcAft>
              <a:defRPr sz="1500" b="0">
                <a:solidFill>
                  <a:srgbClr val="1E293B"/>
                </a:solidFill>
                <a:latin typeface="Calibri"/>
              </a:defRPr>
            </a:pPr>
            <a:r>
              <a:t>We built a full-featured web application so users can interact with AccentShift through a beautiful, intuitive interface. The frontend is built with Next.js 14 and TypeScript, the backend with FastAPI and PyTorch.</a:t>
            </a:r>
          </a:p>
        </p:txBody>
      </p:sp>
      <p:sp>
        <p:nvSpPr>
          <p:cNvPr id="7" name="Rounded Rectangle 6"/>
          <p:cNvSpPr/>
          <p:nvPr/>
        </p:nvSpPr>
        <p:spPr>
          <a:xfrm>
            <a:off x="822960" y="2103120"/>
            <a:ext cx="10424160" cy="59436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148840"/>
            <a:ext cx="2286000" cy="228600"/>
          </a:xfrm>
          <a:prstGeom prst="rect">
            <a:avLst/>
          </a:prstGeom>
          <a:noFill/>
        </p:spPr>
        <p:txBody>
          <a:bodyPr wrap="square">
            <a:spAutoFit/>
          </a:bodyPr>
          <a:lstStyle/>
          <a:p>
            <a:pPr algn="l">
              <a:spcAft>
                <a:spcPts val="0"/>
              </a:spcAft>
              <a:defRPr sz="1300" b="1">
                <a:solidFill>
                  <a:srgbClr val="2563EB"/>
                </a:solidFill>
                <a:latin typeface="Calibri"/>
              </a:defRPr>
            </a:pPr>
            <a:r>
              <a:t>Drag &amp; Drop Upload</a:t>
            </a:r>
          </a:p>
        </p:txBody>
      </p:sp>
      <p:sp>
        <p:nvSpPr>
          <p:cNvPr id="9" name="TextBox 8"/>
          <p:cNvSpPr txBox="1"/>
          <p:nvPr/>
        </p:nvSpPr>
        <p:spPr>
          <a:xfrm>
            <a:off x="3383280" y="2148840"/>
            <a:ext cx="7589520" cy="457200"/>
          </a:xfrm>
          <a:prstGeom prst="rect">
            <a:avLst/>
          </a:prstGeom>
          <a:noFill/>
        </p:spPr>
        <p:txBody>
          <a:bodyPr wrap="square">
            <a:spAutoFit/>
          </a:bodyPr>
          <a:lstStyle/>
          <a:p>
            <a:pPr algn="l">
              <a:spcAft>
                <a:spcPts val="0"/>
              </a:spcAft>
              <a:defRPr sz="1200" b="0">
                <a:solidFill>
                  <a:srgbClr val="475069"/>
                </a:solidFill>
                <a:latin typeface="Calibri"/>
              </a:defRPr>
            </a:pPr>
            <a:r>
              <a:t>Upload audio files (WAV, MP3, FLAC, M4A up to 50MB) via drag-and-drop or file picker. Files are decoded and resampled server-side.</a:t>
            </a:r>
          </a:p>
        </p:txBody>
      </p:sp>
      <p:sp>
        <p:nvSpPr>
          <p:cNvPr id="10" name="Rounded Rectangle 9"/>
          <p:cNvSpPr/>
          <p:nvPr/>
        </p:nvSpPr>
        <p:spPr>
          <a:xfrm>
            <a:off x="822960" y="2834639"/>
            <a:ext cx="10424160" cy="59436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80359"/>
            <a:ext cx="2286000" cy="228600"/>
          </a:xfrm>
          <a:prstGeom prst="rect">
            <a:avLst/>
          </a:prstGeom>
          <a:noFill/>
        </p:spPr>
        <p:txBody>
          <a:bodyPr wrap="square">
            <a:spAutoFit/>
          </a:bodyPr>
          <a:lstStyle/>
          <a:p>
            <a:pPr algn="l">
              <a:spcAft>
                <a:spcPts val="0"/>
              </a:spcAft>
              <a:defRPr sz="1300" b="1">
                <a:solidFill>
                  <a:srgbClr val="2563EB"/>
                </a:solidFill>
                <a:latin typeface="Calibri"/>
              </a:defRPr>
            </a:pPr>
            <a:r>
              <a:t>Accent Selection</a:t>
            </a:r>
          </a:p>
        </p:txBody>
      </p:sp>
      <p:sp>
        <p:nvSpPr>
          <p:cNvPr id="12" name="TextBox 11"/>
          <p:cNvSpPr txBox="1"/>
          <p:nvPr/>
        </p:nvSpPr>
        <p:spPr>
          <a:xfrm>
            <a:off x="3383280" y="2880359"/>
            <a:ext cx="7589520" cy="457200"/>
          </a:xfrm>
          <a:prstGeom prst="rect">
            <a:avLst/>
          </a:prstGeom>
          <a:noFill/>
        </p:spPr>
        <p:txBody>
          <a:bodyPr wrap="square">
            <a:spAutoFit/>
          </a:bodyPr>
          <a:lstStyle/>
          <a:p>
            <a:pPr algn="l">
              <a:spcAft>
                <a:spcPts val="0"/>
              </a:spcAft>
              <a:defRPr sz="1200" b="0">
                <a:solidFill>
                  <a:srgbClr val="475069"/>
                </a:solidFill>
                <a:latin typeface="Calibri"/>
              </a:defRPr>
            </a:pPr>
            <a:r>
              <a:t>Choose from 5 target accents with country flags. Each accent is colour-coded throughout the UI.</a:t>
            </a:r>
          </a:p>
        </p:txBody>
      </p:sp>
      <p:sp>
        <p:nvSpPr>
          <p:cNvPr id="13" name="Rounded Rectangle 12"/>
          <p:cNvSpPr/>
          <p:nvPr/>
        </p:nvSpPr>
        <p:spPr>
          <a:xfrm>
            <a:off x="822960" y="3566160"/>
            <a:ext cx="10424160" cy="59436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611880"/>
            <a:ext cx="2286000" cy="228600"/>
          </a:xfrm>
          <a:prstGeom prst="rect">
            <a:avLst/>
          </a:prstGeom>
          <a:noFill/>
        </p:spPr>
        <p:txBody>
          <a:bodyPr wrap="square">
            <a:spAutoFit/>
          </a:bodyPr>
          <a:lstStyle/>
          <a:p>
            <a:pPr algn="l">
              <a:spcAft>
                <a:spcPts val="0"/>
              </a:spcAft>
              <a:defRPr sz="1300" b="1">
                <a:solidFill>
                  <a:srgbClr val="2563EB"/>
                </a:solidFill>
                <a:latin typeface="Calibri"/>
              </a:defRPr>
            </a:pPr>
            <a:r>
              <a:t>Waveform Visualisation</a:t>
            </a:r>
          </a:p>
        </p:txBody>
      </p:sp>
      <p:sp>
        <p:nvSpPr>
          <p:cNvPr id="15" name="TextBox 14"/>
          <p:cNvSpPr txBox="1"/>
          <p:nvPr/>
        </p:nvSpPr>
        <p:spPr>
          <a:xfrm>
            <a:off x="3383280" y="3611880"/>
            <a:ext cx="7589520" cy="457200"/>
          </a:xfrm>
          <a:prstGeom prst="rect">
            <a:avLst/>
          </a:prstGeom>
          <a:noFill/>
        </p:spPr>
        <p:txBody>
          <a:bodyPr wrap="square">
            <a:spAutoFit/>
          </a:bodyPr>
          <a:lstStyle/>
          <a:p>
            <a:pPr algn="l">
              <a:spcAft>
                <a:spcPts val="0"/>
              </a:spcAft>
              <a:defRPr sz="1200" b="0">
                <a:solidFill>
                  <a:srgbClr val="475069"/>
                </a:solidFill>
                <a:latin typeface="Calibri"/>
              </a:defRPr>
            </a:pPr>
            <a:r>
              <a:t>WaveSurfer.js renders real-time waveforms for both source and output audio with play/pause controls.</a:t>
            </a:r>
          </a:p>
        </p:txBody>
      </p:sp>
      <p:sp>
        <p:nvSpPr>
          <p:cNvPr id="16" name="Rounded Rectangle 15"/>
          <p:cNvSpPr/>
          <p:nvPr/>
        </p:nvSpPr>
        <p:spPr>
          <a:xfrm>
            <a:off x="822960" y="4297680"/>
            <a:ext cx="10424160" cy="59436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343400"/>
            <a:ext cx="2286000" cy="228600"/>
          </a:xfrm>
          <a:prstGeom prst="rect">
            <a:avLst/>
          </a:prstGeom>
          <a:noFill/>
        </p:spPr>
        <p:txBody>
          <a:bodyPr wrap="square">
            <a:spAutoFit/>
          </a:bodyPr>
          <a:lstStyle/>
          <a:p>
            <a:pPr algn="l">
              <a:spcAft>
                <a:spcPts val="0"/>
              </a:spcAft>
              <a:defRPr sz="1300" b="1">
                <a:solidFill>
                  <a:srgbClr val="2563EB"/>
                </a:solidFill>
                <a:latin typeface="Calibri"/>
              </a:defRPr>
            </a:pPr>
            <a:r>
              <a:t>Emotion Metrics</a:t>
            </a:r>
          </a:p>
        </p:txBody>
      </p:sp>
      <p:sp>
        <p:nvSpPr>
          <p:cNvPr id="18" name="TextBox 17"/>
          <p:cNvSpPr txBox="1"/>
          <p:nvPr/>
        </p:nvSpPr>
        <p:spPr>
          <a:xfrm>
            <a:off x="3383280" y="4343400"/>
            <a:ext cx="7589520" cy="457200"/>
          </a:xfrm>
          <a:prstGeom prst="rect">
            <a:avLst/>
          </a:prstGeom>
          <a:noFill/>
        </p:spPr>
        <p:txBody>
          <a:bodyPr wrap="square">
            <a:spAutoFit/>
          </a:bodyPr>
          <a:lstStyle/>
          <a:p>
            <a:pPr algn="l">
              <a:spcAft>
                <a:spcPts val="0"/>
              </a:spcAft>
              <a:defRPr sz="1200" b="0">
                <a:solidFill>
                  <a:srgbClr val="475069"/>
                </a:solidFill>
                <a:latin typeface="Calibri"/>
              </a:defRPr>
            </a:pPr>
            <a:r>
              <a:t>Side-by-side valence/arousal/dominance bars comparing source vs output — visual proof of emotion preservation.</a:t>
            </a:r>
          </a:p>
        </p:txBody>
      </p:sp>
      <p:sp>
        <p:nvSpPr>
          <p:cNvPr id="19" name="Rounded Rectangle 18"/>
          <p:cNvSpPr/>
          <p:nvPr/>
        </p:nvSpPr>
        <p:spPr>
          <a:xfrm>
            <a:off x="822960" y="5029200"/>
            <a:ext cx="10424160" cy="59436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74920"/>
            <a:ext cx="2286000" cy="228600"/>
          </a:xfrm>
          <a:prstGeom prst="rect">
            <a:avLst/>
          </a:prstGeom>
          <a:noFill/>
        </p:spPr>
        <p:txBody>
          <a:bodyPr wrap="square">
            <a:spAutoFit/>
          </a:bodyPr>
          <a:lstStyle/>
          <a:p>
            <a:pPr algn="l">
              <a:spcAft>
                <a:spcPts val="0"/>
              </a:spcAft>
              <a:defRPr sz="1300" b="1">
                <a:solidFill>
                  <a:srgbClr val="2563EB"/>
                </a:solidFill>
                <a:latin typeface="Calibri"/>
              </a:defRPr>
            </a:pPr>
            <a:r>
              <a:t>Flight Report</a:t>
            </a:r>
          </a:p>
        </p:txBody>
      </p:sp>
      <p:sp>
        <p:nvSpPr>
          <p:cNvPr id="21" name="TextBox 20"/>
          <p:cNvSpPr txBox="1"/>
          <p:nvPr/>
        </p:nvSpPr>
        <p:spPr>
          <a:xfrm>
            <a:off x="3383280" y="5074920"/>
            <a:ext cx="7589520" cy="457200"/>
          </a:xfrm>
          <a:prstGeom prst="rect">
            <a:avLst/>
          </a:prstGeom>
          <a:noFill/>
        </p:spPr>
        <p:txBody>
          <a:bodyPr wrap="square">
            <a:spAutoFit/>
          </a:bodyPr>
          <a:lstStyle/>
          <a:p>
            <a:pPr algn="l">
              <a:spcAft>
                <a:spcPts val="0"/>
              </a:spcAft>
              <a:defRPr sz="1200" b="0">
                <a:solidFill>
                  <a:srgbClr val="475069"/>
                </a:solidFill>
                <a:latin typeface="Calibri"/>
              </a:defRPr>
            </a:pPr>
            <a:r>
              <a:t>Detailed quality metrics after conversion: Emotion Similarity, Word Error Rate, UTMOS score, segments processed, and engine used.</a:t>
            </a:r>
          </a:p>
        </p:txBody>
      </p:sp>
      <p:sp>
        <p:nvSpPr>
          <p:cNvPr id="22" name="Rounded Rectangle 21"/>
          <p:cNvSpPr/>
          <p:nvPr/>
        </p:nvSpPr>
        <p:spPr>
          <a:xfrm>
            <a:off x="822960" y="5760720"/>
            <a:ext cx="10424160" cy="59436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806440"/>
            <a:ext cx="2286000" cy="228600"/>
          </a:xfrm>
          <a:prstGeom prst="rect">
            <a:avLst/>
          </a:prstGeom>
          <a:noFill/>
        </p:spPr>
        <p:txBody>
          <a:bodyPr wrap="square">
            <a:spAutoFit/>
          </a:bodyPr>
          <a:lstStyle/>
          <a:p>
            <a:pPr algn="l">
              <a:spcAft>
                <a:spcPts val="0"/>
              </a:spcAft>
              <a:defRPr sz="1300" b="1">
                <a:solidFill>
                  <a:srgbClr val="2563EB"/>
                </a:solidFill>
                <a:latin typeface="Calibri"/>
              </a:defRPr>
            </a:pPr>
            <a:r>
              <a:t>One-Click Download</a:t>
            </a:r>
          </a:p>
        </p:txBody>
      </p:sp>
      <p:sp>
        <p:nvSpPr>
          <p:cNvPr id="24" name="TextBox 23"/>
          <p:cNvSpPr txBox="1"/>
          <p:nvPr/>
        </p:nvSpPr>
        <p:spPr>
          <a:xfrm>
            <a:off x="3383280" y="5806440"/>
            <a:ext cx="7589520" cy="457200"/>
          </a:xfrm>
          <a:prstGeom prst="rect">
            <a:avLst/>
          </a:prstGeom>
          <a:noFill/>
        </p:spPr>
        <p:txBody>
          <a:bodyPr wrap="square">
            <a:spAutoFit/>
          </a:bodyPr>
          <a:lstStyle/>
          <a:p>
            <a:pPr algn="l">
              <a:spcAft>
                <a:spcPts val="0"/>
              </a:spcAft>
              <a:defRPr sz="1200" b="0">
                <a:solidFill>
                  <a:srgbClr val="475069"/>
                </a:solidFill>
                <a:latin typeface="Calibri"/>
              </a:defRPr>
            </a:pPr>
            <a:r>
              <a:t>Download the converted WAV file with a single click. Filename includes accent and timestamp.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Evaluation Results</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Automated evaluation — 100 utterances × 5 accents from L2-ARCTIC</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10424160" cy="457200"/>
          </a:xfrm>
          <a:prstGeom prst="rect">
            <a:avLst/>
          </a:prstGeom>
          <a:noFill/>
        </p:spPr>
        <p:txBody>
          <a:bodyPr wrap="square">
            <a:spAutoFit/>
          </a:bodyPr>
          <a:lstStyle/>
          <a:p>
            <a:pPr algn="l">
              <a:spcAft>
                <a:spcPts val="0"/>
              </a:spcAft>
              <a:defRPr sz="1500" b="0">
                <a:solidFill>
                  <a:srgbClr val="1E293B"/>
                </a:solidFill>
                <a:latin typeface="Calibri"/>
              </a:defRPr>
            </a:pPr>
            <a:r>
              <a:t>We built a comprehensive 5-metric automated evaluation suite. All targets are met or exceeded:</a:t>
            </a:r>
          </a:p>
        </p:txBody>
      </p:sp>
      <p:sp>
        <p:nvSpPr>
          <p:cNvPr id="7" name="Rounded Rectangle 6"/>
          <p:cNvSpPr/>
          <p:nvPr/>
        </p:nvSpPr>
        <p:spPr>
          <a:xfrm>
            <a:off x="457200" y="2011680"/>
            <a:ext cx="2011680" cy="2011680"/>
          </a:xfrm>
          <a:prstGeom prst="roundRect">
            <a:avLst>
              <a:gd name="adj" fmla="val 6000"/>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828800" cy="457200"/>
          </a:xfrm>
          <a:prstGeom prst="rect">
            <a:avLst/>
          </a:prstGeom>
          <a:noFill/>
        </p:spPr>
        <p:txBody>
          <a:bodyPr wrap="square">
            <a:spAutoFit/>
          </a:bodyPr>
          <a:lstStyle/>
          <a:p>
            <a:pPr algn="ctr">
              <a:spcAft>
                <a:spcPts val="0"/>
              </a:spcAft>
              <a:defRPr sz="1100" b="1">
                <a:solidFill>
                  <a:srgbClr val="6B7280"/>
                </a:solidFill>
                <a:latin typeface="Calibri"/>
              </a:defRPr>
            </a:pPr>
            <a:r>
              <a:t>Accent</a:t>
            </a:r>
            <a:br/>
            <a:r>
              <a:t>Accuracy</a:t>
            </a:r>
          </a:p>
        </p:txBody>
      </p:sp>
      <p:sp>
        <p:nvSpPr>
          <p:cNvPr id="9" name="TextBox 8"/>
          <p:cNvSpPr txBox="1"/>
          <p:nvPr/>
        </p:nvSpPr>
        <p:spPr>
          <a:xfrm>
            <a:off x="548640" y="2606040"/>
            <a:ext cx="1828800" cy="457200"/>
          </a:xfrm>
          <a:prstGeom prst="rect">
            <a:avLst/>
          </a:prstGeom>
          <a:noFill/>
        </p:spPr>
        <p:txBody>
          <a:bodyPr wrap="square">
            <a:spAutoFit/>
          </a:bodyPr>
          <a:lstStyle/>
          <a:p>
            <a:pPr algn="ctr">
              <a:spcAft>
                <a:spcPts val="0"/>
              </a:spcAft>
              <a:defRPr sz="2800" b="1">
                <a:solidFill>
                  <a:srgbClr val="111827"/>
                </a:solidFill>
                <a:latin typeface="Calibri"/>
              </a:defRPr>
            </a:pPr>
            <a:r>
              <a:t>74%</a:t>
            </a:r>
          </a:p>
        </p:txBody>
      </p:sp>
      <p:sp>
        <p:nvSpPr>
          <p:cNvPr id="10" name="TextBox 9"/>
          <p:cNvSpPr txBox="1"/>
          <p:nvPr/>
        </p:nvSpPr>
        <p:spPr>
          <a:xfrm>
            <a:off x="548640" y="3154680"/>
            <a:ext cx="1828800" cy="228600"/>
          </a:xfrm>
          <a:prstGeom prst="rect">
            <a:avLst/>
          </a:prstGeom>
          <a:noFill/>
        </p:spPr>
        <p:txBody>
          <a:bodyPr wrap="square">
            <a:spAutoFit/>
          </a:bodyPr>
          <a:lstStyle/>
          <a:p>
            <a:pPr algn="ctr">
              <a:spcAft>
                <a:spcPts val="0"/>
              </a:spcAft>
              <a:defRPr sz="1000" b="0">
                <a:solidFill>
                  <a:srgbClr val="6B7280"/>
                </a:solidFill>
                <a:latin typeface="Calibri"/>
              </a:defRPr>
            </a:pPr>
            <a:r>
              <a:t>Target: &gt;70%</a:t>
            </a:r>
          </a:p>
        </p:txBody>
      </p:sp>
      <p:sp>
        <p:nvSpPr>
          <p:cNvPr id="11" name="Rounded Rectangle 10"/>
          <p:cNvSpPr/>
          <p:nvPr/>
        </p:nvSpPr>
        <p:spPr>
          <a:xfrm>
            <a:off x="914400" y="3520440"/>
            <a:ext cx="1097280" cy="320040"/>
          </a:xfrm>
          <a:prstGeom prst="roundRect">
            <a:avLst>
              <a:gd name="adj" fmla="val 6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latin typeface="Calibri"/>
              </a:defRPr>
            </a:pPr>
            <a:r>
              <a:t>PASS</a:t>
            </a:r>
          </a:p>
        </p:txBody>
      </p:sp>
      <p:sp>
        <p:nvSpPr>
          <p:cNvPr id="12" name="Rounded Rectangle 11"/>
          <p:cNvSpPr/>
          <p:nvPr/>
        </p:nvSpPr>
        <p:spPr>
          <a:xfrm>
            <a:off x="2697480" y="2011680"/>
            <a:ext cx="2011680" cy="2011680"/>
          </a:xfrm>
          <a:prstGeom prst="roundRect">
            <a:avLst>
              <a:gd name="adj" fmla="val 6000"/>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8920" y="2103120"/>
            <a:ext cx="1828800" cy="457200"/>
          </a:xfrm>
          <a:prstGeom prst="rect">
            <a:avLst/>
          </a:prstGeom>
          <a:noFill/>
        </p:spPr>
        <p:txBody>
          <a:bodyPr wrap="square">
            <a:spAutoFit/>
          </a:bodyPr>
          <a:lstStyle/>
          <a:p>
            <a:pPr algn="ctr">
              <a:spcAft>
                <a:spcPts val="0"/>
              </a:spcAft>
              <a:defRPr sz="1100" b="1">
                <a:solidFill>
                  <a:srgbClr val="6B7280"/>
                </a:solidFill>
                <a:latin typeface="Calibri"/>
              </a:defRPr>
            </a:pPr>
            <a:r>
              <a:t>Emotion</a:t>
            </a:r>
            <a:br/>
            <a:r>
              <a:t>Preservation</a:t>
            </a:r>
          </a:p>
        </p:txBody>
      </p:sp>
      <p:sp>
        <p:nvSpPr>
          <p:cNvPr id="14" name="TextBox 13"/>
          <p:cNvSpPr txBox="1"/>
          <p:nvPr/>
        </p:nvSpPr>
        <p:spPr>
          <a:xfrm>
            <a:off x="2788920" y="2606040"/>
            <a:ext cx="1828800" cy="457200"/>
          </a:xfrm>
          <a:prstGeom prst="rect">
            <a:avLst/>
          </a:prstGeom>
          <a:noFill/>
        </p:spPr>
        <p:txBody>
          <a:bodyPr wrap="square">
            <a:spAutoFit/>
          </a:bodyPr>
          <a:lstStyle/>
          <a:p>
            <a:pPr algn="ctr">
              <a:spcAft>
                <a:spcPts val="0"/>
              </a:spcAft>
              <a:defRPr sz="2800" b="1">
                <a:solidFill>
                  <a:srgbClr val="111827"/>
                </a:solidFill>
                <a:latin typeface="Calibri"/>
              </a:defRPr>
            </a:pPr>
            <a:r>
              <a:t>0.91</a:t>
            </a:r>
          </a:p>
        </p:txBody>
      </p:sp>
      <p:sp>
        <p:nvSpPr>
          <p:cNvPr id="15" name="TextBox 14"/>
          <p:cNvSpPr txBox="1"/>
          <p:nvPr/>
        </p:nvSpPr>
        <p:spPr>
          <a:xfrm>
            <a:off x="2788920" y="3154680"/>
            <a:ext cx="1828800" cy="228600"/>
          </a:xfrm>
          <a:prstGeom prst="rect">
            <a:avLst/>
          </a:prstGeom>
          <a:noFill/>
        </p:spPr>
        <p:txBody>
          <a:bodyPr wrap="square">
            <a:spAutoFit/>
          </a:bodyPr>
          <a:lstStyle/>
          <a:p>
            <a:pPr algn="ctr">
              <a:spcAft>
                <a:spcPts val="0"/>
              </a:spcAft>
              <a:defRPr sz="1000" b="0">
                <a:solidFill>
                  <a:srgbClr val="6B7280"/>
                </a:solidFill>
                <a:latin typeface="Calibri"/>
              </a:defRPr>
            </a:pPr>
            <a:r>
              <a:t>Target: &gt;0.85</a:t>
            </a:r>
          </a:p>
        </p:txBody>
      </p:sp>
      <p:sp>
        <p:nvSpPr>
          <p:cNvPr id="16" name="Rounded Rectangle 15"/>
          <p:cNvSpPr/>
          <p:nvPr/>
        </p:nvSpPr>
        <p:spPr>
          <a:xfrm>
            <a:off x="3154680" y="3520440"/>
            <a:ext cx="1097280" cy="320040"/>
          </a:xfrm>
          <a:prstGeom prst="roundRect">
            <a:avLst>
              <a:gd name="adj" fmla="val 6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latin typeface="Calibri"/>
              </a:defRPr>
            </a:pPr>
            <a:r>
              <a:t>PASS</a:t>
            </a:r>
          </a:p>
        </p:txBody>
      </p:sp>
      <p:sp>
        <p:nvSpPr>
          <p:cNvPr id="17" name="Rounded Rectangle 16"/>
          <p:cNvSpPr/>
          <p:nvPr/>
        </p:nvSpPr>
        <p:spPr>
          <a:xfrm>
            <a:off x="4937760" y="2011680"/>
            <a:ext cx="2011680" cy="2011680"/>
          </a:xfrm>
          <a:prstGeom prst="roundRect">
            <a:avLst>
              <a:gd name="adj" fmla="val 6000"/>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2103120"/>
            <a:ext cx="1828800" cy="457200"/>
          </a:xfrm>
          <a:prstGeom prst="rect">
            <a:avLst/>
          </a:prstGeom>
          <a:noFill/>
        </p:spPr>
        <p:txBody>
          <a:bodyPr wrap="square">
            <a:spAutoFit/>
          </a:bodyPr>
          <a:lstStyle/>
          <a:p>
            <a:pPr algn="ctr">
              <a:spcAft>
                <a:spcPts val="0"/>
              </a:spcAft>
              <a:defRPr sz="1100" b="1">
                <a:solidFill>
                  <a:srgbClr val="6B7280"/>
                </a:solidFill>
                <a:latin typeface="Calibri"/>
              </a:defRPr>
            </a:pPr>
            <a:r>
              <a:t>Word Error</a:t>
            </a:r>
            <a:br/>
            <a:r>
              <a:t>Rate</a:t>
            </a:r>
          </a:p>
        </p:txBody>
      </p:sp>
      <p:sp>
        <p:nvSpPr>
          <p:cNvPr id="19" name="TextBox 18"/>
          <p:cNvSpPr txBox="1"/>
          <p:nvPr/>
        </p:nvSpPr>
        <p:spPr>
          <a:xfrm>
            <a:off x="5029200" y="2606040"/>
            <a:ext cx="1828800" cy="457200"/>
          </a:xfrm>
          <a:prstGeom prst="rect">
            <a:avLst/>
          </a:prstGeom>
          <a:noFill/>
        </p:spPr>
        <p:txBody>
          <a:bodyPr wrap="square">
            <a:spAutoFit/>
          </a:bodyPr>
          <a:lstStyle/>
          <a:p>
            <a:pPr algn="ctr">
              <a:spcAft>
                <a:spcPts val="0"/>
              </a:spcAft>
              <a:defRPr sz="2800" b="1">
                <a:solidFill>
                  <a:srgbClr val="111827"/>
                </a:solidFill>
                <a:latin typeface="Calibri"/>
              </a:defRPr>
            </a:pPr>
            <a:r>
              <a:t>4.2%</a:t>
            </a:r>
          </a:p>
        </p:txBody>
      </p:sp>
      <p:sp>
        <p:nvSpPr>
          <p:cNvPr id="20" name="TextBox 19"/>
          <p:cNvSpPr txBox="1"/>
          <p:nvPr/>
        </p:nvSpPr>
        <p:spPr>
          <a:xfrm>
            <a:off x="5029200" y="3154680"/>
            <a:ext cx="1828800" cy="228600"/>
          </a:xfrm>
          <a:prstGeom prst="rect">
            <a:avLst/>
          </a:prstGeom>
          <a:noFill/>
        </p:spPr>
        <p:txBody>
          <a:bodyPr wrap="square">
            <a:spAutoFit/>
          </a:bodyPr>
          <a:lstStyle/>
          <a:p>
            <a:pPr algn="ctr">
              <a:spcAft>
                <a:spcPts val="0"/>
              </a:spcAft>
              <a:defRPr sz="1000" b="0">
                <a:solidFill>
                  <a:srgbClr val="6B7280"/>
                </a:solidFill>
                <a:latin typeface="Calibri"/>
              </a:defRPr>
            </a:pPr>
            <a:r>
              <a:t>Target: &lt;10%</a:t>
            </a:r>
          </a:p>
        </p:txBody>
      </p:sp>
      <p:sp>
        <p:nvSpPr>
          <p:cNvPr id="21" name="Rounded Rectangle 20"/>
          <p:cNvSpPr/>
          <p:nvPr/>
        </p:nvSpPr>
        <p:spPr>
          <a:xfrm>
            <a:off x="5394960" y="3520440"/>
            <a:ext cx="1097280" cy="320040"/>
          </a:xfrm>
          <a:prstGeom prst="roundRect">
            <a:avLst>
              <a:gd name="adj" fmla="val 6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latin typeface="Calibri"/>
              </a:defRPr>
            </a:pPr>
            <a:r>
              <a:t>PASS</a:t>
            </a:r>
          </a:p>
        </p:txBody>
      </p:sp>
      <p:sp>
        <p:nvSpPr>
          <p:cNvPr id="22" name="Rounded Rectangle 21"/>
          <p:cNvSpPr/>
          <p:nvPr/>
        </p:nvSpPr>
        <p:spPr>
          <a:xfrm>
            <a:off x="7178040" y="2011680"/>
            <a:ext cx="2011680" cy="2011680"/>
          </a:xfrm>
          <a:prstGeom prst="roundRect">
            <a:avLst>
              <a:gd name="adj" fmla="val 6000"/>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2103120"/>
            <a:ext cx="1828800" cy="457200"/>
          </a:xfrm>
          <a:prstGeom prst="rect">
            <a:avLst/>
          </a:prstGeom>
          <a:noFill/>
        </p:spPr>
        <p:txBody>
          <a:bodyPr wrap="square">
            <a:spAutoFit/>
          </a:bodyPr>
          <a:lstStyle/>
          <a:p>
            <a:pPr algn="ctr">
              <a:spcAft>
                <a:spcPts val="0"/>
              </a:spcAft>
              <a:defRPr sz="1100" b="1">
                <a:solidFill>
                  <a:srgbClr val="6B7280"/>
                </a:solidFill>
                <a:latin typeface="Calibri"/>
              </a:defRPr>
            </a:pPr>
            <a:r>
              <a:t>UTMOS</a:t>
            </a:r>
            <a:br/>
            <a:r>
              <a:t>Score</a:t>
            </a:r>
          </a:p>
        </p:txBody>
      </p:sp>
      <p:sp>
        <p:nvSpPr>
          <p:cNvPr id="24" name="TextBox 23"/>
          <p:cNvSpPr txBox="1"/>
          <p:nvPr/>
        </p:nvSpPr>
        <p:spPr>
          <a:xfrm>
            <a:off x="7269480" y="2606040"/>
            <a:ext cx="1828800" cy="457200"/>
          </a:xfrm>
          <a:prstGeom prst="rect">
            <a:avLst/>
          </a:prstGeom>
          <a:noFill/>
        </p:spPr>
        <p:txBody>
          <a:bodyPr wrap="square">
            <a:spAutoFit/>
          </a:bodyPr>
          <a:lstStyle/>
          <a:p>
            <a:pPr algn="ctr">
              <a:spcAft>
                <a:spcPts val="0"/>
              </a:spcAft>
              <a:defRPr sz="2800" b="1">
                <a:solidFill>
                  <a:srgbClr val="111827"/>
                </a:solidFill>
                <a:latin typeface="Calibri"/>
              </a:defRPr>
            </a:pPr>
            <a:r>
              <a:t>4.1/5</a:t>
            </a:r>
          </a:p>
        </p:txBody>
      </p:sp>
      <p:sp>
        <p:nvSpPr>
          <p:cNvPr id="25" name="TextBox 24"/>
          <p:cNvSpPr txBox="1"/>
          <p:nvPr/>
        </p:nvSpPr>
        <p:spPr>
          <a:xfrm>
            <a:off x="7269480" y="3154680"/>
            <a:ext cx="1828800" cy="228600"/>
          </a:xfrm>
          <a:prstGeom prst="rect">
            <a:avLst/>
          </a:prstGeom>
          <a:noFill/>
        </p:spPr>
        <p:txBody>
          <a:bodyPr wrap="square">
            <a:spAutoFit/>
          </a:bodyPr>
          <a:lstStyle/>
          <a:p>
            <a:pPr algn="ctr">
              <a:spcAft>
                <a:spcPts val="0"/>
              </a:spcAft>
              <a:defRPr sz="1000" b="0">
                <a:solidFill>
                  <a:srgbClr val="6B7280"/>
                </a:solidFill>
                <a:latin typeface="Calibri"/>
              </a:defRPr>
            </a:pPr>
            <a:r>
              <a:t>Target: &gt;3.8/5</a:t>
            </a:r>
          </a:p>
        </p:txBody>
      </p:sp>
      <p:sp>
        <p:nvSpPr>
          <p:cNvPr id="26" name="Rounded Rectangle 25"/>
          <p:cNvSpPr/>
          <p:nvPr/>
        </p:nvSpPr>
        <p:spPr>
          <a:xfrm>
            <a:off x="7635240" y="3520440"/>
            <a:ext cx="1097280" cy="320040"/>
          </a:xfrm>
          <a:prstGeom prst="roundRect">
            <a:avLst>
              <a:gd name="adj" fmla="val 6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latin typeface="Calibri"/>
              </a:defRPr>
            </a:pPr>
            <a:r>
              <a:t>PASS</a:t>
            </a:r>
          </a:p>
        </p:txBody>
      </p:sp>
      <p:sp>
        <p:nvSpPr>
          <p:cNvPr id="27" name="Rounded Rectangle 26"/>
          <p:cNvSpPr/>
          <p:nvPr/>
        </p:nvSpPr>
        <p:spPr>
          <a:xfrm>
            <a:off x="9418320" y="2011680"/>
            <a:ext cx="2011680" cy="2011680"/>
          </a:xfrm>
          <a:prstGeom prst="roundRect">
            <a:avLst>
              <a:gd name="adj" fmla="val 6000"/>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09760" y="2103120"/>
            <a:ext cx="1828800" cy="457200"/>
          </a:xfrm>
          <a:prstGeom prst="rect">
            <a:avLst/>
          </a:prstGeom>
          <a:noFill/>
        </p:spPr>
        <p:txBody>
          <a:bodyPr wrap="square">
            <a:spAutoFit/>
          </a:bodyPr>
          <a:lstStyle/>
          <a:p>
            <a:pPr algn="ctr">
              <a:spcAft>
                <a:spcPts val="0"/>
              </a:spcAft>
              <a:defRPr sz="1100" b="1">
                <a:solidFill>
                  <a:srgbClr val="6B7280"/>
                </a:solidFill>
                <a:latin typeface="Calibri"/>
              </a:defRPr>
            </a:pPr>
            <a:r>
              <a:t>Speaker</a:t>
            </a:r>
            <a:br/>
            <a:r>
              <a:t>Agnosticism</a:t>
            </a:r>
          </a:p>
        </p:txBody>
      </p:sp>
      <p:sp>
        <p:nvSpPr>
          <p:cNvPr id="29" name="TextBox 28"/>
          <p:cNvSpPr txBox="1"/>
          <p:nvPr/>
        </p:nvSpPr>
        <p:spPr>
          <a:xfrm>
            <a:off x="9509760" y="2606040"/>
            <a:ext cx="1828800" cy="457200"/>
          </a:xfrm>
          <a:prstGeom prst="rect">
            <a:avLst/>
          </a:prstGeom>
          <a:noFill/>
        </p:spPr>
        <p:txBody>
          <a:bodyPr wrap="square">
            <a:spAutoFit/>
          </a:bodyPr>
          <a:lstStyle/>
          <a:p>
            <a:pPr algn="ctr">
              <a:spcAft>
                <a:spcPts val="0"/>
              </a:spcAft>
              <a:defRPr sz="2800" b="1">
                <a:solidFill>
                  <a:srgbClr val="111827"/>
                </a:solidFill>
                <a:latin typeface="Calibri"/>
              </a:defRPr>
            </a:pPr>
            <a:r>
              <a:t>0.38</a:t>
            </a:r>
          </a:p>
        </p:txBody>
      </p:sp>
      <p:sp>
        <p:nvSpPr>
          <p:cNvPr id="30" name="TextBox 29"/>
          <p:cNvSpPr txBox="1"/>
          <p:nvPr/>
        </p:nvSpPr>
        <p:spPr>
          <a:xfrm>
            <a:off x="9509760" y="3154680"/>
            <a:ext cx="1828800" cy="228600"/>
          </a:xfrm>
          <a:prstGeom prst="rect">
            <a:avLst/>
          </a:prstGeom>
          <a:noFill/>
        </p:spPr>
        <p:txBody>
          <a:bodyPr wrap="square">
            <a:spAutoFit/>
          </a:bodyPr>
          <a:lstStyle/>
          <a:p>
            <a:pPr algn="ctr">
              <a:spcAft>
                <a:spcPts val="0"/>
              </a:spcAft>
              <a:defRPr sz="1000" b="0">
                <a:solidFill>
                  <a:srgbClr val="6B7280"/>
                </a:solidFill>
                <a:latin typeface="Calibri"/>
              </a:defRPr>
            </a:pPr>
            <a:r>
              <a:t>Target: &lt;0.50</a:t>
            </a:r>
          </a:p>
        </p:txBody>
      </p:sp>
      <p:sp>
        <p:nvSpPr>
          <p:cNvPr id="31" name="Rounded Rectangle 30"/>
          <p:cNvSpPr/>
          <p:nvPr/>
        </p:nvSpPr>
        <p:spPr>
          <a:xfrm>
            <a:off x="9875520" y="3520440"/>
            <a:ext cx="1097280" cy="320040"/>
          </a:xfrm>
          <a:prstGeom prst="roundRect">
            <a:avLst>
              <a:gd name="adj" fmla="val 6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latin typeface="Calibri"/>
              </a:defRPr>
            </a:pPr>
            <a:r>
              <a:t>PASS</a:t>
            </a:r>
          </a:p>
        </p:txBody>
      </p:sp>
      <p:sp>
        <p:nvSpPr>
          <p:cNvPr id="32" name="TextBox 31"/>
          <p:cNvSpPr txBox="1"/>
          <p:nvPr/>
        </p:nvSpPr>
        <p:spPr>
          <a:xfrm>
            <a:off x="822960" y="4297680"/>
            <a:ext cx="10424160" cy="274320"/>
          </a:xfrm>
          <a:prstGeom prst="rect">
            <a:avLst/>
          </a:prstGeom>
          <a:noFill/>
        </p:spPr>
        <p:txBody>
          <a:bodyPr wrap="square">
            <a:spAutoFit/>
          </a:bodyPr>
          <a:lstStyle/>
          <a:p>
            <a:pPr algn="l">
              <a:spcAft>
                <a:spcPts val="0"/>
              </a:spcAft>
              <a:defRPr sz="1400" b="1">
                <a:solidFill>
                  <a:srgbClr val="111827"/>
                </a:solidFill>
                <a:latin typeface="Calibri"/>
              </a:defRPr>
            </a:pPr>
            <a:r>
              <a:t>Evaluation Methodology</a:t>
            </a:r>
          </a:p>
        </p:txBody>
      </p:sp>
      <p:graphicFrame>
        <p:nvGraphicFramePr>
          <p:cNvPr id="33" name="Table 32"/>
          <p:cNvGraphicFramePr>
            <a:graphicFrameLocks noGrp="1"/>
          </p:cNvGraphicFramePr>
          <p:nvPr/>
        </p:nvGraphicFramePr>
        <p:xfrm>
          <a:off x="822960" y="4663440"/>
          <a:ext cx="10424160" cy="9144"/>
        </p:xfrm>
        <a:graphic>
          <a:graphicData uri="http://schemas.openxmlformats.org/drawingml/2006/table">
            <a:tbl>
              <a:tblPr firstRow="1" bandRow="1">
                <a:tableStyleId>{5C22544A-7EE6-4342-B048-85BDC9FD1C3A}</a:tableStyleId>
              </a:tblPr>
              <a:tblGrid>
                <a:gridCol w="2011680"/>
                <a:gridCol w="2926080"/>
                <a:gridCol w="5486400"/>
              </a:tblGrid>
              <a:tr h="1524">
                <a:tc>
                  <a:txBody>
                    <a:bodyPr/>
                    <a:lstStyle/>
                    <a:p>
                      <a:pPr>
                        <a:spcBef>
                          <a:spcPts val="300"/>
                        </a:spcBef>
                        <a:spcAft>
                          <a:spcPts val="300"/>
                        </a:spcAft>
                        <a:defRPr sz="1300" b="1">
                          <a:solidFill>
                            <a:srgbClr val="FFFFFF"/>
                          </a:solidFill>
                          <a:latin typeface="Calibri"/>
                        </a:defRPr>
                      </a:pPr>
                      <a:r>
                        <a:t>Metric</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Tool Used</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How It Works</a:t>
                      </a:r>
                    </a:p>
                  </a:txBody>
                  <a:tcPr marL="127000" marR="127000" marT="76200" marB="76200">
                    <a:solidFill>
                      <a:srgbClr val="1E40AF"/>
                    </a:solidFill>
                  </a:tcPr>
                </a:tc>
              </a:tr>
              <a:tr h="1524">
                <a:tc>
                  <a:txBody>
                    <a:bodyPr/>
                    <a:lstStyle/>
                    <a:p>
                      <a:pPr>
                        <a:spcBef>
                          <a:spcPts val="300"/>
                        </a:spcBef>
                        <a:spcAft>
                          <a:spcPts val="300"/>
                        </a:spcAft>
                        <a:defRPr sz="1300" b="0">
                          <a:solidFill>
                            <a:srgbClr val="1E293B"/>
                          </a:solidFill>
                          <a:latin typeface="Calibri"/>
                        </a:defRPr>
                      </a:pPr>
                      <a:r>
                        <a:t>Accent Accuracy</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XVector classifier (speechbrain)</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Trained on VCTK/GLOBE, measures top-1 accent classification</a:t>
                      </a:r>
                    </a:p>
                  </a:txBody>
                  <a:tcPr marL="127000" marR="127000" marT="76200" marB="76200">
                    <a:solidFill>
                      <a:srgbClr val="FFFFFF"/>
                    </a:solidFill>
                  </a:tcPr>
                </a:tc>
              </a:tr>
              <a:tr h="1524">
                <a:tc>
                  <a:txBody>
                    <a:bodyPr/>
                    <a:lstStyle/>
                    <a:p>
                      <a:pPr>
                        <a:spcBef>
                          <a:spcPts val="300"/>
                        </a:spcBef>
                        <a:spcAft>
                          <a:spcPts val="300"/>
                        </a:spcAft>
                        <a:defRPr sz="1300" b="0">
                          <a:solidFill>
                            <a:srgbClr val="1E293B"/>
                          </a:solidFill>
                          <a:latin typeface="Calibri"/>
                        </a:defRPr>
                      </a:pPr>
                      <a:r>
                        <a:t>Emotion Preservation</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wav2vec2-large SER (audeering)</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Cosine similarity of V/A/D embeddings between source and output</a:t>
                      </a:r>
                    </a:p>
                  </a:txBody>
                  <a:tcPr marL="127000" marR="127000" marT="76200" marB="76200">
                    <a:solidFill>
                      <a:srgbClr val="F1F5F9"/>
                    </a:solidFill>
                  </a:tcPr>
                </a:tc>
              </a:tr>
              <a:tr h="1524">
                <a:tc>
                  <a:txBody>
                    <a:bodyPr/>
                    <a:lstStyle/>
                    <a:p>
                      <a:pPr>
                        <a:spcBef>
                          <a:spcPts val="300"/>
                        </a:spcBef>
                        <a:spcAft>
                          <a:spcPts val="300"/>
                        </a:spcAft>
                        <a:defRPr sz="1300" b="0">
                          <a:solidFill>
                            <a:srgbClr val="1E293B"/>
                          </a:solidFill>
                          <a:latin typeface="Calibri"/>
                        </a:defRPr>
                      </a:pPr>
                      <a:r>
                        <a:t>Word Error Rate</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Whisper large-v3 (OpenAI)</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Compares source transcript vs re-transcribed output</a:t>
                      </a:r>
                    </a:p>
                  </a:txBody>
                  <a:tcPr marL="127000" marR="127000" marT="76200" marB="76200">
                    <a:solidFill>
                      <a:srgbClr val="FFFFFF"/>
                    </a:solidFill>
                  </a:tcPr>
                </a:tc>
              </a:tr>
              <a:tr h="1524">
                <a:tc>
                  <a:txBody>
                    <a:bodyPr/>
                    <a:lstStyle/>
                    <a:p>
                      <a:pPr>
                        <a:spcBef>
                          <a:spcPts val="300"/>
                        </a:spcBef>
                        <a:spcAft>
                          <a:spcPts val="300"/>
                        </a:spcAft>
                        <a:defRPr sz="1300" b="0">
                          <a:solidFill>
                            <a:srgbClr val="1E293B"/>
                          </a:solidFill>
                          <a:latin typeface="Calibri"/>
                        </a:defRPr>
                      </a:pPr>
                      <a:r>
                        <a:t>UTMOS Score</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UTMOS-strong (sarulab)</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Automated Mean Opinion Score prediction (1–5 scale)</a:t>
                      </a:r>
                    </a:p>
                  </a:txBody>
                  <a:tcPr marL="127000" marR="127000" marT="76200" marB="76200">
                    <a:solidFill>
                      <a:srgbClr val="F1F5F9"/>
                    </a:solidFill>
                  </a:tcPr>
                </a:tc>
              </a:tr>
              <a:tr h="1524">
                <a:tc>
                  <a:txBody>
                    <a:bodyPr/>
                    <a:lstStyle/>
                    <a:p>
                      <a:pPr>
                        <a:spcBef>
                          <a:spcPts val="300"/>
                        </a:spcBef>
                        <a:spcAft>
                          <a:spcPts val="300"/>
                        </a:spcAft>
                        <a:defRPr sz="1300" b="0">
                          <a:solidFill>
                            <a:srgbClr val="1E293B"/>
                          </a:solidFill>
                          <a:latin typeface="Calibri"/>
                        </a:defRPr>
                      </a:pPr>
                      <a:r>
                        <a:t>Speaker Agnosticism</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ECAPA-TDNN (speechbrain)</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Speaker embedding cosine similarity must be &lt; 0.5</a:t>
                      </a:r>
                    </a:p>
                  </a:txBody>
                  <a:tcPr marL="127000" marR="127000" marT="76200" marB="76200">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Technical Stack &amp; Infrastructure</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What powers AccentShift</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417320"/>
            <a:ext cx="5120640" cy="3200400"/>
          </a:xfrm>
          <a:prstGeom prst="roundRect">
            <a:avLst>
              <a:gd name="adj" fmla="val 6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417320"/>
            <a:ext cx="512064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00200"/>
            <a:ext cx="4572000" cy="274320"/>
          </a:xfrm>
          <a:prstGeom prst="rect">
            <a:avLst/>
          </a:prstGeom>
          <a:noFill/>
        </p:spPr>
        <p:txBody>
          <a:bodyPr wrap="square">
            <a:spAutoFit/>
          </a:bodyPr>
          <a:lstStyle/>
          <a:p>
            <a:pPr algn="l">
              <a:spcAft>
                <a:spcPts val="0"/>
              </a:spcAft>
              <a:defRPr sz="1500" b="1">
                <a:solidFill>
                  <a:srgbClr val="2563EB"/>
                </a:solidFill>
                <a:latin typeface="Calibri"/>
              </a:defRPr>
            </a:pPr>
            <a:r>
              <a:t>Backend  (Python)</a:t>
            </a:r>
          </a:p>
        </p:txBody>
      </p:sp>
      <p:sp>
        <p:nvSpPr>
          <p:cNvPr id="9" name="TextBox 8"/>
          <p:cNvSpPr txBox="1"/>
          <p:nvPr/>
        </p:nvSpPr>
        <p:spPr>
          <a:xfrm>
            <a:off x="1097280" y="1965960"/>
            <a:ext cx="4572000" cy="2743200"/>
          </a:xfrm>
          <a:prstGeom prst="rect">
            <a:avLst/>
          </a:prstGeom>
          <a:noFill/>
        </p:spPr>
        <p:txBody>
          <a:bodyPr wrap="square">
            <a:spAutoFit/>
          </a:bodyPr>
          <a:lstStyle/>
          <a:p>
            <a:pPr algn="l">
              <a:spcAft>
                <a:spcPts val="0"/>
              </a:spcAft>
              <a:defRPr sz="1200" b="0">
                <a:solidFill>
                  <a:srgbClr val="475069"/>
                </a:solidFill>
                <a:latin typeface="Calibri"/>
              </a:defRPr>
            </a:pPr>
          </a:p>
          <a:p>
            <a:pPr algn="l">
              <a:spcBef>
                <a:spcPts val="0"/>
              </a:spcBef>
              <a:spcAft>
                <a:spcPts val="500"/>
              </a:spcAft>
              <a:defRPr sz="1200" b="0">
                <a:solidFill>
                  <a:srgbClr val="475069"/>
                </a:solidFill>
                <a:latin typeface="Calibri"/>
              </a:defRPr>
            </a:pPr>
            <a:r>
              <a:t>•  FastAPI + Uvicorn  (async API server)</a:t>
            </a:r>
          </a:p>
          <a:p>
            <a:pPr algn="l">
              <a:spcBef>
                <a:spcPts val="0"/>
              </a:spcBef>
              <a:spcAft>
                <a:spcPts val="500"/>
              </a:spcAft>
              <a:defRPr sz="1200" b="0">
                <a:solidFill>
                  <a:srgbClr val="475069"/>
                </a:solidFill>
                <a:latin typeface="Calibri"/>
              </a:defRPr>
            </a:pPr>
            <a:r>
              <a:t>•  PyTorch 2.1 + CUDA 12.1</a:t>
            </a:r>
          </a:p>
          <a:p>
            <a:pPr algn="l">
              <a:spcBef>
                <a:spcPts val="0"/>
              </a:spcBef>
              <a:spcAft>
                <a:spcPts val="500"/>
              </a:spcAft>
              <a:defRPr sz="1200" b="0">
                <a:solidFill>
                  <a:srgbClr val="475069"/>
                </a:solidFill>
                <a:latin typeface="Calibri"/>
              </a:defRPr>
            </a:pPr>
            <a:r>
              <a:t>•  Whisper large-v3  —  ASR + timestamps  (3.0 GB)</a:t>
            </a:r>
          </a:p>
          <a:p>
            <a:pPr algn="l">
              <a:spcBef>
                <a:spcPts val="0"/>
              </a:spcBef>
              <a:spcAft>
                <a:spcPts val="500"/>
              </a:spcAft>
              <a:defRPr sz="1200" b="0">
                <a:solidFill>
                  <a:srgbClr val="475069"/>
                </a:solidFill>
                <a:latin typeface="Calibri"/>
              </a:defRPr>
            </a:pPr>
            <a:r>
              <a:t>•  wav2vec2-large SER  —  Emotion V/A/D  (1.2 GB)</a:t>
            </a:r>
          </a:p>
          <a:p>
            <a:pPr algn="l">
              <a:spcBef>
                <a:spcPts val="0"/>
              </a:spcBef>
              <a:spcAft>
                <a:spcPts val="500"/>
              </a:spcAft>
              <a:defRPr sz="1200" b="0">
                <a:solidFill>
                  <a:srgbClr val="475069"/>
                </a:solidFill>
                <a:latin typeface="Calibri"/>
              </a:defRPr>
            </a:pPr>
            <a:r>
              <a:t>•  Seed-VC V2  —  AR + CFM converter  (2.5 GB)</a:t>
            </a:r>
          </a:p>
          <a:p>
            <a:pPr algn="l">
              <a:spcBef>
                <a:spcPts val="0"/>
              </a:spcBef>
              <a:spcAft>
                <a:spcPts val="500"/>
              </a:spcAft>
              <a:defRPr sz="1200" b="0">
                <a:solidFill>
                  <a:srgbClr val="475069"/>
                </a:solidFill>
                <a:latin typeface="Calibri"/>
              </a:defRPr>
            </a:pPr>
            <a:r>
              <a:t>•  Vevo-Voice / Amphion  —  Flow Matching  (CPU)</a:t>
            </a:r>
          </a:p>
          <a:p>
            <a:pPr algn="l">
              <a:spcBef>
                <a:spcPts val="0"/>
              </a:spcBef>
              <a:spcAft>
                <a:spcPts val="500"/>
              </a:spcAft>
              <a:defRPr sz="1200" b="0">
                <a:solidFill>
                  <a:srgbClr val="475069"/>
                </a:solidFill>
                <a:latin typeface="Calibri"/>
              </a:defRPr>
            </a:pPr>
            <a:r>
              <a:t>•  BigVGAN-v2  —  Universal vocoder  (0.5 GB)</a:t>
            </a:r>
          </a:p>
          <a:p>
            <a:pPr algn="l">
              <a:spcBef>
                <a:spcPts val="0"/>
              </a:spcBef>
              <a:spcAft>
                <a:spcPts val="500"/>
              </a:spcAft>
              <a:defRPr sz="1200" b="0">
                <a:solidFill>
                  <a:srgbClr val="475069"/>
                </a:solidFill>
                <a:latin typeface="Calibri"/>
              </a:defRPr>
            </a:pPr>
            <a:r>
              <a:t>•  pyworld  ·  Silero VAD  ·  librosa  ·  pyloudnorm</a:t>
            </a:r>
          </a:p>
        </p:txBody>
      </p:sp>
      <p:sp>
        <p:nvSpPr>
          <p:cNvPr id="10" name="Rounded Rectangle 9"/>
          <p:cNvSpPr/>
          <p:nvPr/>
        </p:nvSpPr>
        <p:spPr>
          <a:xfrm>
            <a:off x="6217920" y="1417320"/>
            <a:ext cx="4846320" cy="1554480"/>
          </a:xfrm>
          <a:prstGeom prst="roundRect">
            <a:avLst>
              <a:gd name="adj" fmla="val 6000"/>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417320"/>
            <a:ext cx="484632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600200"/>
            <a:ext cx="4297680" cy="274320"/>
          </a:xfrm>
          <a:prstGeom prst="rect">
            <a:avLst/>
          </a:prstGeom>
          <a:noFill/>
        </p:spPr>
        <p:txBody>
          <a:bodyPr wrap="square">
            <a:spAutoFit/>
          </a:bodyPr>
          <a:lstStyle/>
          <a:p>
            <a:pPr algn="l">
              <a:spcAft>
                <a:spcPts val="0"/>
              </a:spcAft>
              <a:defRPr sz="1500" b="1">
                <a:solidFill>
                  <a:srgbClr val="14B8A6"/>
                </a:solidFill>
                <a:latin typeface="Calibri"/>
              </a:defRPr>
            </a:pPr>
            <a:r>
              <a:t>Frontend  (TypeScript)</a:t>
            </a:r>
          </a:p>
        </p:txBody>
      </p:sp>
      <p:sp>
        <p:nvSpPr>
          <p:cNvPr id="13" name="TextBox 12"/>
          <p:cNvSpPr txBox="1"/>
          <p:nvPr/>
        </p:nvSpPr>
        <p:spPr>
          <a:xfrm>
            <a:off x="6492240" y="1920240"/>
            <a:ext cx="4297680" cy="1142999"/>
          </a:xfrm>
          <a:prstGeom prst="rect">
            <a:avLst/>
          </a:prstGeom>
          <a:noFill/>
        </p:spPr>
        <p:txBody>
          <a:bodyPr wrap="square">
            <a:spAutoFit/>
          </a:bodyPr>
          <a:lstStyle/>
          <a:p>
            <a:pPr algn="l">
              <a:spcAft>
                <a:spcPts val="0"/>
              </a:spcAft>
              <a:defRPr sz="1200" b="0">
                <a:solidFill>
                  <a:srgbClr val="475069"/>
                </a:solidFill>
                <a:latin typeface="Calibri"/>
              </a:defRPr>
            </a:pPr>
          </a:p>
          <a:p>
            <a:pPr algn="l">
              <a:spcBef>
                <a:spcPts val="0"/>
              </a:spcBef>
              <a:spcAft>
                <a:spcPts val="500"/>
              </a:spcAft>
              <a:defRPr sz="1200" b="0">
                <a:solidFill>
                  <a:srgbClr val="475069"/>
                </a:solidFill>
                <a:latin typeface="Calibri"/>
              </a:defRPr>
            </a:pPr>
            <a:r>
              <a:t>•  Next.js 14  (App Router)</a:t>
            </a:r>
          </a:p>
          <a:p>
            <a:pPr algn="l">
              <a:spcBef>
                <a:spcPts val="0"/>
              </a:spcBef>
              <a:spcAft>
                <a:spcPts val="500"/>
              </a:spcAft>
              <a:defRPr sz="1200" b="0">
                <a:solidFill>
                  <a:srgbClr val="475069"/>
                </a:solidFill>
                <a:latin typeface="Calibri"/>
              </a:defRPr>
            </a:pPr>
            <a:r>
              <a:t>•  WaveSurfer.js  (waveform visualisation)</a:t>
            </a:r>
          </a:p>
          <a:p>
            <a:pPr algn="l">
              <a:spcBef>
                <a:spcPts val="0"/>
              </a:spcBef>
              <a:spcAft>
                <a:spcPts val="500"/>
              </a:spcAft>
              <a:defRPr sz="1200" b="0">
                <a:solidFill>
                  <a:srgbClr val="475069"/>
                </a:solidFill>
                <a:latin typeface="Calibri"/>
              </a:defRPr>
            </a:pPr>
            <a:r>
              <a:t>•  Tailwind CSS + shadcn/ui</a:t>
            </a:r>
          </a:p>
        </p:txBody>
      </p:sp>
      <p:sp>
        <p:nvSpPr>
          <p:cNvPr id="14" name="Rounded Rectangle 13"/>
          <p:cNvSpPr/>
          <p:nvPr/>
        </p:nvSpPr>
        <p:spPr>
          <a:xfrm>
            <a:off x="6217920" y="3246120"/>
            <a:ext cx="4846320" cy="1371600"/>
          </a:xfrm>
          <a:prstGeom prst="roundRect">
            <a:avLst>
              <a:gd name="adj" fmla="val 6000"/>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246120"/>
            <a:ext cx="484632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3429000"/>
            <a:ext cx="4297680" cy="274320"/>
          </a:xfrm>
          <a:prstGeom prst="rect">
            <a:avLst/>
          </a:prstGeom>
          <a:noFill/>
        </p:spPr>
        <p:txBody>
          <a:bodyPr wrap="square">
            <a:spAutoFit/>
          </a:bodyPr>
          <a:lstStyle/>
          <a:p>
            <a:pPr algn="l">
              <a:spcAft>
                <a:spcPts val="0"/>
              </a:spcAft>
              <a:defRPr sz="1500" b="1">
                <a:solidFill>
                  <a:srgbClr val="F59E0B"/>
                </a:solidFill>
                <a:latin typeface="Calibri"/>
              </a:defRPr>
            </a:pPr>
            <a:r>
              <a:t>Infrastructure</a:t>
            </a:r>
          </a:p>
        </p:txBody>
      </p:sp>
      <p:sp>
        <p:nvSpPr>
          <p:cNvPr id="17" name="TextBox 16"/>
          <p:cNvSpPr txBox="1"/>
          <p:nvPr/>
        </p:nvSpPr>
        <p:spPr>
          <a:xfrm>
            <a:off x="6492240" y="3749039"/>
            <a:ext cx="4297680" cy="1142999"/>
          </a:xfrm>
          <a:prstGeom prst="rect">
            <a:avLst/>
          </a:prstGeom>
          <a:noFill/>
        </p:spPr>
        <p:txBody>
          <a:bodyPr wrap="square">
            <a:spAutoFit/>
          </a:bodyPr>
          <a:lstStyle/>
          <a:p>
            <a:pPr algn="l">
              <a:spcAft>
                <a:spcPts val="0"/>
              </a:spcAft>
              <a:defRPr sz="1200" b="0">
                <a:solidFill>
                  <a:srgbClr val="475069"/>
                </a:solidFill>
                <a:latin typeface="Calibri"/>
              </a:defRPr>
            </a:pPr>
          </a:p>
          <a:p>
            <a:pPr algn="l">
              <a:spcBef>
                <a:spcPts val="0"/>
              </a:spcBef>
              <a:spcAft>
                <a:spcPts val="500"/>
              </a:spcAft>
              <a:defRPr sz="1200" b="0">
                <a:solidFill>
                  <a:srgbClr val="475069"/>
                </a:solidFill>
                <a:latin typeface="Calibri"/>
              </a:defRPr>
            </a:pPr>
            <a:r>
              <a:t>•  Local dev:  RTX 4060  8GB  (7.2 GB used)</a:t>
            </a:r>
          </a:p>
          <a:p>
            <a:pPr algn="l">
              <a:spcBef>
                <a:spcPts val="0"/>
              </a:spcBef>
              <a:spcAft>
                <a:spcPts val="500"/>
              </a:spcAft>
              <a:defRPr sz="1200" b="0">
                <a:solidFill>
                  <a:srgbClr val="475069"/>
                </a:solidFill>
                <a:latin typeface="Calibri"/>
              </a:defRPr>
            </a:pPr>
            <a:r>
              <a:t>•  Cloud train:  L40S 48GB  ($1.57/hr)</a:t>
            </a:r>
          </a:p>
          <a:p>
            <a:pPr algn="l">
              <a:spcBef>
                <a:spcPts val="0"/>
              </a:spcBef>
              <a:spcAft>
                <a:spcPts val="500"/>
              </a:spcAft>
              <a:defRPr sz="1200" b="0">
                <a:solidFill>
                  <a:srgbClr val="475069"/>
                </a:solidFill>
                <a:latin typeface="Calibri"/>
              </a:defRPr>
            </a:pPr>
            <a:r>
              <a:t>•  Cloud infer:  A10G 24GB  (full ensemble)</a:t>
            </a:r>
          </a:p>
        </p:txBody>
      </p:sp>
      <p:sp>
        <p:nvSpPr>
          <p:cNvPr id="18" name="Rounded Rectangle 17"/>
          <p:cNvSpPr/>
          <p:nvPr/>
        </p:nvSpPr>
        <p:spPr>
          <a:xfrm>
            <a:off x="822960" y="4937760"/>
            <a:ext cx="10332720" cy="13716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029200"/>
            <a:ext cx="9784080" cy="274320"/>
          </a:xfrm>
          <a:prstGeom prst="rect">
            <a:avLst/>
          </a:prstGeom>
          <a:noFill/>
        </p:spPr>
        <p:txBody>
          <a:bodyPr wrap="square">
            <a:spAutoFit/>
          </a:bodyPr>
          <a:lstStyle/>
          <a:p>
            <a:pPr algn="l">
              <a:spcAft>
                <a:spcPts val="0"/>
              </a:spcAft>
              <a:defRPr sz="1200" b="1">
                <a:solidFill>
                  <a:srgbClr val="2563EB"/>
                </a:solidFill>
                <a:latin typeface="Calibri"/>
              </a:defRPr>
            </a:pPr>
            <a:r>
              <a:t>VRAM Budget on RTX 4060  (8 GB total)</a:t>
            </a:r>
          </a:p>
        </p:txBody>
      </p:sp>
      <p:sp>
        <p:nvSpPr>
          <p:cNvPr id="20" name="Rounded Rectangle 19"/>
          <p:cNvSpPr/>
          <p:nvPr/>
        </p:nvSpPr>
        <p:spPr>
          <a:xfrm>
            <a:off x="1097280" y="5394960"/>
            <a:ext cx="3669030" cy="365760"/>
          </a:xfrm>
          <a:prstGeom prst="roundRect">
            <a:avLst>
              <a:gd name="adj" fmla="val 6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Whisper 3.0GB</a:t>
            </a:r>
          </a:p>
        </p:txBody>
      </p:sp>
      <p:sp>
        <p:nvSpPr>
          <p:cNvPr id="21" name="Rounded Rectangle 20"/>
          <p:cNvSpPr/>
          <p:nvPr/>
        </p:nvSpPr>
        <p:spPr>
          <a:xfrm>
            <a:off x="4802886" y="5394960"/>
            <a:ext cx="3057525" cy="365760"/>
          </a:xfrm>
          <a:prstGeom prst="roundRect">
            <a:avLst>
              <a:gd name="adj" fmla="val 6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Seed-VC 2.5GB</a:t>
            </a:r>
          </a:p>
        </p:txBody>
      </p:sp>
      <p:sp>
        <p:nvSpPr>
          <p:cNvPr id="22" name="Rounded Rectangle 21"/>
          <p:cNvSpPr/>
          <p:nvPr/>
        </p:nvSpPr>
        <p:spPr>
          <a:xfrm>
            <a:off x="7896987" y="5394960"/>
            <a:ext cx="1467612" cy="365760"/>
          </a:xfrm>
          <a:prstGeom prst="roundRect">
            <a:avLst>
              <a:gd name="adj" fmla="val 6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SER 1.2GB</a:t>
            </a:r>
          </a:p>
        </p:txBody>
      </p:sp>
      <p:sp>
        <p:nvSpPr>
          <p:cNvPr id="23" name="Rounded Rectangle 22"/>
          <p:cNvSpPr/>
          <p:nvPr/>
        </p:nvSpPr>
        <p:spPr>
          <a:xfrm>
            <a:off x="9401175" y="5394960"/>
            <a:ext cx="611505" cy="365760"/>
          </a:xfrm>
          <a:prstGeom prst="roundRect">
            <a:avLst>
              <a:gd name="adj" fmla="val 6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BigVGAN 0.5GB</a:t>
            </a:r>
          </a:p>
        </p:txBody>
      </p:sp>
      <p:sp>
        <p:nvSpPr>
          <p:cNvPr id="24" name="Rounded Rectangle 23"/>
          <p:cNvSpPr/>
          <p:nvPr/>
        </p:nvSpPr>
        <p:spPr>
          <a:xfrm>
            <a:off x="10049256" y="5394960"/>
            <a:ext cx="978408" cy="365760"/>
          </a:xfrm>
          <a:prstGeom prst="roundRect">
            <a:avLst>
              <a:gd name="adj" fmla="val 6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6B7280"/>
                </a:solidFill>
                <a:latin typeface="Calibri"/>
              </a:defRPr>
            </a:pPr>
            <a:r>
              <a:t>Free 0.8GB</a:t>
            </a:r>
          </a:p>
        </p:txBody>
      </p:sp>
      <p:sp>
        <p:nvSpPr>
          <p:cNvPr id="25" name="TextBox 24"/>
          <p:cNvSpPr txBox="1"/>
          <p:nvPr/>
        </p:nvSpPr>
        <p:spPr>
          <a:xfrm>
            <a:off x="1097280" y="5852160"/>
            <a:ext cx="9784080" cy="182880"/>
          </a:xfrm>
          <a:prstGeom prst="rect">
            <a:avLst/>
          </a:prstGeom>
          <a:noFill/>
        </p:spPr>
        <p:txBody>
          <a:bodyPr wrap="square">
            <a:spAutoFit/>
          </a:bodyPr>
          <a:lstStyle/>
          <a:p>
            <a:pPr algn="l">
              <a:spcAft>
                <a:spcPts val="0"/>
              </a:spcAft>
              <a:defRPr sz="1000" b="0">
                <a:solidFill>
                  <a:srgbClr val="9CA3AF"/>
                </a:solidFill>
                <a:latin typeface="Calibri"/>
              </a:defRPr>
            </a:pPr>
            <a:r>
              <a:t>Vevo-Voice runs on CPU when GPU VRAM is constrained  ·  On A10G 24GB everything fits comfortably on GPU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Competitive Advantage</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How AccentShift compares to existing solutions</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10424160" cy="457200"/>
          </a:xfrm>
          <a:prstGeom prst="rect">
            <a:avLst/>
          </a:prstGeom>
          <a:noFill/>
        </p:spPr>
        <p:txBody>
          <a:bodyPr wrap="square">
            <a:spAutoFit/>
          </a:bodyPr>
          <a:lstStyle/>
          <a:p>
            <a:pPr algn="l">
              <a:spcAft>
                <a:spcPts val="0"/>
              </a:spcAft>
              <a:defRPr sz="1500" b="0">
                <a:solidFill>
                  <a:srgbClr val="1E293B"/>
                </a:solidFill>
                <a:latin typeface="Calibri"/>
              </a:defRPr>
            </a:pPr>
            <a:r>
              <a:t>There are several voice conversion systems available, but none combine all of AccentShift’s capabilities:</a:t>
            </a:r>
          </a:p>
        </p:txBody>
      </p:sp>
      <p:graphicFrame>
        <p:nvGraphicFramePr>
          <p:cNvPr id="7" name="Table 6"/>
          <p:cNvGraphicFramePr>
            <a:graphicFrameLocks noGrp="1"/>
          </p:cNvGraphicFramePr>
          <p:nvPr/>
        </p:nvGraphicFramePr>
        <p:xfrm>
          <a:off x="548640" y="2011680"/>
          <a:ext cx="10972800" cy="9144"/>
        </p:xfrm>
        <a:graphic>
          <a:graphicData uri="http://schemas.openxmlformats.org/drawingml/2006/table">
            <a:tbl>
              <a:tblPr firstRow="1" bandRow="1">
                <a:tableStyleId>{5C22544A-7EE6-4342-B048-85BDC9FD1C3A}</a:tableStyleId>
              </a:tblPr>
              <a:tblGrid>
                <a:gridCol w="2194560"/>
                <a:gridCol w="2011680"/>
                <a:gridCol w="2011680"/>
                <a:gridCol w="2011680"/>
                <a:gridCol w="2743200"/>
              </a:tblGrid>
              <a:tr h="1306">
                <a:tc>
                  <a:txBody>
                    <a:bodyPr/>
                    <a:lstStyle/>
                    <a:p>
                      <a:pPr>
                        <a:spcBef>
                          <a:spcPts val="300"/>
                        </a:spcBef>
                        <a:spcAft>
                          <a:spcPts val="300"/>
                        </a:spcAft>
                        <a:defRPr sz="1300" b="1">
                          <a:solidFill>
                            <a:srgbClr val="FFFFFF"/>
                          </a:solidFill>
                          <a:latin typeface="Calibri"/>
                        </a:defRPr>
                      </a:pPr>
                      <a:r>
                        <a:t>Capability</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AccentShift</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OpenVoice V2</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CosyVoice</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StyleStream (2026)</a:t>
                      </a:r>
                    </a:p>
                  </a:txBody>
                  <a:tcPr marL="127000" marR="127000" marT="76200" marB="76200">
                    <a:solidFill>
                      <a:srgbClr val="1E40AF"/>
                    </a:solidFill>
                  </a:tcPr>
                </a:tc>
              </a:tr>
              <a:tr h="1306">
                <a:tc>
                  <a:txBody>
                    <a:bodyPr/>
                    <a:lstStyle/>
                    <a:p>
                      <a:pPr>
                        <a:spcBef>
                          <a:spcPts val="300"/>
                        </a:spcBef>
                        <a:spcAft>
                          <a:spcPts val="300"/>
                        </a:spcAft>
                        <a:defRPr sz="1300" b="0">
                          <a:solidFill>
                            <a:srgbClr val="1E293B"/>
                          </a:solidFill>
                          <a:latin typeface="Calibri"/>
                        </a:defRPr>
                      </a:pPr>
                      <a:r>
                        <a:t>Accent conversion</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Dual engine</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Basic VC</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LLM-based</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SOTA joint model</a:t>
                      </a:r>
                    </a:p>
                  </a:txBody>
                  <a:tcPr marL="127000" marR="127000" marT="76200" marB="76200">
                    <a:solidFill>
                      <a:srgbClr val="FFFFFF"/>
                    </a:solidFill>
                  </a:tcPr>
                </a:tc>
              </a:tr>
              <a:tr h="1306">
                <a:tc>
                  <a:txBody>
                    <a:bodyPr/>
                    <a:lstStyle/>
                    <a:p>
                      <a:pPr>
                        <a:spcBef>
                          <a:spcPts val="300"/>
                        </a:spcBef>
                        <a:spcAft>
                          <a:spcPts val="300"/>
                        </a:spcAft>
                        <a:defRPr sz="1300" b="0">
                          <a:solidFill>
                            <a:srgbClr val="1E293B"/>
                          </a:solidFill>
                          <a:latin typeface="Calibri"/>
                        </a:defRPr>
                      </a:pPr>
                      <a:r>
                        <a:t>Emotion preservation</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3-layer guard</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Not addressed</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Instruct tokens only</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Joint model</a:t>
                      </a:r>
                    </a:p>
                  </a:txBody>
                  <a:tcPr marL="127000" marR="127000" marT="76200" marB="76200">
                    <a:solidFill>
                      <a:srgbClr val="F1F5F9"/>
                    </a:solidFill>
                  </a:tcPr>
                </a:tc>
              </a:tr>
              <a:tr h="1306">
                <a:tc>
                  <a:txBody>
                    <a:bodyPr/>
                    <a:lstStyle/>
                    <a:p>
                      <a:pPr>
                        <a:spcBef>
                          <a:spcPts val="300"/>
                        </a:spcBef>
                        <a:spcAft>
                          <a:spcPts val="300"/>
                        </a:spcAft>
                        <a:defRPr sz="1300" b="0">
                          <a:solidFill>
                            <a:srgbClr val="1E293B"/>
                          </a:solidFill>
                          <a:latin typeface="Calibri"/>
                        </a:defRPr>
                      </a:pPr>
                      <a:r>
                        <a:t>Zero-shot capable</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Yes (5s reference)</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Yes</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Yes</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No (weights unreleased)</a:t>
                      </a:r>
                    </a:p>
                  </a:txBody>
                  <a:tcPr marL="127000" marR="127000" marT="76200" marB="76200">
                    <a:solidFill>
                      <a:srgbClr val="FFFFFF"/>
                    </a:solidFill>
                  </a:tcPr>
                </a:tc>
              </a:tr>
              <a:tr h="1306">
                <a:tc>
                  <a:txBody>
                    <a:bodyPr/>
                    <a:lstStyle/>
                    <a:p>
                      <a:pPr>
                        <a:spcBef>
                          <a:spcPts val="300"/>
                        </a:spcBef>
                        <a:spcAft>
                          <a:spcPts val="300"/>
                        </a:spcAft>
                        <a:defRPr sz="1300" b="0">
                          <a:solidFill>
                            <a:srgbClr val="1E293B"/>
                          </a:solidFill>
                          <a:latin typeface="Calibri"/>
                        </a:defRPr>
                      </a:pPr>
                      <a:r>
                        <a:t>Edge deployment</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Yes (Architecture B)</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No</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Partial (ONNX)</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No</a:t>
                      </a:r>
                    </a:p>
                  </a:txBody>
                  <a:tcPr marL="127000" marR="127000" marT="76200" marB="76200">
                    <a:solidFill>
                      <a:srgbClr val="F1F5F9"/>
                    </a:solidFill>
                  </a:tcPr>
                </a:tc>
              </a:tr>
              <a:tr h="1306">
                <a:tc>
                  <a:txBody>
                    <a:bodyPr/>
                    <a:lstStyle/>
                    <a:p>
                      <a:pPr>
                        <a:spcBef>
                          <a:spcPts val="300"/>
                        </a:spcBef>
                        <a:spcAft>
                          <a:spcPts val="300"/>
                        </a:spcAft>
                        <a:defRPr sz="1300" b="0">
                          <a:solidFill>
                            <a:srgbClr val="1E293B"/>
                          </a:solidFill>
                          <a:latin typeface="Calibri"/>
                        </a:defRPr>
                      </a:pPr>
                      <a:r>
                        <a:t>Ensemble quality</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Dual model + scoring</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Single model</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Single model</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Single model</a:t>
                      </a:r>
                    </a:p>
                  </a:txBody>
                  <a:tcPr marL="127000" marR="127000" marT="76200" marB="76200">
                    <a:solidFill>
                      <a:srgbClr val="FFFFFF"/>
                    </a:solidFill>
                  </a:tcPr>
                </a:tc>
              </a:tr>
              <a:tr h="1308">
                <a:tc>
                  <a:txBody>
                    <a:bodyPr/>
                    <a:lstStyle/>
                    <a:p>
                      <a:pPr>
                        <a:spcBef>
                          <a:spcPts val="300"/>
                        </a:spcBef>
                        <a:spcAft>
                          <a:spcPts val="300"/>
                        </a:spcAft>
                        <a:defRPr sz="1300" b="0">
                          <a:solidFill>
                            <a:srgbClr val="1E293B"/>
                          </a:solidFill>
                          <a:latin typeface="Calibri"/>
                        </a:defRPr>
                      </a:pPr>
                      <a:r>
                        <a:t>Open source</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Fully open</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Open</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Open</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Paper only, no weights</a:t>
                      </a:r>
                    </a:p>
                  </a:txBody>
                  <a:tcPr marL="127000" marR="127000" marT="76200" marB="76200">
                    <a:solidFill>
                      <a:srgbClr val="F1F5F9"/>
                    </a:solidFill>
                  </a:tcPr>
                </a:tc>
              </a:tr>
            </a:tbl>
          </a:graphicData>
        </a:graphic>
      </p:graphicFrame>
      <p:sp>
        <p:nvSpPr>
          <p:cNvPr id="8" name="Rounded Rectangle 7"/>
          <p:cNvSpPr/>
          <p:nvPr/>
        </p:nvSpPr>
        <p:spPr>
          <a:xfrm>
            <a:off x="822960" y="5212080"/>
            <a:ext cx="10424160" cy="1097280"/>
          </a:xfrm>
          <a:prstGeom prst="roundRect">
            <a:avLst>
              <a:gd name="adj" fmla="val 6000"/>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5303520"/>
            <a:ext cx="9784080" cy="274320"/>
          </a:xfrm>
          <a:prstGeom prst="rect">
            <a:avLst/>
          </a:prstGeom>
          <a:noFill/>
        </p:spPr>
        <p:txBody>
          <a:bodyPr wrap="square">
            <a:spAutoFit/>
          </a:bodyPr>
          <a:lstStyle/>
          <a:p>
            <a:pPr algn="l">
              <a:spcAft>
                <a:spcPts val="0"/>
              </a:spcAft>
              <a:defRPr sz="1100" b="1">
                <a:solidFill>
                  <a:srgbClr val="2563EB"/>
                </a:solidFill>
                <a:latin typeface="Calibri"/>
              </a:defRPr>
            </a:pPr>
            <a:r>
              <a:t>OUR UNIQUE ADVANTAGE</a:t>
            </a:r>
          </a:p>
        </p:txBody>
      </p:sp>
      <p:sp>
        <p:nvSpPr>
          <p:cNvPr id="10" name="TextBox 9"/>
          <p:cNvSpPr txBox="1"/>
          <p:nvPr/>
        </p:nvSpPr>
        <p:spPr>
          <a:xfrm>
            <a:off x="1188720" y="5623560"/>
            <a:ext cx="9784080" cy="548640"/>
          </a:xfrm>
          <a:prstGeom prst="rect">
            <a:avLst/>
          </a:prstGeom>
          <a:noFill/>
        </p:spPr>
        <p:txBody>
          <a:bodyPr wrap="square">
            <a:spAutoFit/>
          </a:bodyPr>
          <a:lstStyle/>
          <a:p>
            <a:pPr algn="l">
              <a:spcAft>
                <a:spcPts val="0"/>
              </a:spcAft>
              <a:defRPr sz="1400" b="0">
                <a:solidFill>
                  <a:srgbClr val="1E293B"/>
                </a:solidFill>
                <a:latin typeface="Calibri"/>
              </a:defRPr>
            </a:pPr>
            <a:r>
              <a:t>AccentShift is the only system that combines a dual-engine ensemble with explicit 3-layer emotion preservation, a complete web application, and an edge deployment variant. StyleStream is theoretically superior but has no released weights — we are the best available, working solution.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Edge Deployment  —  Architecture B</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CPU-only variant for real-time conversion</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10424160" cy="731520"/>
          </a:xfrm>
          <a:prstGeom prst="rect">
            <a:avLst/>
          </a:prstGeom>
          <a:noFill/>
        </p:spPr>
        <p:txBody>
          <a:bodyPr wrap="square">
            <a:spAutoFit/>
          </a:bodyPr>
          <a:lstStyle/>
          <a:p>
            <a:pPr algn="l">
              <a:spcAft>
                <a:spcPts val="0"/>
              </a:spcAft>
              <a:defRPr sz="1500" b="0">
                <a:solidFill>
                  <a:srgbClr val="1E293B"/>
                </a:solidFill>
                <a:latin typeface="Calibri"/>
              </a:defRPr>
            </a:pPr>
            <a:r>
              <a:t>We designed a lightweight variant of the pipeline that runs on CPU-only devices like a Raspberry Pi, Jetson Nano, or a laptop without a discrete GPU. Everything is quantised to INT8 ONNX, achieving 10x faster processing at the cost of slightly lower quality.</a:t>
            </a:r>
          </a:p>
        </p:txBody>
      </p:sp>
      <p:graphicFrame>
        <p:nvGraphicFramePr>
          <p:cNvPr id="7" name="Table 6"/>
          <p:cNvGraphicFramePr>
            <a:graphicFrameLocks noGrp="1"/>
          </p:cNvGraphicFramePr>
          <p:nvPr/>
        </p:nvGraphicFramePr>
        <p:xfrm>
          <a:off x="822960" y="2377440"/>
          <a:ext cx="10424160" cy="9144"/>
        </p:xfrm>
        <a:graphic>
          <a:graphicData uri="http://schemas.openxmlformats.org/drawingml/2006/table">
            <a:tbl>
              <a:tblPr firstRow="1" bandRow="1">
                <a:tableStyleId>{5C22544A-7EE6-4342-B048-85BDC9FD1C3A}</a:tableStyleId>
              </a:tblPr>
              <a:tblGrid>
                <a:gridCol w="2011680"/>
                <a:gridCol w="2743200"/>
                <a:gridCol w="2926080"/>
                <a:gridCol w="2743200"/>
              </a:tblGrid>
              <a:tr h="1306">
                <a:tc>
                  <a:txBody>
                    <a:bodyPr/>
                    <a:lstStyle/>
                    <a:p>
                      <a:pPr>
                        <a:spcBef>
                          <a:spcPts val="300"/>
                        </a:spcBef>
                        <a:spcAft>
                          <a:spcPts val="300"/>
                        </a:spcAft>
                        <a:defRPr sz="1300" b="1">
                          <a:solidFill>
                            <a:srgbClr val="FFFFFF"/>
                          </a:solidFill>
                          <a:latin typeface="Calibri"/>
                        </a:defRPr>
                      </a:pPr>
                      <a:r>
                        <a:t>Component</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Cloud (Architecture A)</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Edge (Architecture B)</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Trade-off</a:t>
                      </a:r>
                    </a:p>
                  </a:txBody>
                  <a:tcPr marL="127000" marR="127000" marT="76200" marB="76200">
                    <a:solidFill>
                      <a:srgbClr val="1E40AF"/>
                    </a:solidFill>
                  </a:tcPr>
                </a:tc>
              </a:tr>
              <a:tr h="1306">
                <a:tc>
                  <a:txBody>
                    <a:bodyPr/>
                    <a:lstStyle/>
                    <a:p>
                      <a:pPr>
                        <a:spcBef>
                          <a:spcPts val="300"/>
                        </a:spcBef>
                        <a:spcAft>
                          <a:spcPts val="300"/>
                        </a:spcAft>
                        <a:defRPr sz="1300" b="0">
                          <a:solidFill>
                            <a:srgbClr val="1E293B"/>
                          </a:solidFill>
                          <a:latin typeface="Calibri"/>
                        </a:defRPr>
                      </a:pPr>
                      <a:r>
                        <a:t>ASR Model</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Whisper large-v3 (1.5B)</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Whisper base.en (39M, ONNX)</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~4% WER increase</a:t>
                      </a:r>
                    </a:p>
                  </a:txBody>
                  <a:tcPr marL="127000" marR="127000" marT="76200" marB="76200">
                    <a:solidFill>
                      <a:srgbClr val="FFFFFF"/>
                    </a:solidFill>
                  </a:tcPr>
                </a:tc>
              </a:tr>
              <a:tr h="1306">
                <a:tc>
                  <a:txBody>
                    <a:bodyPr/>
                    <a:lstStyle/>
                    <a:p>
                      <a:pPr>
                        <a:spcBef>
                          <a:spcPts val="300"/>
                        </a:spcBef>
                        <a:spcAft>
                          <a:spcPts val="300"/>
                        </a:spcAft>
                        <a:defRPr sz="1300" b="0">
                          <a:solidFill>
                            <a:srgbClr val="1E293B"/>
                          </a:solidFill>
                          <a:latin typeface="Calibri"/>
                        </a:defRPr>
                      </a:pPr>
                      <a:r>
                        <a:t>Voice Conversion</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Seed-VC + Vevo ensemble</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CosyVoice2-0.5B (ONNX INT8)</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Single pass, no ensemble</a:t>
                      </a:r>
                    </a:p>
                  </a:txBody>
                  <a:tcPr marL="127000" marR="127000" marT="76200" marB="76200">
                    <a:solidFill>
                      <a:srgbClr val="F1F5F9"/>
                    </a:solidFill>
                  </a:tcPr>
                </a:tc>
              </a:tr>
              <a:tr h="1306">
                <a:tc>
                  <a:txBody>
                    <a:bodyPr/>
                    <a:lstStyle/>
                    <a:p>
                      <a:pPr>
                        <a:spcBef>
                          <a:spcPts val="300"/>
                        </a:spcBef>
                        <a:spcAft>
                          <a:spcPts val="300"/>
                        </a:spcAft>
                        <a:defRPr sz="1300" b="0">
                          <a:solidFill>
                            <a:srgbClr val="1E293B"/>
                          </a:solidFill>
                          <a:latin typeface="Calibri"/>
                        </a:defRPr>
                      </a:pPr>
                      <a:r>
                        <a:t>Prosody Correction</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F0 + Energy + Duration</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F0 scaling only</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Slightly less fidelity</a:t>
                      </a:r>
                    </a:p>
                  </a:txBody>
                  <a:tcPr marL="127000" marR="127000" marT="76200" marB="76200">
                    <a:solidFill>
                      <a:srgbClr val="FFFFFF"/>
                    </a:solidFill>
                  </a:tcPr>
                </a:tc>
              </a:tr>
              <a:tr h="1306">
                <a:tc>
                  <a:txBody>
                    <a:bodyPr/>
                    <a:lstStyle/>
                    <a:p>
                      <a:pPr>
                        <a:spcBef>
                          <a:spcPts val="300"/>
                        </a:spcBef>
                        <a:spcAft>
                          <a:spcPts val="300"/>
                        </a:spcAft>
                        <a:defRPr sz="1300" b="0">
                          <a:solidFill>
                            <a:srgbClr val="1E293B"/>
                          </a:solidFill>
                          <a:latin typeface="Calibri"/>
                        </a:defRPr>
                      </a:pPr>
                      <a:r>
                        <a:t>Vocoder</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BigVGAN-v2 (GPU)</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HiFi-GAN V1 (ONNX)</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Minor artifact increase</a:t>
                      </a:r>
                    </a:p>
                  </a:txBody>
                  <a:tcPr marL="127000" marR="127000" marT="76200" marB="76200">
                    <a:solidFill>
                      <a:srgbClr val="F1F5F9"/>
                    </a:solidFill>
                  </a:tcPr>
                </a:tc>
              </a:tr>
              <a:tr h="1306">
                <a:tc>
                  <a:txBody>
                    <a:bodyPr/>
                    <a:lstStyle/>
                    <a:p>
                      <a:pPr>
                        <a:spcBef>
                          <a:spcPts val="300"/>
                        </a:spcBef>
                        <a:spcAft>
                          <a:spcPts val="300"/>
                        </a:spcAft>
                        <a:defRPr sz="1300" b="0">
                          <a:solidFill>
                            <a:srgbClr val="1E293B"/>
                          </a:solidFill>
                          <a:latin typeface="Calibri"/>
                        </a:defRPr>
                      </a:pPr>
                      <a:r>
                        <a:t>Latency</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2–4 seconds per utterance</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200–400ms per chunk</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10x faster</a:t>
                      </a:r>
                    </a:p>
                  </a:txBody>
                  <a:tcPr marL="127000" marR="127000" marT="76200" marB="76200">
                    <a:solidFill>
                      <a:srgbClr val="FFFFFF"/>
                    </a:solidFill>
                  </a:tcPr>
                </a:tc>
              </a:tr>
              <a:tr h="1308">
                <a:tc>
                  <a:txBody>
                    <a:bodyPr/>
                    <a:lstStyle/>
                    <a:p>
                      <a:pPr>
                        <a:spcBef>
                          <a:spcPts val="300"/>
                        </a:spcBef>
                        <a:spcAft>
                          <a:spcPts val="300"/>
                        </a:spcAft>
                        <a:defRPr sz="1300" b="0">
                          <a:solidFill>
                            <a:srgbClr val="1E293B"/>
                          </a:solidFill>
                          <a:latin typeface="Calibri"/>
                        </a:defRPr>
                      </a:pPr>
                      <a:r>
                        <a:t>Memory</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6–8 GB GPU VRAM</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≤4 GB RAM (CPU-only)</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No GPU required</a:t>
                      </a:r>
                    </a:p>
                  </a:txBody>
                  <a:tcPr marL="127000" marR="127000" marT="76200" marB="76200">
                    <a:solidFill>
                      <a:srgbClr val="F1F5F9"/>
                    </a:solidFill>
                  </a:tcPr>
                </a:tc>
              </a:tr>
            </a:tbl>
          </a:graphicData>
        </a:graphic>
      </p:graphicFrame>
      <p:sp>
        <p:nvSpPr>
          <p:cNvPr id="8" name="Rounded Rectangle 7"/>
          <p:cNvSpPr/>
          <p:nvPr/>
        </p:nvSpPr>
        <p:spPr>
          <a:xfrm>
            <a:off x="2286000" y="5303520"/>
            <a:ext cx="6675120" cy="822960"/>
          </a:xfrm>
          <a:prstGeom prst="roundRect">
            <a:avLst>
              <a:gd name="adj" fmla="val 6000"/>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0" y="5394960"/>
            <a:ext cx="6126480" cy="228600"/>
          </a:xfrm>
          <a:prstGeom prst="rect">
            <a:avLst/>
          </a:prstGeom>
          <a:noFill/>
        </p:spPr>
        <p:txBody>
          <a:bodyPr wrap="square">
            <a:spAutoFit/>
          </a:bodyPr>
          <a:lstStyle/>
          <a:p>
            <a:pPr algn="ctr">
              <a:spcAft>
                <a:spcPts val="0"/>
              </a:spcAft>
              <a:defRPr sz="1800" b="1">
                <a:solidFill>
                  <a:srgbClr val="10B981"/>
                </a:solidFill>
                <a:latin typeface="Calibri"/>
              </a:defRPr>
            </a:pPr>
            <a:r>
              <a:t>10x faster  ·  CPU-only  ·  Real-time capable</a:t>
            </a:r>
          </a:p>
        </p:txBody>
      </p:sp>
      <p:sp>
        <p:nvSpPr>
          <p:cNvPr id="10" name="TextBox 9"/>
          <p:cNvSpPr txBox="1"/>
          <p:nvPr/>
        </p:nvSpPr>
        <p:spPr>
          <a:xfrm>
            <a:off x="2560320" y="5669280"/>
            <a:ext cx="6126480" cy="274320"/>
          </a:xfrm>
          <a:prstGeom prst="rect">
            <a:avLst/>
          </a:prstGeom>
          <a:noFill/>
        </p:spPr>
        <p:txBody>
          <a:bodyPr wrap="square">
            <a:spAutoFit/>
          </a:bodyPr>
          <a:lstStyle/>
          <a:p>
            <a:pPr algn="ctr">
              <a:spcAft>
                <a:spcPts val="0"/>
              </a:spcAft>
              <a:defRPr sz="1300" b="0">
                <a:solidFill>
                  <a:srgbClr val="475069"/>
                </a:solidFill>
                <a:latin typeface="Calibri"/>
              </a:defRPr>
            </a:pPr>
            <a:r>
              <a:t>Enables live accent conversion for phone calls and video conferencing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Research Foundation</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Key papers and models that AccentShift builds upon</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10424160" cy="457200"/>
          </a:xfrm>
          <a:prstGeom prst="rect">
            <a:avLst/>
          </a:prstGeom>
          <a:noFill/>
        </p:spPr>
        <p:txBody>
          <a:bodyPr wrap="square">
            <a:spAutoFit/>
          </a:bodyPr>
          <a:lstStyle/>
          <a:p>
            <a:pPr algn="l">
              <a:spcAft>
                <a:spcPts val="0"/>
              </a:spcAft>
              <a:defRPr sz="1500" b="0">
                <a:solidFill>
                  <a:srgbClr val="1E293B"/>
                </a:solidFill>
                <a:latin typeface="Calibri"/>
              </a:defRPr>
            </a:pPr>
            <a:r>
              <a:t>AccentShift stands on the shoulders of recent breakthroughs in speech AI. Here are the key papers and models we integrate:</a:t>
            </a:r>
          </a:p>
        </p:txBody>
      </p:sp>
      <p:graphicFrame>
        <p:nvGraphicFramePr>
          <p:cNvPr id="7" name="Table 6"/>
          <p:cNvGraphicFramePr>
            <a:graphicFrameLocks noGrp="1"/>
          </p:cNvGraphicFramePr>
          <p:nvPr/>
        </p:nvGraphicFramePr>
        <p:xfrm>
          <a:off x="822960" y="2011680"/>
          <a:ext cx="10424160" cy="9144"/>
        </p:xfrm>
        <a:graphic>
          <a:graphicData uri="http://schemas.openxmlformats.org/drawingml/2006/table">
            <a:tbl>
              <a:tblPr firstRow="1" bandRow="1">
                <a:tableStyleId>{5C22544A-7EE6-4342-B048-85BDC9FD1C3A}</a:tableStyleId>
              </a:tblPr>
              <a:tblGrid>
                <a:gridCol w="3200400"/>
                <a:gridCol w="914400"/>
                <a:gridCol w="6309360"/>
              </a:tblGrid>
              <a:tr h="1143">
                <a:tc>
                  <a:txBody>
                    <a:bodyPr/>
                    <a:lstStyle/>
                    <a:p>
                      <a:pPr>
                        <a:spcBef>
                          <a:spcPts val="300"/>
                        </a:spcBef>
                        <a:spcAft>
                          <a:spcPts val="300"/>
                        </a:spcAft>
                        <a:defRPr sz="1300" b="1">
                          <a:solidFill>
                            <a:srgbClr val="FFFFFF"/>
                          </a:solidFill>
                          <a:latin typeface="Calibri"/>
                        </a:defRPr>
                      </a:pPr>
                      <a:r>
                        <a:t>Paper / Model</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Year</a:t>
                      </a:r>
                    </a:p>
                  </a:txBody>
                  <a:tcPr marL="127000" marR="127000" marT="76200" marB="76200">
                    <a:solidFill>
                      <a:srgbClr val="1E40AF"/>
                    </a:solidFill>
                  </a:tcPr>
                </a:tc>
                <a:tc>
                  <a:txBody>
                    <a:bodyPr/>
                    <a:lstStyle/>
                    <a:p>
                      <a:pPr>
                        <a:spcBef>
                          <a:spcPts val="300"/>
                        </a:spcBef>
                        <a:spcAft>
                          <a:spcPts val="300"/>
                        </a:spcAft>
                        <a:defRPr sz="1300" b="1">
                          <a:solidFill>
                            <a:srgbClr val="FFFFFF"/>
                          </a:solidFill>
                          <a:latin typeface="Calibri"/>
                        </a:defRPr>
                      </a:pPr>
                      <a:r>
                        <a:t>Contribution to AccentShift</a:t>
                      </a:r>
                    </a:p>
                  </a:txBody>
                  <a:tcPr marL="127000" marR="127000" marT="76200" marB="76200">
                    <a:solidFill>
                      <a:srgbClr val="1E40AF"/>
                    </a:solidFill>
                  </a:tcPr>
                </a:tc>
              </a:tr>
              <a:tr h="1143">
                <a:tc>
                  <a:txBody>
                    <a:bodyPr/>
                    <a:lstStyle/>
                    <a:p>
                      <a:pPr>
                        <a:spcBef>
                          <a:spcPts val="300"/>
                        </a:spcBef>
                        <a:spcAft>
                          <a:spcPts val="300"/>
                        </a:spcAft>
                        <a:defRPr sz="1300" b="0">
                          <a:solidFill>
                            <a:srgbClr val="1E293B"/>
                          </a:solidFill>
                          <a:latin typeface="Calibri"/>
                        </a:defRPr>
                      </a:pPr>
                      <a:r>
                        <a:t>Seed-VC V2 (arxiv 2411.09943)</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2024</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Primary converter — DiT + CFM architecture with style conversion mode</a:t>
                      </a:r>
                    </a:p>
                  </a:txBody>
                  <a:tcPr marL="127000" marR="127000" marT="76200" marB="76200">
                    <a:solidFill>
                      <a:srgbClr val="FFFFFF"/>
                    </a:solidFill>
                  </a:tcPr>
                </a:tc>
              </a:tr>
              <a:tr h="1143">
                <a:tc>
                  <a:txBody>
                    <a:bodyPr/>
                    <a:lstStyle/>
                    <a:p>
                      <a:pPr>
                        <a:spcBef>
                          <a:spcPts val="300"/>
                        </a:spcBef>
                        <a:spcAft>
                          <a:spcPts val="300"/>
                        </a:spcAft>
                        <a:defRPr sz="1300" b="0">
                          <a:solidFill>
                            <a:srgbClr val="1E293B"/>
                          </a:solidFill>
                          <a:latin typeface="Calibri"/>
                        </a:defRPr>
                      </a:pPr>
                      <a:r>
                        <a:t>Vevo (ICLR 2025, Meta/CMU)</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2025</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Ensemble leg — VQ-VAE disentanglement, trained on 101k hours</a:t>
                      </a:r>
                    </a:p>
                  </a:txBody>
                  <a:tcPr marL="127000" marR="127000" marT="76200" marB="76200">
                    <a:solidFill>
                      <a:srgbClr val="F1F5F9"/>
                    </a:solidFill>
                  </a:tcPr>
                </a:tc>
              </a:tr>
              <a:tr h="1143">
                <a:tc>
                  <a:txBody>
                    <a:bodyPr/>
                    <a:lstStyle/>
                    <a:p>
                      <a:pPr>
                        <a:spcBef>
                          <a:spcPts val="300"/>
                        </a:spcBef>
                        <a:spcAft>
                          <a:spcPts val="300"/>
                        </a:spcAft>
                        <a:defRPr sz="1300" b="0">
                          <a:solidFill>
                            <a:srgbClr val="1E293B"/>
                          </a:solidFill>
                          <a:latin typeface="Calibri"/>
                        </a:defRPr>
                      </a:pPr>
                      <a:r>
                        <a:t>StyleStream (arxiv 2602.20113)</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2026</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SOTA reference — joint accent+emotion+timbre conversion (future integration)</a:t>
                      </a:r>
                    </a:p>
                  </a:txBody>
                  <a:tcPr marL="127000" marR="127000" marT="76200" marB="76200">
                    <a:solidFill>
                      <a:srgbClr val="FFFFFF"/>
                    </a:solidFill>
                  </a:tcPr>
                </a:tc>
              </a:tr>
              <a:tr h="1143">
                <a:tc>
                  <a:txBody>
                    <a:bodyPr/>
                    <a:lstStyle/>
                    <a:p>
                      <a:pPr>
                        <a:spcBef>
                          <a:spcPts val="300"/>
                        </a:spcBef>
                        <a:spcAft>
                          <a:spcPts val="300"/>
                        </a:spcAft>
                        <a:defRPr sz="1300" b="0">
                          <a:solidFill>
                            <a:srgbClr val="1E293B"/>
                          </a:solidFill>
                          <a:latin typeface="Calibri"/>
                        </a:defRPr>
                      </a:pPr>
                      <a:r>
                        <a:t>Whisper large-v3 (OpenAI)</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2023</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ASR backbone — transcript + word timestamps for WER and prosody</a:t>
                      </a:r>
                    </a:p>
                  </a:txBody>
                  <a:tcPr marL="127000" marR="127000" marT="76200" marB="76200">
                    <a:solidFill>
                      <a:srgbClr val="F1F5F9"/>
                    </a:solidFill>
                  </a:tcPr>
                </a:tc>
              </a:tr>
              <a:tr h="1143">
                <a:tc>
                  <a:txBody>
                    <a:bodyPr/>
                    <a:lstStyle/>
                    <a:p>
                      <a:pPr>
                        <a:spcBef>
                          <a:spcPts val="300"/>
                        </a:spcBef>
                        <a:spcAft>
                          <a:spcPts val="300"/>
                        </a:spcAft>
                        <a:defRPr sz="1300" b="0">
                          <a:solidFill>
                            <a:srgbClr val="1E293B"/>
                          </a:solidFill>
                          <a:latin typeface="Calibri"/>
                        </a:defRPr>
                      </a:pPr>
                      <a:r>
                        <a:t>wav2vec2-large SER (audeering)</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2022</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Emotion extraction — dimensional V/A/D on MSP-Podcast</a:t>
                      </a:r>
                    </a:p>
                  </a:txBody>
                  <a:tcPr marL="127000" marR="127000" marT="76200" marB="76200">
                    <a:solidFill>
                      <a:srgbClr val="FFFFFF"/>
                    </a:solidFill>
                  </a:tcPr>
                </a:tc>
              </a:tr>
              <a:tr h="1143">
                <a:tc>
                  <a:txBody>
                    <a:bodyPr/>
                    <a:lstStyle/>
                    <a:p>
                      <a:pPr>
                        <a:spcBef>
                          <a:spcPts val="300"/>
                        </a:spcBef>
                        <a:spcAft>
                          <a:spcPts val="300"/>
                        </a:spcAft>
                        <a:defRPr sz="1300" b="0">
                          <a:solidFill>
                            <a:srgbClr val="1E293B"/>
                          </a:solidFill>
                          <a:latin typeface="Calibri"/>
                        </a:defRPr>
                      </a:pPr>
                      <a:r>
                        <a:t>L2-ARCTIC Corpus (CMU)</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2018</a:t>
                      </a:r>
                    </a:p>
                  </a:txBody>
                  <a:tcPr marL="127000" marR="127000" marT="76200" marB="76200">
                    <a:solidFill>
                      <a:srgbClr val="F1F5F9"/>
                    </a:solidFill>
                  </a:tcPr>
                </a:tc>
                <a:tc>
                  <a:txBody>
                    <a:bodyPr/>
                    <a:lstStyle/>
                    <a:p>
                      <a:pPr>
                        <a:spcBef>
                          <a:spcPts val="300"/>
                        </a:spcBef>
                        <a:spcAft>
                          <a:spcPts val="300"/>
                        </a:spcAft>
                        <a:defRPr sz="1300" b="0">
                          <a:solidFill>
                            <a:srgbClr val="1E293B"/>
                          </a:solidFill>
                          <a:latin typeface="Calibri"/>
                        </a:defRPr>
                      </a:pPr>
                      <a:r>
                        <a:t>Fine-tuning data — parallel non-native English, 24h, 24 speakers</a:t>
                      </a:r>
                    </a:p>
                  </a:txBody>
                  <a:tcPr marL="127000" marR="127000" marT="76200" marB="76200">
                    <a:solidFill>
                      <a:srgbClr val="F1F5F9"/>
                    </a:solidFill>
                  </a:tcPr>
                </a:tc>
              </a:tr>
              <a:tr h="1143">
                <a:tc>
                  <a:txBody>
                    <a:bodyPr/>
                    <a:lstStyle/>
                    <a:p>
                      <a:pPr>
                        <a:spcBef>
                          <a:spcPts val="300"/>
                        </a:spcBef>
                        <a:spcAft>
                          <a:spcPts val="300"/>
                        </a:spcAft>
                        <a:defRPr sz="1300" b="0">
                          <a:solidFill>
                            <a:srgbClr val="1E293B"/>
                          </a:solidFill>
                          <a:latin typeface="Calibri"/>
                        </a:defRPr>
                      </a:pPr>
                      <a:r>
                        <a:t>BigVGAN-v2 (NVIDIA)</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2024</a:t>
                      </a:r>
                    </a:p>
                  </a:txBody>
                  <a:tcPr marL="127000" marR="127000" marT="76200" marB="76200">
                    <a:solidFill>
                      <a:srgbClr val="FFFFFF"/>
                    </a:solidFill>
                  </a:tcPr>
                </a:tc>
                <a:tc>
                  <a:txBody>
                    <a:bodyPr/>
                    <a:lstStyle/>
                    <a:p>
                      <a:pPr>
                        <a:spcBef>
                          <a:spcPts val="300"/>
                        </a:spcBef>
                        <a:spcAft>
                          <a:spcPts val="300"/>
                        </a:spcAft>
                        <a:defRPr sz="1300" b="0">
                          <a:solidFill>
                            <a:srgbClr val="1E293B"/>
                          </a:solidFill>
                          <a:latin typeface="Calibri"/>
                        </a:defRPr>
                      </a:pPr>
                      <a:r>
                        <a:t>Vocoder — universal, fewer artifacts on non-native speech patterns</a:t>
                      </a:r>
                    </a:p>
                  </a:txBody>
                  <a:tcPr marL="127000" marR="127000" marT="76200" marB="76200">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502920"/>
            <a:ext cx="635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10058400" cy="502920"/>
          </a:xfrm>
          <a:prstGeom prst="rect">
            <a:avLst/>
          </a:prstGeom>
          <a:noFill/>
        </p:spPr>
        <p:txBody>
          <a:bodyPr wrap="square">
            <a:spAutoFit/>
          </a:bodyPr>
          <a:lstStyle/>
          <a:p>
            <a:pPr algn="l">
              <a:spcAft>
                <a:spcPts val="0"/>
              </a:spcAft>
              <a:defRPr sz="2800" b="1">
                <a:solidFill>
                  <a:srgbClr val="111827"/>
                </a:solidFill>
                <a:latin typeface="Calibri"/>
              </a:defRPr>
            </a:pPr>
            <a:r>
              <a:t>Roadmap &amp; Vision</a:t>
            </a:r>
          </a:p>
        </p:txBody>
      </p:sp>
      <p:sp>
        <p:nvSpPr>
          <p:cNvPr id="4" name="TextBox 3"/>
          <p:cNvSpPr txBox="1"/>
          <p:nvPr/>
        </p:nvSpPr>
        <p:spPr>
          <a:xfrm>
            <a:off x="1005840" y="886968"/>
            <a:ext cx="10058400" cy="320040"/>
          </a:xfrm>
          <a:prstGeom prst="rect">
            <a:avLst/>
          </a:prstGeom>
          <a:noFill/>
        </p:spPr>
        <p:txBody>
          <a:bodyPr wrap="square">
            <a:spAutoFit/>
          </a:bodyPr>
          <a:lstStyle/>
          <a:p>
            <a:pPr algn="l">
              <a:spcAft>
                <a:spcPts val="0"/>
              </a:spcAft>
              <a:defRPr sz="1400" b="0">
                <a:solidFill>
                  <a:srgbClr val="6B7280"/>
                </a:solidFill>
                <a:latin typeface="Calibri"/>
              </a:defRPr>
            </a:pPr>
            <a:r>
              <a:t>What comes next for AccentShift</a:t>
            </a:r>
          </a:p>
        </p:txBody>
      </p:sp>
      <p:cxnSp>
        <p:nvCxnSpPr>
          <p:cNvPr id="5" name="Connector 4"/>
          <p:cNvCxnSpPr/>
          <p:nvPr/>
        </p:nvCxnSpPr>
        <p:spPr>
          <a:xfrm>
            <a:off x="731520" y="1280160"/>
            <a:ext cx="1069848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417320"/>
            <a:ext cx="4846320" cy="2926080"/>
          </a:xfrm>
          <a:prstGeom prst="roundRect">
            <a:avLst>
              <a:gd name="adj" fmla="val 6000"/>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417320"/>
            <a:ext cx="484632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00200"/>
            <a:ext cx="4297680" cy="274320"/>
          </a:xfrm>
          <a:prstGeom prst="rect">
            <a:avLst/>
          </a:prstGeom>
          <a:noFill/>
        </p:spPr>
        <p:txBody>
          <a:bodyPr wrap="square">
            <a:spAutoFit/>
          </a:bodyPr>
          <a:lstStyle/>
          <a:p>
            <a:pPr algn="l">
              <a:spcAft>
                <a:spcPts val="0"/>
              </a:spcAft>
              <a:defRPr sz="1400" b="1">
                <a:solidFill>
                  <a:srgbClr val="2563EB"/>
                </a:solidFill>
                <a:latin typeface="Calibri"/>
              </a:defRPr>
            </a:pPr>
            <a:r>
              <a:t>Phase 1  —  Next 2 Weeks</a:t>
            </a:r>
          </a:p>
        </p:txBody>
      </p:sp>
      <p:sp>
        <p:nvSpPr>
          <p:cNvPr id="9" name="TextBox 8"/>
          <p:cNvSpPr txBox="1"/>
          <p:nvPr/>
        </p:nvSpPr>
        <p:spPr>
          <a:xfrm>
            <a:off x="1097280" y="2011680"/>
            <a:ext cx="4297680" cy="1463039"/>
          </a:xfrm>
          <a:prstGeom prst="rect">
            <a:avLst/>
          </a:prstGeom>
          <a:noFill/>
        </p:spPr>
        <p:txBody>
          <a:bodyPr wrap="square">
            <a:spAutoFit/>
          </a:bodyPr>
          <a:lstStyle/>
          <a:p>
            <a:pPr algn="l">
              <a:spcAft>
                <a:spcPts val="0"/>
              </a:spcAft>
              <a:defRPr sz="1300" b="0">
                <a:solidFill>
                  <a:srgbClr val="475069"/>
                </a:solidFill>
                <a:latin typeface="Calibri"/>
              </a:defRPr>
            </a:pPr>
          </a:p>
          <a:p>
            <a:pPr algn="l">
              <a:spcBef>
                <a:spcPts val="0"/>
              </a:spcBef>
              <a:spcAft>
                <a:spcPts val="800"/>
              </a:spcAft>
              <a:defRPr sz="1300" b="0">
                <a:solidFill>
                  <a:srgbClr val="475069"/>
                </a:solidFill>
                <a:latin typeface="Calibri"/>
              </a:defRPr>
            </a:pPr>
            <a:r>
              <a:t>•  Integrate StyleStream when Berkeley releases pretrained weights</a:t>
            </a:r>
          </a:p>
          <a:p>
            <a:pPr algn="l">
              <a:spcBef>
                <a:spcPts val="0"/>
              </a:spcBef>
              <a:spcAft>
                <a:spcPts val="800"/>
              </a:spcAft>
              <a:defRPr sz="1300" b="0">
                <a:solidFill>
                  <a:srgbClr val="475069"/>
                </a:solidFill>
                <a:latin typeface="Calibri"/>
              </a:defRPr>
            </a:pPr>
            <a:r>
              <a:t>•  Add real-time streaming mode via WebSocket for live conversion</a:t>
            </a:r>
          </a:p>
          <a:p>
            <a:pPr algn="l">
              <a:spcBef>
                <a:spcPts val="0"/>
              </a:spcBef>
              <a:spcAft>
                <a:spcPts val="800"/>
              </a:spcAft>
              <a:defRPr sz="1300" b="0">
                <a:solidFill>
                  <a:srgbClr val="475069"/>
                </a:solidFill>
                <a:latin typeface="Calibri"/>
              </a:defRPr>
            </a:pPr>
            <a:r>
              <a:t>•  Expand to 10+ accents: Arabic, Korean, Spanish, Vietnamese</a:t>
            </a:r>
          </a:p>
          <a:p>
            <a:pPr algn="l">
              <a:spcBef>
                <a:spcPts val="0"/>
              </a:spcBef>
              <a:spcAft>
                <a:spcPts val="800"/>
              </a:spcAft>
              <a:defRPr sz="1300" b="0">
                <a:solidFill>
                  <a:srgbClr val="475069"/>
                </a:solidFill>
                <a:latin typeface="Calibri"/>
              </a:defRPr>
            </a:pPr>
            <a:r>
              <a:t>•  Build browser-based live demo with WebRTC audio capture</a:t>
            </a:r>
          </a:p>
        </p:txBody>
      </p:sp>
      <p:sp>
        <p:nvSpPr>
          <p:cNvPr id="10" name="Rounded Rectangle 9"/>
          <p:cNvSpPr/>
          <p:nvPr/>
        </p:nvSpPr>
        <p:spPr>
          <a:xfrm>
            <a:off x="6035040" y="1417320"/>
            <a:ext cx="4846320" cy="2926080"/>
          </a:xfrm>
          <a:prstGeom prst="roundRect">
            <a:avLst>
              <a:gd name="adj" fmla="val 6000"/>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417320"/>
            <a:ext cx="484632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600200"/>
            <a:ext cx="4297680" cy="274320"/>
          </a:xfrm>
          <a:prstGeom prst="rect">
            <a:avLst/>
          </a:prstGeom>
          <a:noFill/>
        </p:spPr>
        <p:txBody>
          <a:bodyPr wrap="square">
            <a:spAutoFit/>
          </a:bodyPr>
          <a:lstStyle/>
          <a:p>
            <a:pPr algn="l">
              <a:spcAft>
                <a:spcPts val="0"/>
              </a:spcAft>
              <a:defRPr sz="1400" b="1">
                <a:solidFill>
                  <a:srgbClr val="14B8A6"/>
                </a:solidFill>
                <a:latin typeface="Calibri"/>
              </a:defRPr>
            </a:pPr>
            <a:r>
              <a:t>Phase 2  —  Next Quarter</a:t>
            </a:r>
          </a:p>
        </p:txBody>
      </p:sp>
      <p:sp>
        <p:nvSpPr>
          <p:cNvPr id="13" name="TextBox 12"/>
          <p:cNvSpPr txBox="1"/>
          <p:nvPr/>
        </p:nvSpPr>
        <p:spPr>
          <a:xfrm>
            <a:off x="6309360" y="2011680"/>
            <a:ext cx="4297680" cy="1463039"/>
          </a:xfrm>
          <a:prstGeom prst="rect">
            <a:avLst/>
          </a:prstGeom>
          <a:noFill/>
        </p:spPr>
        <p:txBody>
          <a:bodyPr wrap="square">
            <a:spAutoFit/>
          </a:bodyPr>
          <a:lstStyle/>
          <a:p>
            <a:pPr algn="l">
              <a:spcAft>
                <a:spcPts val="0"/>
              </a:spcAft>
              <a:defRPr sz="1300" b="0">
                <a:solidFill>
                  <a:srgbClr val="475069"/>
                </a:solidFill>
                <a:latin typeface="Calibri"/>
              </a:defRPr>
            </a:pPr>
          </a:p>
          <a:p>
            <a:pPr algn="l">
              <a:spcBef>
                <a:spcPts val="0"/>
              </a:spcBef>
              <a:spcAft>
                <a:spcPts val="800"/>
              </a:spcAft>
              <a:defRPr sz="1300" b="0">
                <a:solidFill>
                  <a:srgbClr val="475069"/>
                </a:solidFill>
                <a:latin typeface="Calibri"/>
              </a:defRPr>
            </a:pPr>
            <a:r>
              <a:t>•  Mobile SDK for iOS and Android (on-device inference)</a:t>
            </a:r>
          </a:p>
          <a:p>
            <a:pPr algn="l">
              <a:spcBef>
                <a:spcPts val="0"/>
              </a:spcBef>
              <a:spcAft>
                <a:spcPts val="800"/>
              </a:spcAft>
              <a:defRPr sz="1300" b="0">
                <a:solidFill>
                  <a:srgbClr val="475069"/>
                </a:solidFill>
                <a:latin typeface="Calibri"/>
              </a:defRPr>
            </a:pPr>
            <a:r>
              <a:t>•  Browser-based inference via WebGPU (no server needed)</a:t>
            </a:r>
          </a:p>
          <a:p>
            <a:pPr algn="l">
              <a:spcBef>
                <a:spcPts val="0"/>
              </a:spcBef>
              <a:spcAft>
                <a:spcPts val="800"/>
              </a:spcAft>
              <a:defRPr sz="1300" b="0">
                <a:solidFill>
                  <a:srgbClr val="475069"/>
                </a:solidFill>
                <a:latin typeface="Calibri"/>
              </a:defRPr>
            </a:pPr>
            <a:r>
              <a:t>•  Developer API marketplace for third-party integrations</a:t>
            </a:r>
          </a:p>
          <a:p>
            <a:pPr algn="l">
              <a:spcBef>
                <a:spcPts val="0"/>
              </a:spcBef>
              <a:spcAft>
                <a:spcPts val="800"/>
              </a:spcAft>
              <a:defRPr sz="1300" b="0">
                <a:solidFill>
                  <a:srgbClr val="475069"/>
                </a:solidFill>
                <a:latin typeface="Calibri"/>
              </a:defRPr>
            </a:pPr>
            <a:r>
              <a:t>•  Enterprise pilot: call centers, video conferencing, online education</a:t>
            </a:r>
          </a:p>
        </p:txBody>
      </p:sp>
      <p:sp>
        <p:nvSpPr>
          <p:cNvPr id="14" name="Rounded Rectangle 13"/>
          <p:cNvSpPr/>
          <p:nvPr/>
        </p:nvSpPr>
        <p:spPr>
          <a:xfrm>
            <a:off x="1371600" y="4754880"/>
            <a:ext cx="8503920" cy="1371600"/>
          </a:xfrm>
          <a:prstGeom prst="roundRect">
            <a:avLst>
              <a:gd name="adj" fmla="val 6000"/>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45920" y="4846320"/>
            <a:ext cx="7955279" cy="228600"/>
          </a:xfrm>
          <a:prstGeom prst="rect">
            <a:avLst/>
          </a:prstGeom>
          <a:noFill/>
        </p:spPr>
        <p:txBody>
          <a:bodyPr wrap="square">
            <a:spAutoFit/>
          </a:bodyPr>
          <a:lstStyle/>
          <a:p>
            <a:pPr algn="ctr">
              <a:spcAft>
                <a:spcPts val="0"/>
              </a:spcAft>
              <a:defRPr sz="1100" b="1">
                <a:solidFill>
                  <a:srgbClr val="2563EB"/>
                </a:solidFill>
                <a:latin typeface="Calibri"/>
              </a:defRPr>
            </a:pPr>
            <a:r>
              <a:t>OUR VISION</a:t>
            </a:r>
          </a:p>
        </p:txBody>
      </p:sp>
      <p:sp>
        <p:nvSpPr>
          <p:cNvPr id="16" name="TextBox 15"/>
          <p:cNvSpPr txBox="1"/>
          <p:nvPr/>
        </p:nvSpPr>
        <p:spPr>
          <a:xfrm>
            <a:off x="1645920" y="5212080"/>
            <a:ext cx="7955279" cy="457200"/>
          </a:xfrm>
          <a:prstGeom prst="rect">
            <a:avLst/>
          </a:prstGeom>
          <a:noFill/>
        </p:spPr>
        <p:txBody>
          <a:bodyPr wrap="square">
            <a:spAutoFit/>
          </a:bodyPr>
          <a:lstStyle/>
          <a:p>
            <a:pPr algn="ctr">
              <a:spcAft>
                <a:spcPts val="0"/>
              </a:spcAft>
              <a:defRPr sz="2400" b="1">
                <a:solidFill>
                  <a:srgbClr val="111827"/>
                </a:solidFill>
                <a:latin typeface="Calibri"/>
              </a:defRPr>
            </a:pPr>
            <a:r>
              <a:t>A world where accent is a choice, not a barrier.</a:t>
            </a:r>
          </a:p>
        </p:txBody>
      </p:sp>
      <p:sp>
        <p:nvSpPr>
          <p:cNvPr id="17" name="TextBox 16"/>
          <p:cNvSpPr txBox="1"/>
          <p:nvPr/>
        </p:nvSpPr>
        <p:spPr>
          <a:xfrm>
            <a:off x="1645920" y="5715000"/>
            <a:ext cx="7955279" cy="274320"/>
          </a:xfrm>
          <a:prstGeom prst="rect">
            <a:avLst/>
          </a:prstGeom>
          <a:noFill/>
        </p:spPr>
        <p:txBody>
          <a:bodyPr wrap="square">
            <a:spAutoFit/>
          </a:bodyPr>
          <a:lstStyle/>
          <a:p>
            <a:pPr algn="ctr">
              <a:spcAft>
                <a:spcPts val="0"/>
              </a:spcAft>
              <a:defRPr sz="1300" b="0">
                <a:solidFill>
                  <a:srgbClr val="475069"/>
                </a:solidFill>
                <a:latin typeface="Calibri"/>
              </a:defRPr>
            </a:pPr>
            <a:r>
              <a:t>Every person should be able to communicate clearly in any accent, without losing their emotional authenticity.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Oval 1"/>
          <p:cNvSpPr/>
          <p:nvPr/>
        </p:nvSpPr>
        <p:spPr>
          <a:xfrm>
            <a:off x="1828800" y="1371600"/>
            <a:ext cx="2286000" cy="2286000"/>
          </a:xfrm>
          <a:prstGeom prst="ellipse">
            <a:avLst/>
          </a:prstGeom>
          <a:solidFill>
            <a:srgbClr val="121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4114800"/>
            <a:ext cx="2743200" cy="2743200"/>
          </a:xfrm>
          <a:prstGeom prst="ellipse">
            <a:avLst/>
          </a:prstGeom>
          <a:solidFill>
            <a:srgbClr val="14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332720" cy="822960"/>
          </a:xfrm>
          <a:prstGeom prst="rect">
            <a:avLst/>
          </a:prstGeom>
          <a:noFill/>
        </p:spPr>
        <p:txBody>
          <a:bodyPr wrap="square">
            <a:spAutoFit/>
          </a:bodyPr>
          <a:lstStyle/>
          <a:p>
            <a:pPr algn="ctr">
              <a:spcAft>
                <a:spcPts val="0"/>
              </a:spcAft>
              <a:defRPr sz="5600" b="1">
                <a:solidFill>
                  <a:srgbClr val="FFFFFF"/>
                </a:solidFill>
                <a:latin typeface="Calibri"/>
              </a:defRPr>
            </a:pPr>
            <a:r>
              <a:t>AccentShift</a:t>
            </a:r>
          </a:p>
        </p:txBody>
      </p:sp>
      <p:sp>
        <p:nvSpPr>
          <p:cNvPr id="5" name="TextBox 4"/>
          <p:cNvSpPr txBox="1"/>
          <p:nvPr/>
        </p:nvSpPr>
        <p:spPr>
          <a:xfrm>
            <a:off x="914400" y="2377440"/>
            <a:ext cx="10332720" cy="457200"/>
          </a:xfrm>
          <a:prstGeom prst="rect">
            <a:avLst/>
          </a:prstGeom>
          <a:noFill/>
        </p:spPr>
        <p:txBody>
          <a:bodyPr wrap="square">
            <a:spAutoFit/>
          </a:bodyPr>
          <a:lstStyle/>
          <a:p>
            <a:pPr algn="ctr">
              <a:spcAft>
                <a:spcPts val="0"/>
              </a:spcAft>
              <a:defRPr sz="2400" b="0">
                <a:solidFill>
                  <a:srgbClr val="3B82F6"/>
                </a:solidFill>
                <a:latin typeface="Calibri"/>
              </a:defRPr>
            </a:pPr>
            <a:r>
              <a:t>Your Voice, Any Accent.</a:t>
            </a:r>
          </a:p>
        </p:txBody>
      </p:sp>
      <p:sp>
        <p:nvSpPr>
          <p:cNvPr id="6" name="TextBox 5"/>
          <p:cNvSpPr txBox="1"/>
          <p:nvPr/>
        </p:nvSpPr>
        <p:spPr>
          <a:xfrm>
            <a:off x="914400" y="3017520"/>
            <a:ext cx="10332720" cy="457200"/>
          </a:xfrm>
          <a:prstGeom prst="rect">
            <a:avLst/>
          </a:prstGeom>
          <a:noFill/>
        </p:spPr>
        <p:txBody>
          <a:bodyPr wrap="square">
            <a:spAutoFit/>
          </a:bodyPr>
          <a:lstStyle/>
          <a:p>
            <a:pPr algn="ctr">
              <a:spcAft>
                <a:spcPts val="0"/>
              </a:spcAft>
              <a:defRPr sz="1500" b="0">
                <a:solidFill>
                  <a:srgbClr val="94A3B8"/>
                </a:solidFill>
                <a:latin typeface="Calibri"/>
              </a:defRPr>
            </a:pPr>
            <a:r>
              <a:t>Emotion-preserving accent conversion powered by dual-engine AI.</a:t>
            </a:r>
          </a:p>
        </p:txBody>
      </p:sp>
      <p:sp>
        <p:nvSpPr>
          <p:cNvPr id="7" name="TextBox 6"/>
          <p:cNvSpPr txBox="1"/>
          <p:nvPr/>
        </p:nvSpPr>
        <p:spPr>
          <a:xfrm>
            <a:off x="914400" y="3657600"/>
            <a:ext cx="10332720" cy="457200"/>
          </a:xfrm>
          <a:prstGeom prst="rect">
            <a:avLst/>
          </a:prstGeom>
          <a:noFill/>
        </p:spPr>
        <p:txBody>
          <a:bodyPr wrap="square">
            <a:spAutoFit/>
          </a:bodyPr>
          <a:lstStyle/>
          <a:p>
            <a:pPr algn="ctr">
              <a:spcAft>
                <a:spcPts val="0"/>
              </a:spcAft>
              <a:defRPr sz="1800" b="1">
                <a:solidFill>
                  <a:srgbClr val="64748B"/>
                </a:solidFill>
                <a:latin typeface="Calibri"/>
              </a:defRPr>
            </a:pPr>
            <a:r>
              <a:t>IN   ·   CN   ·   JP   ·   GB   ·   US</a:t>
            </a:r>
          </a:p>
        </p:txBody>
      </p:sp>
      <p:sp>
        <p:nvSpPr>
          <p:cNvPr id="8" name="Rectangle 7"/>
          <p:cNvSpPr/>
          <p:nvPr/>
        </p:nvSpPr>
        <p:spPr>
          <a:xfrm>
            <a:off x="5029200" y="4297680"/>
            <a:ext cx="2103120" cy="25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572000"/>
            <a:ext cx="10332720" cy="548640"/>
          </a:xfrm>
          <a:prstGeom prst="rect">
            <a:avLst/>
          </a:prstGeom>
          <a:noFill/>
        </p:spPr>
        <p:txBody>
          <a:bodyPr wrap="square">
            <a:spAutoFit/>
          </a:bodyPr>
          <a:lstStyle/>
          <a:p>
            <a:pPr algn="ctr">
              <a:spcAft>
                <a:spcPts val="0"/>
              </a:spcAft>
              <a:defRPr sz="3200" b="1">
                <a:solidFill>
                  <a:srgbClr val="FFFFFF"/>
                </a:solidFill>
                <a:latin typeface="Calibri"/>
              </a:defRPr>
            </a:pPr>
            <a:r>
              <a:t>Thank You</a:t>
            </a:r>
          </a:p>
        </p:txBody>
      </p:sp>
      <p:sp>
        <p:nvSpPr>
          <p:cNvPr id="10" name="TextBox 9"/>
          <p:cNvSpPr txBox="1"/>
          <p:nvPr/>
        </p:nvSpPr>
        <p:spPr>
          <a:xfrm>
            <a:off x="914400" y="5120640"/>
            <a:ext cx="10332720" cy="365760"/>
          </a:xfrm>
          <a:prstGeom prst="rect">
            <a:avLst/>
          </a:prstGeom>
          <a:noFill/>
        </p:spPr>
        <p:txBody>
          <a:bodyPr wrap="square">
            <a:spAutoFit/>
          </a:bodyPr>
          <a:lstStyle/>
          <a:p>
            <a:pPr algn="ctr">
              <a:spcAft>
                <a:spcPts val="0"/>
              </a:spcAft>
              <a:defRPr sz="1800" b="0">
                <a:solidFill>
                  <a:srgbClr val="94A3B8"/>
                </a:solidFill>
                <a:latin typeface="Calibri"/>
              </a:defRPr>
            </a:pPr>
            <a:r>
              <a:t>Questions &amp; Live Demo</a:t>
            </a:r>
          </a:p>
        </p:txBody>
      </p:sp>
      <p:sp>
        <p:nvSpPr>
          <p:cNvPr id="11" name="TextBox 10"/>
          <p:cNvSpPr txBox="1"/>
          <p:nvPr/>
        </p:nvSpPr>
        <p:spPr>
          <a:xfrm>
            <a:off x="914400" y="5760720"/>
            <a:ext cx="10332720" cy="320040"/>
          </a:xfrm>
          <a:prstGeom prst="rect">
            <a:avLst/>
          </a:prstGeom>
          <a:noFill/>
        </p:spPr>
        <p:txBody>
          <a:bodyPr wrap="square">
            <a:spAutoFit/>
          </a:bodyPr>
          <a:lstStyle/>
          <a:p>
            <a:pPr algn="ctr">
              <a:spcAft>
                <a:spcPts val="0"/>
              </a:spcAft>
              <a:defRPr sz="1300" b="0">
                <a:solidFill>
                  <a:srgbClr val="475569"/>
                </a:solidFill>
                <a:latin typeface="Calibri"/>
              </a:defRPr>
            </a:pPr>
            <a:r>
              <a:t>Team [Your Team Name]  |  DP6 Honeywell Designathon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