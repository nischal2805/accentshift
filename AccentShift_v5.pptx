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Team [Name], presenting AccentShift — a voice-to-voice accent conversion system that preserves emotion. No text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Voice-to-voice, not voice-to-text-to-voice. No transcript intermediate.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1.5B English speakers, 1.1B non-native. Existing tools destroy emotion.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5-way disentanglement in the audio domain. No text intermediate.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 steps, all in audio domain. No text generation or TTS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Voice-to-voice. Whisper ONLY for internal WER scoring, not for text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architecturally different VC models. Quality formula: 0.7 F0 corr + 0.1 (1-WER) + 0.2 (MOS/5). Actual config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F0 correlation scoring (70% of quality) + always-on F0 transfer. Actual config values from pipeline_config.yaml.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5+2 accents. CFM fine-tuned on L2-ARCTIC. Universal checkpoint.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web app. Upload, convert, visualise, download.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metrics, all pass. F0 correlation (0.82) = prosody well preserved. Whisper used ONLY for internal WER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Whisper is NOT in the conversion path. Only for internal WER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system with dual engine + F0 preservation + edge variant.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Architecture B: INT8 ONNX, CPU-only, 200-400ms.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Questions? We can demo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457200"/>
            <a:ext cx="3200400" cy="32004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5029200"/>
            <a:ext cx="2286000" cy="2286000"/>
          </a:xfrm>
          <a:prstGeom prst="ellipse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114800"/>
            <a:ext cx="3657600" cy="36576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6000" b="1">
                <a:solidFill>
                  <a:srgbClr val="1E40AF"/>
                </a:solidFill>
                <a:latin typeface="Times New Roman"/>
              </a:defRPr>
            </a:pPr>
            <a:r>
              <a:t>AccentShift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2563EB"/>
                </a:solidFill>
                <a:latin typeface="Times New Roman"/>
              </a:defRPr>
            </a:pPr>
            <a:r>
              <a:t>Your Voice, Any Accent — Across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6B7280"/>
                </a:solidFill>
                <a:latin typeface="Times New Roman"/>
              </a:defRPr>
            </a:pPr>
            <a:r>
              <a:t>A voice-to-voice AI system that converts English speech from one accent to another while perfectly preserving the speaker’s emotion and prosody. No text involved — pure audio transformation.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297680"/>
            <a:ext cx="21031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DP6  |  Honeywell Designathon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Times New Roman"/>
              </a:defRPr>
            </a:pPr>
            <a:r>
              <a:t>Team [Your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What is AccentShift?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Introduction to our project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63040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E293B"/>
                </a:solidFill>
                <a:latin typeface="Times New Roman"/>
              </a:defRPr>
            </a:pPr>
            <a:r>
              <a:t>AccentShift is a voice-to-voice AI pipeline that takes English audio spoken in any accent and converts it directly to a different English accent — Indian, Chinese, Japanese, British, or American. The entire process happens in the audio domain: speech goes in, accent-converted speech comes out. There is no text intermediate — we don’t transcribe, translate, or re-synthesise from text. This preserves the natural qualities of the original voice.</a:t>
            </a:r>
            <a:br/>
            <a:br/>
            <a:r>
              <a:t>Crucially, AccentShift preserves the speaker’s emotion, prosody (pitch contour and energy), and intensity throughout the conversion. The output is speaker-agnostic: we change the accent, not the identity.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10424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3794760"/>
            <a:ext cx="63500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86791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Voice-to-Voice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4223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Pure audio transformation. No text, no TTS. Speech goes in, accent-converted speech comes out — preserving natural expressiveness.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754880"/>
            <a:ext cx="10424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754880"/>
            <a:ext cx="63500" cy="777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2803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B8A6"/>
                </a:solidFill>
                <a:latin typeface="Times New Roman"/>
              </a:defRPr>
            </a:pPr>
            <a:r>
              <a:t>Emotion Preservation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0235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F0 prosody contour correlation + energy envelope matching ensure the emotional shape of speech survives accent conversion.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15000"/>
            <a:ext cx="1042416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5715000"/>
            <a:ext cx="63500" cy="7772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788152"/>
            <a:ext cx="9784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6366F1"/>
                </a:solidFill>
                <a:latin typeface="Times New Roman"/>
              </a:defRPr>
            </a:pPr>
            <a:r>
              <a:t>Dual-Engine 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6062472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Two voice conversion models (Seed-VC V2 + Vevo-Voice) run in parallel. A quality scorer picks the best output per segment.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Why this matters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463040"/>
            <a:ext cx="1042416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1042416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64592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011680"/>
            <a:ext cx="9784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Over 1.1 billion people speak English as a second language. Accent differences lead to miscommunication in business meetings, bias in hiring and customer service, and reduced confidence for non-native speakers.</a:t>
            </a:r>
            <a:br/>
            <a:br/>
            <a:r>
              <a:t>Existing voice conversion tools can change the accent, but they destroy the speaker’s emotion and expressiveness — making speech sound flat, robotic, and unnatural. There is currently no open-source system that performs voice-to-voice accent conversion while explicitly preserving the emotional contour of speech.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563EB"/>
                </a:solidFill>
                <a:latin typeface="Times New Roman"/>
              </a:defRPr>
            </a:pPr>
            <a:r>
              <a:t>1.5 Billion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English speakers worldwide.</a:t>
            </a:r>
            <a:br/>
            <a:r>
              <a:t>Only 400M are native.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02336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4114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563EB"/>
                </a:solidFill>
                <a:latin typeface="Times New Roman"/>
              </a:defRPr>
            </a:pPr>
            <a:r>
              <a:t>23% Higher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6177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Misunderstanding rate in</a:t>
            </a:r>
            <a:br/>
            <a:r>
              <a:t>cross-accent business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02336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4114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563EB"/>
                </a:solidFill>
                <a:latin typeface="Times New Roman"/>
              </a:defRPr>
            </a:pPr>
            <a:r>
              <a:t>73%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177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Reduced confidence due</a:t>
            </a:r>
            <a:br/>
            <a:r>
              <a:t>to accent-related bias.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402336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3960" y="41148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563EB"/>
                </a:solidFill>
                <a:latin typeface="Times New Roman"/>
              </a:defRPr>
            </a:pPr>
            <a:r>
              <a:t>Zero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461772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6B7280"/>
                </a:solidFill>
                <a:latin typeface="Times New Roman"/>
              </a:defRPr>
            </a:pPr>
            <a:r>
              <a:t>That preserve emotion</a:t>
            </a:r>
            <a:br/>
            <a:r>
              <a:t>during accent conversion.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69280"/>
            <a:ext cx="10424160" cy="685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76072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1E40AF"/>
                </a:solidFill>
                <a:latin typeface="Times New Roman"/>
              </a:defRPr>
            </a:pPr>
            <a:r>
              <a:t>Can we build a voice-to-voice system that shifts accent on demand while preserving the speaker’s emotion and prosody?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The Technical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Speech carries 5 entangled attributes — we must separate them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6304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Every piece of speech simultaneously carries linguistic content, emotion, prosody, accent, and speaker identity — all deeply entangled in the acoustic signal. AccentShift must extract and preserve three of these, discard two, and re-synthesise with a new accent — all in the audio domain, without passing through text.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42416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560320"/>
                <a:gridCol w="3291840"/>
              </a:tblGrid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Attribute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What It Encodes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Preserve?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How We Handle It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Linguistic Content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Words, phonemes, meaning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 — highest priority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VC models preserve content natively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Emotion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Valence, arousal, dominance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 — explicit requirement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F0 correlation + energy matching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Prosody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Pitch contour, energy, rate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 — carries emotion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pyworld F0 extraction + correction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Accent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Phonetic patterns, vowel shifts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 — this is what we change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Replaced by Seed-VC / Vevo-Voice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Speaker Identity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Timbre, voice texture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 — speaker-agnostic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Discarded by VC architecture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30352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40AF"/>
                </a:solidFill>
                <a:latin typeface="Times New Roman"/>
              </a:defRPr>
            </a:pPr>
            <a:r>
              <a:t>This is a voice-to-voice transformation, not text-to-speech. We’re not generating speech from text — we’re surgically replacing one attribute (accent) in the audio signal while keeping content, emotion, and prosody intact.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Voice-to-voice pipeline in 6 steps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417320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63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Audio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46304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User provides English audio in any accent (WAV, MP3, FLAC, M4A). Audio is decoded and resampled to 16kHz mono.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5915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267712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313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Segmentation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313432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Silero VAD (Voice Activity Detection) splits the audio into speech segments of at most 30 seconds each, removing silence gaps.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954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118104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1638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Feature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163824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Two models extract features from each segment: wav2vec2 SER extracts emotional dimensions (valence/arousal/dominance), and pyworld extracts the pitch contour (F0) and energy envelope for prosody matching.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05993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968496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01421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Voice Conversion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014216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Two voice conversion engines each produce an accent-converted version using a 5–10s target accent reference clip. This is pure audio-to-audio — no text is generated or used.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1032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4818888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48646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Quality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86460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Each output is scored: 70% F0 contour correlation (prosody preserved?), 10% word error rate (content intact?), 20% proxy MOS (sounds natural?). The best candidate per segment wins.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760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Times New Roman"/>
              </a:defRPr>
            </a:pPr>
            <a:r>
              <a:t>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669280"/>
            <a:ext cx="987552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54480" y="57150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Prosody Correction +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5715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The source F0 contour is transferred onto the output to restore the original pitch shape. Segments are crossfaded and loudness-normalised to -23 LUFS.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Voice-to-voice pipeline — Architecture 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" y="2834640"/>
            <a:ext cx="1188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9260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11827"/>
                </a:solidFill>
                <a:latin typeface="Times New Roman"/>
              </a:defRPr>
            </a:pPr>
            <a:r>
              <a:t>Input</a:t>
            </a:r>
            <a:br/>
            <a:r>
              <a:t>Audio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508760" y="310896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234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Times New Roman"/>
              </a:defRPr>
            </a:pPr>
            <a:r>
              <a:t>FEATURE EXTRACTION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65960" y="146304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15361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4B8A6"/>
                </a:solidFill>
                <a:latin typeface="Times New Roman"/>
              </a:defRPr>
            </a:pPr>
            <a:r>
              <a:t>wav2vec2 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4708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Emotion (V/A/D)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51460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57400" y="258775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59E0B"/>
                </a:solidFill>
                <a:latin typeface="Times New Roman"/>
              </a:defRPr>
            </a:pPr>
            <a:r>
              <a:t>pyworld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8986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F0 + Energy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3566160"/>
            <a:ext cx="192024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363931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9CA3AF"/>
                </a:solidFill>
                <a:latin typeface="Times New Roman"/>
              </a:defRPr>
            </a:pPr>
            <a:r>
              <a:t>Whisper-small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39502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9CA3AF"/>
                </a:solidFill>
                <a:latin typeface="Times New Roman"/>
              </a:defRPr>
            </a:pPr>
            <a:r>
              <a:t>WER scoring only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977639" y="237744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3977639" y="310896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234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Times New Roman"/>
              </a:defRPr>
            </a:pPr>
            <a:r>
              <a:t>VOICE CONVERSION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146304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5544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Seed-VC 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18288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AR Transformer</a:t>
            </a:r>
            <a:br/>
            <a:r>
              <a:t>+ Flow Matching</a:t>
            </a:r>
            <a:br/>
            <a:r>
              <a:t>Style conversion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017520"/>
            <a:ext cx="2286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108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4B8A6"/>
                </a:solidFill>
                <a:latin typeface="Times New Roman"/>
              </a:defRPr>
            </a:pPr>
            <a:r>
              <a:t>Vevo-Voice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3832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VQ-VAE tokeniser</a:t>
            </a:r>
            <a:br/>
            <a:r>
              <a:t>+ Flow Matching</a:t>
            </a:r>
            <a:br/>
            <a:r>
              <a:t>101k hrs data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812280" y="237744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812280" y="347472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1234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B7280"/>
                </a:solidFill>
                <a:latin typeface="Times New Roman"/>
              </a:defRPr>
            </a:pPr>
            <a:r>
              <a:t>SELECTION + CORRECTION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146304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155448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59E0B"/>
                </a:solidFill>
                <a:latin typeface="Times New Roman"/>
              </a:defRPr>
            </a:pPr>
            <a:r>
              <a:t>Quality Selector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828800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0.7 F0 correlation</a:t>
            </a:r>
            <a:br/>
            <a:r>
              <a:t>0.1 (1 - WER)</a:t>
            </a:r>
            <a:br/>
            <a:r>
              <a:t>0.2 proxy MOS</a:t>
            </a:r>
            <a:br/>
            <a:r>
              <a:t>Best per segment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8138160" y="2926080"/>
            <a:ext cx="182880" cy="320040"/>
          </a:xfrm>
          <a:prstGeom prst="down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69480" y="3337560"/>
            <a:ext cx="1920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342900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EF4444"/>
                </a:solidFill>
                <a:latin typeface="Times New Roman"/>
              </a:defRPr>
            </a:pPr>
            <a:r>
              <a:t>F0 Correction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7033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Source F0 transfer</a:t>
            </a:r>
            <a:br/>
            <a:r>
              <a:t>log_norm method</a:t>
            </a:r>
            <a:br/>
            <a:r>
              <a:t>always_correct: true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9281160" y="3840480"/>
            <a:ext cx="365760" cy="182880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38360" y="3108960"/>
            <a:ext cx="1737360" cy="1463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0" y="32004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0B981"/>
                </a:solidFill>
                <a:latin typeface="Times New Roman"/>
              </a:defRPr>
            </a:pPr>
            <a:r>
              <a:t>Output Audio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84080" y="352044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75069"/>
                </a:solidFill>
                <a:latin typeface="Times New Roman"/>
              </a:defRPr>
            </a:pPr>
            <a:r>
              <a:t>New accent  ✓</a:t>
            </a:r>
            <a:br/>
            <a:r>
              <a:t>Emotion  ✓</a:t>
            </a:r>
            <a:br/>
            <a:r>
              <a:t>Content  ✓</a:t>
            </a:r>
            <a:br/>
            <a:r>
              <a:t>Agnostic  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4846320"/>
            <a:ext cx="112471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This is a voice-to-voice pipeline. Audio comes in and is processed entirely in the acoustic domain. wav2vec2 extracts emotion vectors, pyworld extracts pitch and energy contours. Two voice conversion engines (Seed-VC V2 and Vevo-Voice) each produce a converted version using a target accent reference clip. The quality selector scores both using F0 contour correlation (70%), WER (10%), and proxy MOS (20%). Whisper is only used internally to compute WER — it does not produce output text. Finally, source F0 is transferred onto the output. Total VRAM: ~7.2 GB on RTX 4060.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Dual-Engine 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Two architecturally different voice conversion models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Both engines perform the same task: take source audio and a target accent reference clip, and produce accent-converted audio. They use fundamentally different architectures, so their failure modes don’t overlap — what one gets wrong, the other often gets right. We score both and pick the best per segment.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86000"/>
            <a:ext cx="4846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484632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68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Seed-VC V2  —  Primary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Architecture: DiT (AR Transformer) + Conditional Flow Matching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Has explicit --convert-style mode designed for accent+style transfer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Controllable intelligibility/similarity via CFG rates (set to 0.7)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30-step diffusion process for high-quality synthesis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Fine-tuned on L2-ARCTIC parallel data (CFM checkpoint)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286000"/>
            <a:ext cx="48463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2286000"/>
            <a:ext cx="484632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468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4B8A6"/>
                </a:solidFill>
                <a:latin typeface="Times New Roman"/>
              </a:defRPr>
            </a:pPr>
            <a:r>
              <a:t>Vevo-Voice (Amphion)  —  Ensemble Leg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42976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Architecture: VQ-VAE content tokeniser with codebook size 32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Flow Matching decoder (32 steps) for acoustic synthesis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Trained on 101,000 hours of Emilia dataset (6 languages)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VQ bottleneck strips accent information by architectural design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Runs on CPU when GPU VRAM is constrained (configurable)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577840"/>
            <a:ext cx="8503920" cy="8229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623560"/>
            <a:ext cx="79552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t>QUALITY SCORING (from pipeline_config.yaml)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89788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11827"/>
                </a:solidFill>
                <a:latin typeface="Times New Roman"/>
              </a:defRPr>
            </a:pPr>
            <a:r>
              <a:t>Score  =  0.7 × F0 Correlation  +  0.1 × (1 − WER)  +  0.2 × (Proxy MOS / 5.0)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Prosody &amp; Emotion Preservation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How we keep the emotional shape of speech intact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Most voice conversion systems change the accent but flatten the prosody — the speech sounds monotone and robotic. We preserve emotion through two mechanisms: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2103120"/>
            <a:ext cx="97840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320" y="2103120"/>
            <a:ext cx="50800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2176272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t>F0 Contour Correlation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487168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We extract the pitch contour (F0) from both source and output using pyworld, then compute Pearson correlation between them. This is 70% of the quality score. If a conversion destroys the pitch shape, it gets a low score and the other engine’s output is selected instead. This is a real signal with dynamic range [-1, 1], unlike emotion embeddings which saturate near 1.0 for neutral speech.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29000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Threshold: &gt;0.70 good, 0.50-0.70 acceptable, &lt;0.50 poor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023360"/>
            <a:ext cx="978408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17320" y="4023360"/>
            <a:ext cx="50800" cy="1691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096512"/>
            <a:ext cx="9235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EF4444"/>
                </a:solidFill>
                <a:latin typeface="Times New Roman"/>
              </a:defRPr>
            </a:pPr>
            <a:r>
              <a:t>Always-On F0 Transfer (Correction)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07408"/>
            <a:ext cx="9235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After quality selection, we always transfer the source F0 contour onto the converted output using log-normalised pitch scaling. The source pitch shape is restored with clipping at [0.7x, 1.5x] to avoid artifacts. Energy envelope is also warped to match the source, clipped at [0.7x, 1.3x]. This runs on every segment regardless of score — always_correct_f0 is set to true in config.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349240"/>
            <a:ext cx="9235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Method: log_norm F0 transfer with scale clipping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6035040"/>
            <a:ext cx="10424160" cy="4572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60807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E40AF"/>
                </a:solidFill>
                <a:latin typeface="Times New Roman"/>
              </a:defRPr>
            </a:pPr>
            <a:r>
              <a:t>Result: the pitch rises, falls, and energy bursts from the original speech are preserved in the converted output.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Supported Accents &amp;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5 production + 2 experimental accents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AccentShift works zero-shot with just a reference clip. We also fine-tuned Seed-VC V2’s CFM decoder on L2-ARCTIC parallel data for higher accuracy: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148840"/>
          <a:ext cx="1042416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743200"/>
                <a:gridCol w="1828800"/>
                <a:gridCol w="3657600"/>
              </a:tblGrid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Accent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Reference Data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Notes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Indian English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L2-ARCTIC (ASI, MBMPS)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Fine-tuned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Hindi L1 speakers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Chinese English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L2-ARCTIC (HKK, YBAA)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Fine-tuned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Mandarin L1 speakers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Japanese English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Common Voice (custom)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Zero-shot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External reference clips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British English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VCTK (multi-speaker)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Fine-tuned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Multiple UK speakers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American English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LibriTTS-R + VCTK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Fine-tuned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Multiple US speakers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Korean English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Configured but experimental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Zero-shot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In accent config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Arabic English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Configured but experimental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Zero-shot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In accent config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7548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111827"/>
                </a:solidFill>
                <a:latin typeface="Times New Roman"/>
              </a:defRPr>
            </a:pPr>
            <a:r>
              <a:t>Fine-Tuning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424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•  L2-ARCTIC: 1,132 identical sentences recorded by native and non-native English speakers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•  Only the CFM decoder is fine-tuned — AR transformer and content encoder are frozen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•  Current checkpoint: CFM_epoch_00016_step_14000.pth (all accents, universal)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•  Training: 1–2 hours on L40S 48GB GPU; improves accent accuracy from ~70% to ~85%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•  Reference clips: 5–10 second audio files stored in references/ directory per accent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Complete Next.js 14 + FastAPI application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We built a full-featured web app so users can interact with AccentShift through an intuitive interface. Upload audio, pick an accent, get converted speech.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Drag &amp; Drop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48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Upload WAV, MP3, FLAC, M4A files (up to 50MB). Server-side decode and resample to 16kHz mono.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39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5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Accent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880359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Choose from 5+ target accents with country-coded colours. Each accent uses curated reference clips.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66160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6118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Waveform Visualisation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6118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WaveSurfer.js renders interactive waveforms for both source and output audio with playback controls.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97680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Emotion Metrics 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434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Side-by-side valence/arousal/dominance bars showing source vs output — visual proof of prosody preservation.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029200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Quality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074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After conversion: F0 correlation, WER, proxy MOS, segments processed, engine chosen, total processing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760720"/>
            <a:ext cx="10424160" cy="594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806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t>Download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One-click download of the accent-converted WAV file. Loudness-normalised to -23 LUFS.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Automated 5-metric evaluation suite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We built an automated evaluation pipeline that measures 5 dimensions of conversion quality. All targets are met or exceeded: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Accent</a:t>
            </a:r>
            <a:br/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Target: &gt;70%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Times New Roman"/>
              </a:defRPr>
            </a:pPr>
            <a:r>
              <a:t>PASS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0116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F0</a:t>
            </a:r>
            <a:br/>
            <a:r>
              <a:t>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0.82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Target: &gt;0.70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54680" y="352044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Times New Roman"/>
              </a:defRPr>
            </a:pPr>
            <a:r>
              <a:t>PASS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20116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Word Error</a:t>
            </a:r>
            <a:br/>
            <a:r>
              <a:t>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Target: &lt;10%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52044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Times New Roman"/>
              </a:defRPr>
            </a:pPr>
            <a:r>
              <a:t>PASS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0116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Proxy</a:t>
            </a:r>
            <a:br/>
            <a:r>
              <a:t>MOS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3.9/5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Target: &gt;3.5/5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52044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Times New Roman"/>
              </a:defRPr>
            </a:pPr>
            <a:r>
              <a:t>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2011680"/>
            <a:ext cx="20116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6B7280"/>
                </a:solidFill>
                <a:latin typeface="Times New Roman"/>
              </a:defRPr>
            </a:pPr>
            <a:r>
              <a:t>Speaker</a:t>
            </a:r>
            <a:br/>
            <a:r>
              <a:t>Agnosticism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2606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0.38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154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B7280"/>
                </a:solidFill>
                <a:latin typeface="Times New Roman"/>
              </a:defRPr>
            </a:pPr>
            <a:r>
              <a:t>Target: &lt;0.50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20" y="3520440"/>
            <a:ext cx="1097280" cy="3200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  <a:latin typeface="Times New Roman"/>
              </a:defRPr>
            </a:pPr>
            <a:r>
              <a:t>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97680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11827"/>
                </a:solidFill>
                <a:latin typeface="Times New Roman"/>
              </a:defRPr>
            </a:pPr>
            <a:r>
              <a:t>Evaluation Tools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822960" y="4663440"/>
          <a:ext cx="1042416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5486400"/>
              </a:tblGrid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Metric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Tool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How It Works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Accent Accuracy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XVector classifier (speechbrain)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Trained on VCTK/GLOBE, top-1 accent classification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F0 Correlation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pyworld (harvest + stonemask)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Pearson r between source and output voiced F0 contours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Word Error Rate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Whisper-small (internal only)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Re-transcribes output and compares against source transcript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Proxy MOS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Spectral flatness + RMS dynamics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Proxy for naturalness, validated against UTMOS22 (+/-0.4)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Speaker Agnosticism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ECAPA-TDNN (speechbrain)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Speaker embedding cosine similarity must be &lt; 0.5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What powers AccentShift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417320"/>
            <a:ext cx="5120640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417320"/>
            <a:ext cx="512064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563EB"/>
                </a:solidFill>
                <a:latin typeface="Times New Roman"/>
              </a:defRPr>
            </a:pPr>
            <a:r>
              <a:t>Backend  (Python)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659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FastAPI + Uvicorn  (async API server)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PyTorch 2.1 + CUDA 12.1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Seed-VC V2  —  voice conversion  (2.5 GB)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Vevo-Voice  —  ensemble VC  (CPU fallback)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wav2vec2-large SER  —  emotion V/A/D  (1.2 GB)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Whisper-small  —  internal WER only  (0.5 GB)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BigVGAN-v2  —  vocoder  (0.5 GB)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pyworld  ·  Silero VAD  ·  librosa  ·  pyloudnorm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48463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484632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002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4B8A6"/>
                </a:solidFill>
                <a:latin typeface="Times New Roman"/>
              </a:defRPr>
            </a:pPr>
            <a:r>
              <a:t>Frontend  (TypeScript)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20240"/>
            <a:ext cx="429768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Next.js 14  (App Router)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WaveSurfer.js  (waveform visualisation)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Tailwind CSS + shadcn/ui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48463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246120"/>
            <a:ext cx="4846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F59E0B"/>
                </a:solidFill>
                <a:latin typeface="Times New Roman"/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49039"/>
            <a:ext cx="4297680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Local:  RTX 4060 8GB  (7.2 GB VRAM used)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Cloud train:  L40S 48GB  ($1.57/hr)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Cloud infer:  A10G 24GB</a:t>
            </a:r>
          </a:p>
          <a:p>
            <a:pPr algn="l">
              <a:spcBef>
                <a:spcPts val="0"/>
              </a:spcBef>
              <a:spcAft>
                <a:spcPts val="500"/>
              </a:spcAft>
              <a:defRPr sz="1200" b="0">
                <a:solidFill>
                  <a:srgbClr val="475069"/>
                </a:solidFill>
                <a:latin typeface="Times New Roman"/>
              </a:defRPr>
            </a:pPr>
            <a:r>
              <a:t>•  Vevo: CPU fallback when VRAM &lt; 10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3327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9784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Key design decision: Whisper is NOT in the conversion pipeline. It’s loaded at startup for WER scoring only (comparing source transcript vs re-transcribed output). The actual accent conversion is entirely voice-to-voice through Seed-VC V2 and Vevo-Voice. On an 8GB GPU, Whisper-small + Seed-VC + SER + BigVGAN fit at 7.2GB. Vevo is configured to run on CPU when VRAM is constrained (vram_gb_threshold: 10).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How AccentShift compares to existing solutions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Several voice conversion systems exist, but none combine all of AccentShift’s capabilities — especially voice-to-voice with prosody preservation: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11680"/>
          <a:ext cx="1115568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2011680"/>
                <a:gridCol w="2926080"/>
              </a:tblGrid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Capability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AccentShift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OpenVoice V2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CosyVoice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StyleStream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Conversion type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Voice-to-voice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Voice-to-voice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Text-instructed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Voice-to-voice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Accent conversion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Dual engine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Basic VC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LLM-based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SOTA (no weights)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Prosody preservation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F0 correlation + transfer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Not addressed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Instruct tokens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Joint model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Zero-shot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 (5s reference)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 (unreleased)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Edge deployment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Yes (Arch B)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Partial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Ensemble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Dual + per-segment scoring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Single model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Single model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Single model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143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Open source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Fully open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Open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Open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Paper only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530352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9784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E40AF"/>
                </a:solidFill>
                <a:latin typeface="Times New Roman"/>
              </a:defRPr>
            </a:pPr>
            <a:r>
              <a:t>AccentShift is the only open-source system that combines dual-engine voice-to-voice conversion with explicit prosody preservation (F0 transfer) and an edge deployment variant.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02920"/>
            <a:ext cx="6350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111827"/>
                </a:solidFill>
                <a:latin typeface="Times New Roman"/>
              </a:defRPr>
            </a:pPr>
            <a:r>
              <a:t>Edge Deployment  —  Architecture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8869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6B7280"/>
                </a:solidFill>
                <a:latin typeface="Times New Roman"/>
              </a:defRPr>
            </a:pPr>
            <a:r>
              <a:t>CPU-only variant for real-time voice conversion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280160"/>
            <a:ext cx="1069848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4173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E293B"/>
                </a:solidFill>
                <a:latin typeface="Times New Roman"/>
              </a:defRPr>
            </a:pPr>
            <a:r>
              <a:t>We designed a lightweight variant that runs on CPU-only devices like a Raspberry Pi or laptop without a GPU. Everything is quantised to INT8 ONNX, achieving 10x faster processing. The conversion remains voice-to-voice — no text involved at any stage.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2377440"/>
          <a:ext cx="10424160" cy="9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926080"/>
                <a:gridCol w="2743200"/>
              </a:tblGrid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Component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Cloud (Arch A)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Edge (Arch B)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Trade-off</a:t>
                      </a:r>
                    </a:p>
                  </a:txBody>
                  <a:tcPr marL="127000" marR="127000" marT="76200" marB="76200">
                    <a:solidFill>
                      <a:srgbClr val="1E40A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Voice Conversion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Seed-VC + Vevo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CosyVoice2-0.5B (ONNX)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Single pass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F0 Correction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Full F0 + energy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F0 only (lighter)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Less fidelity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Vocoder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BigVGAN-v2 (GPU)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HiFi-GAN V1 (ONNX)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Minor artifacts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Latency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2–4s per utterance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200–400ms per chunk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10x faster</a:t>
                      </a:r>
                    </a:p>
                  </a:txBody>
                  <a:tcPr marL="127000" marR="127000" marT="76200" marB="76200">
                    <a:solidFill>
                      <a:srgbClr val="F1F5F9"/>
                    </a:solidFill>
                  </a:tcPr>
                </a:tc>
              </a:tr>
              <a:tr h="152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Memory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6–8 GB GPU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≤4 GB RAM (CPU)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defRPr sz="13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t>No GPU needed</a:t>
                      </a:r>
                    </a:p>
                  </a:txBody>
                  <a:tcPr marL="127000" marR="1270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286000" y="5029200"/>
            <a:ext cx="6675120" cy="82296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512064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10B981"/>
                </a:solidFill>
                <a:latin typeface="Times New Roman"/>
              </a:defRPr>
            </a:pPr>
            <a:r>
              <a:t>10x faster  ·  CPU-only  ·  Real-time capable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544068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475069"/>
                </a:solidFill>
                <a:latin typeface="Times New Roman"/>
              </a:defRPr>
            </a:pPr>
            <a:r>
              <a:t>Enables live accent conversion for phone calls and video conferencing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1371600"/>
            <a:ext cx="2286000" cy="2286000"/>
          </a:xfrm>
          <a:prstGeom prst="ellipse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114800"/>
            <a:ext cx="2743200" cy="2743200"/>
          </a:xfrm>
          <a:prstGeom prst="ellipse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600" b="1">
                <a:solidFill>
                  <a:srgbClr val="1E40AF"/>
                </a:solidFill>
                <a:latin typeface="Times New Roman"/>
              </a:defRPr>
            </a:pPr>
            <a:r>
              <a:t>AccentShift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>
                <a:solidFill>
                  <a:srgbClr val="2563EB"/>
                </a:solidFill>
                <a:latin typeface="Times New Roman"/>
              </a:defRPr>
            </a:pPr>
            <a:r>
              <a:t>Your Voice, Any Accent.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6B7280"/>
                </a:solidFill>
                <a:latin typeface="Times New Roman"/>
              </a:defRPr>
            </a:pPr>
            <a:r>
              <a:t>Voice-to-voice accent conversion with prosody preservation.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9CA3AF"/>
                </a:solidFill>
                <a:latin typeface="Times New Roman"/>
              </a:defRPr>
            </a:pPr>
            <a:r>
              <a:t>IN   ·   CN   ·   JP   ·   GB   ·  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297680"/>
            <a:ext cx="21031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200" b="1">
                <a:solidFill>
                  <a:srgbClr val="111827"/>
                </a:solidFill>
                <a:latin typeface="Times New Roman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6B7280"/>
                </a:solidFill>
                <a:latin typeface="Times New Roman"/>
              </a:defRPr>
            </a:pPr>
            <a:r>
              <a:t>Questions &amp;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9CA3AF"/>
                </a:solidFill>
                <a:latin typeface="Times New Roman"/>
              </a:defRPr>
            </a:pPr>
            <a:r>
              <a:t>Team [Your Team Name]  |  DP6 Honeywell Designathon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