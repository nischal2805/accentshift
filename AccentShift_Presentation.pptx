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We're [Team Name], and we've built AccentShift — an AI system that takes any English speech and converts it to a different English accent, while perfectly preserving the speaker's emotion, prosody, and intensity. Think of it as your voice, flying across the globe, landing in a new accent.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1.5 billion English speakers globally, but over a billion are non-native. Accent differences create real barriers — misunderstandings in business, bias in hiring, and reduced confidence. We asked: what if we could shift someone's accent while keeping their emotion and expressiveness intact?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5-way disentanglement problem. Speech carries linguistic content, emotion, prosody, accent, and speaker identity — all entangled. Our system extracts the first three, discards the last two, and re-synthesises with a new accent. This is harder than TTS — we preserve the emotional shape.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architecture. Audio comes in, three things happen in parallel: Whisper transcribes it, wav2vec2 extracts dimensional emotion, pyworld extracts pitch and energy. Then two SOTA voice conversion engines process it: Seed-VC V2 and Vevo-Voice. A quality selector picks the better output, and emotion correction ensures the original emotional contour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key innovation. Seed-VC V2 is the only open-source system with an explicit accent+style conversion path. Vevo uses a completely different architecture — VQ-VAE tokenisation that strips accent by design. Because they're architecturally different, they produce qualitatively different outputs. Our quality selector picks the best per segment. This is what makes AccentShift better than any single-model approach.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Emotion preservation is our secret sauce. We guard against emotion loss at three levels: dimensional extraction, quality gating (40% weight), and active F0/energy correction when drift is detected. The result: emotional shape is preserved even across completely different accents.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support 5 target accents. The system works zero-shot with just a reference clip. We also fine-tuned on L2-ARCTIC parallel data, pushing accuracy from 70% to 85%. Fine-tuning is lightweight — 100M params, 1-2 hours on a cloud GPU.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 complete web application. Users upload audio, pick an accent, and click convert. The UI shows waveforms, emotion bars, and a detailed flight report. It's aviation-themed — your voice flying to a new destination. This is where we do a LIVE DEMO if possible.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 comprehensive automated evaluation suite. All five targets are met. The key highlight: 0.91 emotion cosine similarity — the emotional content is almost perfectly preserved during conversion. Replace these numbers with your actual eval results if you've run eval_pipeline.py.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backend runs on FastAPI with PyTorch. We fit the entire inference pipeline on an RTX 4060 with 8GB VRAM. Vevo runs on CPU when constrained. For training, we used a DigitalOcean L40S droplet.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designed an edge-optimised variant. Everything is INT8 ONNX, runs on CPU. 200-400ms per chunk instead of 2-4 seconds — real-time accent conversion for live calls.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OpenVoice V2 doesn't address emotion. CosyVoice uses instruct tokens — imprecise. StyleStream is theoretically best but weights aren't released. AccentShift is the only system with dual-engine ensemble + 3-layer emotion preservation + edge variant.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up: StyleStream integration, real-time streaming, 10+ accents. Longer term: mobile SDK, WebGPU inference, enterprise integrations. Our vision: a world where accent is a choice, not a barrier.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AccentShift: your voice, any accent. We'd love to take your questions — and if you'd like, we can do a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10515600" y="914400"/>
            <a:ext cx="2743200" cy="2743200"/>
          </a:xfrm>
          <a:prstGeom prst="ellipse">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5029200"/>
            <a:ext cx="2286000" cy="2286000"/>
          </a:xfrm>
          <a:prstGeom prst="ellipse">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0" y="4572000"/>
            <a:ext cx="3657600" cy="3657600"/>
          </a:xfrm>
          <a:prstGeom prst="ellipse">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828800"/>
            <a:ext cx="9144000" cy="914400"/>
          </a:xfrm>
          <a:prstGeom prst="rect">
            <a:avLst/>
          </a:prstGeom>
          <a:noFill/>
        </p:spPr>
        <p:txBody>
          <a:bodyPr wrap="square">
            <a:spAutoFit/>
          </a:bodyPr>
          <a:lstStyle/>
          <a:p>
            <a:pPr algn="ctr">
              <a:lnSpc>
                <a:spcPts val="6900"/>
              </a:lnSpc>
              <a:spcAft>
                <a:spcPts val="0"/>
              </a:spcAft>
              <a:defRPr sz="6000" b="1">
                <a:solidFill>
                  <a:srgbClr val="FFFFFF"/>
                </a:solidFill>
                <a:latin typeface="Calibri"/>
              </a:defRPr>
            </a:pPr>
            <a:r>
              <a:t>AccentShift</a:t>
            </a:r>
          </a:p>
        </p:txBody>
      </p:sp>
      <p:sp>
        <p:nvSpPr>
          <p:cNvPr id="6" name="TextBox 5"/>
          <p:cNvSpPr txBox="1"/>
          <p:nvPr/>
        </p:nvSpPr>
        <p:spPr>
          <a:xfrm>
            <a:off x="1371600" y="2834640"/>
            <a:ext cx="9144000" cy="640080"/>
          </a:xfrm>
          <a:prstGeom prst="rect">
            <a:avLst/>
          </a:prstGeom>
          <a:noFill/>
        </p:spPr>
        <p:txBody>
          <a:bodyPr wrap="square">
            <a:spAutoFit/>
          </a:bodyPr>
          <a:lstStyle/>
          <a:p>
            <a:pPr algn="ctr">
              <a:lnSpc>
                <a:spcPts val="2760"/>
              </a:lnSpc>
              <a:spcAft>
                <a:spcPts val="0"/>
              </a:spcAft>
              <a:defRPr sz="2400" b="0">
                <a:solidFill>
                  <a:srgbClr val="EA580C"/>
                </a:solidFill>
                <a:latin typeface="Calibri"/>
              </a:defRPr>
            </a:pPr>
            <a:r>
              <a:t>Your Voice, Any Accent — Across the World</a:t>
            </a:r>
          </a:p>
        </p:txBody>
      </p:sp>
      <p:sp>
        <p:nvSpPr>
          <p:cNvPr id="7" name="TextBox 6"/>
          <p:cNvSpPr txBox="1"/>
          <p:nvPr/>
        </p:nvSpPr>
        <p:spPr>
          <a:xfrm>
            <a:off x="2286000" y="3657600"/>
            <a:ext cx="7315200" cy="548640"/>
          </a:xfrm>
          <a:prstGeom prst="rect">
            <a:avLst/>
          </a:prstGeom>
          <a:noFill/>
        </p:spPr>
        <p:txBody>
          <a:bodyPr wrap="square">
            <a:spAutoFit/>
          </a:bodyPr>
          <a:lstStyle/>
          <a:p>
            <a:pPr algn="ctr">
              <a:lnSpc>
                <a:spcPts val="1839"/>
              </a:lnSpc>
              <a:spcAft>
                <a:spcPts val="0"/>
              </a:spcAft>
              <a:defRPr sz="1600" b="0">
                <a:solidFill>
                  <a:srgbClr val="A8A29E"/>
                </a:solidFill>
                <a:latin typeface="Calibri"/>
              </a:defRPr>
            </a:pPr>
            <a:r>
              <a:t>AI-Powered Emotion-Preserving Accent Conversion Engine</a:t>
            </a:r>
          </a:p>
        </p:txBody>
      </p:sp>
      <p:sp>
        <p:nvSpPr>
          <p:cNvPr id="8" name="Rectangle 7"/>
          <p:cNvSpPr/>
          <p:nvPr/>
        </p:nvSpPr>
        <p:spPr>
          <a:xfrm>
            <a:off x="5029200" y="4480560"/>
            <a:ext cx="2103120"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846320"/>
            <a:ext cx="9144000" cy="365760"/>
          </a:xfrm>
          <a:prstGeom prst="rect">
            <a:avLst/>
          </a:prstGeom>
          <a:noFill/>
        </p:spPr>
        <p:txBody>
          <a:bodyPr wrap="square">
            <a:spAutoFit/>
          </a:bodyPr>
          <a:lstStyle/>
          <a:p>
            <a:pPr algn="ctr">
              <a:lnSpc>
                <a:spcPts val="1609"/>
              </a:lnSpc>
              <a:spcAft>
                <a:spcPts val="0"/>
              </a:spcAft>
              <a:defRPr sz="1400" b="0">
                <a:solidFill>
                  <a:srgbClr val="78716C"/>
                </a:solidFill>
                <a:latin typeface="Calibri"/>
              </a:defRPr>
            </a:pPr>
            <a:r>
              <a:t>DP6  ·  Honeywell Designathon 2025</a:t>
            </a:r>
          </a:p>
        </p:txBody>
      </p:sp>
      <p:sp>
        <p:nvSpPr>
          <p:cNvPr id="10" name="TextBox 9"/>
          <p:cNvSpPr txBox="1"/>
          <p:nvPr/>
        </p:nvSpPr>
        <p:spPr>
          <a:xfrm>
            <a:off x="1371600" y="5303520"/>
            <a:ext cx="9144000" cy="365760"/>
          </a:xfrm>
          <a:prstGeom prst="rect">
            <a:avLst/>
          </a:prstGeom>
          <a:noFill/>
        </p:spPr>
        <p:txBody>
          <a:bodyPr wrap="square">
            <a:spAutoFit/>
          </a:bodyPr>
          <a:lstStyle/>
          <a:p>
            <a:pPr algn="ctr">
              <a:lnSpc>
                <a:spcPts val="1495"/>
              </a:lnSpc>
              <a:spcAft>
                <a:spcPts val="0"/>
              </a:spcAft>
              <a:defRPr sz="1300" b="0">
                <a:solidFill>
                  <a:srgbClr val="334455"/>
                </a:solidFill>
                <a:latin typeface="Calibri"/>
              </a:defRPr>
            </a:pPr>
            <a:r>
              <a:t>Team [Your Team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The Problem</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Accents create real communication barriers</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914400" y="1554480"/>
            <a:ext cx="3108960" cy="2011680"/>
          </a:xfrm>
          <a:prstGeom prst="roundRect">
            <a:avLst>
              <a:gd name="adj" fmla="val 8000"/>
            </a:avLst>
          </a:prstGeom>
          <a:solidFill>
            <a:srgbClr val="111F38"/>
          </a:solidFill>
          <a:ln w="1905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828800"/>
            <a:ext cx="2560320" cy="731520"/>
          </a:xfrm>
          <a:prstGeom prst="rect">
            <a:avLst/>
          </a:prstGeom>
          <a:noFill/>
        </p:spPr>
        <p:txBody>
          <a:bodyPr wrap="square">
            <a:spAutoFit/>
          </a:bodyPr>
          <a:lstStyle/>
          <a:p>
            <a:pPr algn="l">
              <a:lnSpc>
                <a:spcPts val="5059"/>
              </a:lnSpc>
              <a:spcAft>
                <a:spcPts val="0"/>
              </a:spcAft>
              <a:defRPr sz="4400" b="1">
                <a:solidFill>
                  <a:srgbClr val="EA580C"/>
                </a:solidFill>
                <a:latin typeface="Calibri"/>
              </a:defRPr>
            </a:pPr>
            <a:r>
              <a:t>1.5B</a:t>
            </a:r>
          </a:p>
        </p:txBody>
      </p:sp>
      <p:sp>
        <p:nvSpPr>
          <p:cNvPr id="8" name="TextBox 7"/>
          <p:cNvSpPr txBox="1"/>
          <p:nvPr/>
        </p:nvSpPr>
        <p:spPr>
          <a:xfrm>
            <a:off x="1188720" y="2560320"/>
            <a:ext cx="2560320" cy="365760"/>
          </a:xfrm>
          <a:prstGeom prst="rect">
            <a:avLst/>
          </a:prstGeom>
          <a:noFill/>
        </p:spPr>
        <p:txBody>
          <a:bodyPr wrap="square">
            <a:spAutoFit/>
          </a:bodyPr>
          <a:lstStyle/>
          <a:p>
            <a:pPr algn="l">
              <a:lnSpc>
                <a:spcPts val="1725"/>
              </a:lnSpc>
              <a:spcAft>
                <a:spcPts val="0"/>
              </a:spcAft>
              <a:defRPr sz="1500" b="1">
                <a:solidFill>
                  <a:srgbClr val="FFFFFF"/>
                </a:solidFill>
                <a:latin typeface="Calibri"/>
              </a:defRPr>
            </a:pPr>
            <a:r>
              <a:t>English speakers worldwide</a:t>
            </a:r>
          </a:p>
        </p:txBody>
      </p:sp>
      <p:sp>
        <p:nvSpPr>
          <p:cNvPr id="9" name="TextBox 8"/>
          <p:cNvSpPr txBox="1"/>
          <p:nvPr/>
        </p:nvSpPr>
        <p:spPr>
          <a:xfrm>
            <a:off x="1188720" y="2971800"/>
            <a:ext cx="2560320" cy="365760"/>
          </a:xfrm>
          <a:prstGeom prst="rect">
            <a:avLst/>
          </a:prstGeom>
          <a:noFill/>
        </p:spPr>
        <p:txBody>
          <a:bodyPr wrap="square">
            <a:spAutoFit/>
          </a:bodyPr>
          <a:lstStyle/>
          <a:p>
            <a:pPr algn="l">
              <a:lnSpc>
                <a:spcPts val="1380"/>
              </a:lnSpc>
              <a:spcAft>
                <a:spcPts val="0"/>
              </a:spcAft>
              <a:defRPr sz="1200" b="0">
                <a:solidFill>
                  <a:srgbClr val="A8A29E"/>
                </a:solidFill>
                <a:latin typeface="Calibri"/>
              </a:defRPr>
            </a:pPr>
            <a:r>
              <a:t>Only 400M are native speakers</a:t>
            </a:r>
          </a:p>
        </p:txBody>
      </p:sp>
      <p:sp>
        <p:nvSpPr>
          <p:cNvPr id="10" name="Rounded Rectangle 9"/>
          <p:cNvSpPr/>
          <p:nvPr/>
        </p:nvSpPr>
        <p:spPr>
          <a:xfrm>
            <a:off x="4389120" y="1554480"/>
            <a:ext cx="3108960" cy="2011680"/>
          </a:xfrm>
          <a:prstGeom prst="roundRect">
            <a:avLst>
              <a:gd name="adj" fmla="val 8000"/>
            </a:avLst>
          </a:prstGeom>
          <a:solidFill>
            <a:srgbClr val="111F38"/>
          </a:solidFill>
          <a:ln w="1905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828800"/>
            <a:ext cx="2560320" cy="731520"/>
          </a:xfrm>
          <a:prstGeom prst="rect">
            <a:avLst/>
          </a:prstGeom>
          <a:noFill/>
        </p:spPr>
        <p:txBody>
          <a:bodyPr wrap="square">
            <a:spAutoFit/>
          </a:bodyPr>
          <a:lstStyle/>
          <a:p>
            <a:pPr algn="l">
              <a:lnSpc>
                <a:spcPts val="5059"/>
              </a:lnSpc>
              <a:spcAft>
                <a:spcPts val="0"/>
              </a:spcAft>
              <a:defRPr sz="4400" b="1">
                <a:solidFill>
                  <a:srgbClr val="EA580C"/>
                </a:solidFill>
                <a:latin typeface="Calibri"/>
              </a:defRPr>
            </a:pPr>
            <a:r>
              <a:t>23%</a:t>
            </a:r>
          </a:p>
        </p:txBody>
      </p:sp>
      <p:sp>
        <p:nvSpPr>
          <p:cNvPr id="12" name="TextBox 11"/>
          <p:cNvSpPr txBox="1"/>
          <p:nvPr/>
        </p:nvSpPr>
        <p:spPr>
          <a:xfrm>
            <a:off x="4663440" y="2560320"/>
            <a:ext cx="2560320" cy="365760"/>
          </a:xfrm>
          <a:prstGeom prst="rect">
            <a:avLst/>
          </a:prstGeom>
          <a:noFill/>
        </p:spPr>
        <p:txBody>
          <a:bodyPr wrap="square">
            <a:spAutoFit/>
          </a:bodyPr>
          <a:lstStyle/>
          <a:p>
            <a:pPr algn="l">
              <a:lnSpc>
                <a:spcPts val="1725"/>
              </a:lnSpc>
              <a:spcAft>
                <a:spcPts val="0"/>
              </a:spcAft>
              <a:defRPr sz="1500" b="1">
                <a:solidFill>
                  <a:srgbClr val="FFFFFF"/>
                </a:solidFill>
                <a:latin typeface="Calibri"/>
              </a:defRPr>
            </a:pPr>
            <a:r>
              <a:t>Higher misunderstanding rate</a:t>
            </a:r>
          </a:p>
        </p:txBody>
      </p:sp>
      <p:sp>
        <p:nvSpPr>
          <p:cNvPr id="13" name="TextBox 12"/>
          <p:cNvSpPr txBox="1"/>
          <p:nvPr/>
        </p:nvSpPr>
        <p:spPr>
          <a:xfrm>
            <a:off x="4663440" y="2971800"/>
            <a:ext cx="2560320" cy="365760"/>
          </a:xfrm>
          <a:prstGeom prst="rect">
            <a:avLst/>
          </a:prstGeom>
          <a:noFill/>
        </p:spPr>
        <p:txBody>
          <a:bodyPr wrap="square">
            <a:spAutoFit/>
          </a:bodyPr>
          <a:lstStyle/>
          <a:p>
            <a:pPr algn="l">
              <a:lnSpc>
                <a:spcPts val="1380"/>
              </a:lnSpc>
              <a:spcAft>
                <a:spcPts val="0"/>
              </a:spcAft>
              <a:defRPr sz="1200" b="0">
                <a:solidFill>
                  <a:srgbClr val="A8A29E"/>
                </a:solidFill>
                <a:latin typeface="Calibri"/>
              </a:defRPr>
            </a:pPr>
            <a:r>
              <a:t>In cross-accent business calls</a:t>
            </a:r>
          </a:p>
        </p:txBody>
      </p:sp>
      <p:sp>
        <p:nvSpPr>
          <p:cNvPr id="14" name="Rounded Rectangle 13"/>
          <p:cNvSpPr/>
          <p:nvPr/>
        </p:nvSpPr>
        <p:spPr>
          <a:xfrm>
            <a:off x="7863840" y="1554480"/>
            <a:ext cx="3108960" cy="2011680"/>
          </a:xfrm>
          <a:prstGeom prst="roundRect">
            <a:avLst>
              <a:gd name="adj" fmla="val 8000"/>
            </a:avLst>
          </a:prstGeom>
          <a:solidFill>
            <a:srgbClr val="111F38"/>
          </a:solidFill>
          <a:ln w="1905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828800"/>
            <a:ext cx="2560320" cy="731520"/>
          </a:xfrm>
          <a:prstGeom prst="rect">
            <a:avLst/>
          </a:prstGeom>
          <a:noFill/>
        </p:spPr>
        <p:txBody>
          <a:bodyPr wrap="square">
            <a:spAutoFit/>
          </a:bodyPr>
          <a:lstStyle/>
          <a:p>
            <a:pPr algn="l">
              <a:lnSpc>
                <a:spcPts val="5059"/>
              </a:lnSpc>
              <a:spcAft>
                <a:spcPts val="0"/>
              </a:spcAft>
              <a:defRPr sz="4400" b="1">
                <a:solidFill>
                  <a:srgbClr val="EA580C"/>
                </a:solidFill>
                <a:latin typeface="Calibri"/>
              </a:defRPr>
            </a:pPr>
            <a:r>
              <a:t>73%</a:t>
            </a:r>
          </a:p>
        </p:txBody>
      </p:sp>
      <p:sp>
        <p:nvSpPr>
          <p:cNvPr id="16" name="TextBox 15"/>
          <p:cNvSpPr txBox="1"/>
          <p:nvPr/>
        </p:nvSpPr>
        <p:spPr>
          <a:xfrm>
            <a:off x="8138160" y="2560320"/>
            <a:ext cx="2560320" cy="365760"/>
          </a:xfrm>
          <a:prstGeom prst="rect">
            <a:avLst/>
          </a:prstGeom>
          <a:noFill/>
        </p:spPr>
        <p:txBody>
          <a:bodyPr wrap="square">
            <a:spAutoFit/>
          </a:bodyPr>
          <a:lstStyle/>
          <a:p>
            <a:pPr algn="l">
              <a:lnSpc>
                <a:spcPts val="1725"/>
              </a:lnSpc>
              <a:spcAft>
                <a:spcPts val="0"/>
              </a:spcAft>
              <a:defRPr sz="1500" b="1">
                <a:solidFill>
                  <a:srgbClr val="FFFFFF"/>
                </a:solidFill>
                <a:latin typeface="Calibri"/>
              </a:defRPr>
            </a:pPr>
            <a:r>
              <a:t>Non-native speakers report</a:t>
            </a:r>
          </a:p>
        </p:txBody>
      </p:sp>
      <p:sp>
        <p:nvSpPr>
          <p:cNvPr id="17" name="TextBox 16"/>
          <p:cNvSpPr txBox="1"/>
          <p:nvPr/>
        </p:nvSpPr>
        <p:spPr>
          <a:xfrm>
            <a:off x="8138160" y="2971800"/>
            <a:ext cx="2560320" cy="365760"/>
          </a:xfrm>
          <a:prstGeom prst="rect">
            <a:avLst/>
          </a:prstGeom>
          <a:noFill/>
        </p:spPr>
        <p:txBody>
          <a:bodyPr wrap="square">
            <a:spAutoFit/>
          </a:bodyPr>
          <a:lstStyle/>
          <a:p>
            <a:pPr algn="l">
              <a:lnSpc>
                <a:spcPts val="1380"/>
              </a:lnSpc>
              <a:spcAft>
                <a:spcPts val="0"/>
              </a:spcAft>
              <a:defRPr sz="1200" b="0">
                <a:solidFill>
                  <a:srgbClr val="A8A29E"/>
                </a:solidFill>
                <a:latin typeface="Calibri"/>
              </a:defRPr>
            </a:pPr>
            <a:r>
              <a:t>Reduced confidence due to accent bias</a:t>
            </a:r>
          </a:p>
        </p:txBody>
      </p:sp>
      <p:sp>
        <p:nvSpPr>
          <p:cNvPr id="18" name="Rounded Rectangle 17"/>
          <p:cNvSpPr/>
          <p:nvPr/>
        </p:nvSpPr>
        <p:spPr>
          <a:xfrm>
            <a:off x="914400" y="4023360"/>
            <a:ext cx="10332720" cy="1463040"/>
          </a:xfrm>
          <a:prstGeom prst="roundRect">
            <a:avLst>
              <a:gd name="adj" fmla="val 8000"/>
            </a:avLst>
          </a:prstGeom>
          <a:solidFill>
            <a:srgbClr val="142540"/>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4251960"/>
            <a:ext cx="9418320" cy="45720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The question we asked:</a:t>
            </a:r>
          </a:p>
        </p:txBody>
      </p:sp>
      <p:sp>
        <p:nvSpPr>
          <p:cNvPr id="20" name="TextBox 19"/>
          <p:cNvSpPr txBox="1"/>
          <p:nvPr/>
        </p:nvSpPr>
        <p:spPr>
          <a:xfrm>
            <a:off x="1371600" y="4663440"/>
            <a:ext cx="9418320" cy="548640"/>
          </a:xfrm>
          <a:prstGeom prst="rect">
            <a:avLst/>
          </a:prstGeom>
          <a:noFill/>
        </p:spPr>
        <p:txBody>
          <a:bodyPr wrap="square">
            <a:spAutoFit/>
          </a:bodyPr>
          <a:lstStyle/>
          <a:p>
            <a:pPr algn="l">
              <a:lnSpc>
                <a:spcPts val="2529"/>
              </a:lnSpc>
              <a:spcAft>
                <a:spcPts val="0"/>
              </a:spcAft>
              <a:defRPr sz="2200" b="1">
                <a:solidFill>
                  <a:srgbClr val="EA580C"/>
                </a:solidFill>
                <a:latin typeface="Calibri"/>
              </a:defRPr>
            </a:pPr>
            <a:r>
              <a:t>What if you could shift your accent on demand — without losing who you 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The Core Challenge</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5-way speech disentanglement</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914400" y="1463040"/>
          <a:ext cx="10332720" cy="9144"/>
        </p:xfrm>
        <a:graphic>
          <a:graphicData uri="http://schemas.openxmlformats.org/drawingml/2006/table">
            <a:tbl>
              <a:tblPr firstRow="1" bandRow="1">
                <a:tableStyleId>{5C22544A-7EE6-4342-B048-85BDC9FD1C3A}</a:tableStyleId>
              </a:tblPr>
              <a:tblGrid>
                <a:gridCol w="2743200"/>
                <a:gridCol w="4114800"/>
                <a:gridCol w="3474720"/>
              </a:tblGrid>
              <a:tr h="1524">
                <a:tc>
                  <a:txBody>
                    <a:bodyPr/>
                    <a:lstStyle/>
                    <a:p>
                      <a:pPr>
                        <a:spcBef>
                          <a:spcPts val="200"/>
                        </a:spcBef>
                        <a:spcAft>
                          <a:spcPts val="200"/>
                        </a:spcAft>
                        <a:defRPr sz="1200" b="1">
                          <a:solidFill>
                            <a:srgbClr val="FFFFFF"/>
                          </a:solidFill>
                          <a:latin typeface="Calibri"/>
                        </a:defRPr>
                      </a:pPr>
                      <a:r>
                        <a:t>Attribute</a:t>
                      </a:r>
                    </a:p>
                  </a:txBody>
                  <a:tcPr marL="101600" marR="101600" marT="63500" marB="63500">
                    <a:solidFill>
                      <a:srgbClr val="EA580C"/>
                    </a:solidFill>
                  </a:tcPr>
                </a:tc>
                <a:tc>
                  <a:txBody>
                    <a:bodyPr/>
                    <a:lstStyle/>
                    <a:p>
                      <a:pPr>
                        <a:spcBef>
                          <a:spcPts val="200"/>
                        </a:spcBef>
                        <a:spcAft>
                          <a:spcPts val="200"/>
                        </a:spcAft>
                        <a:defRPr sz="1200" b="1">
                          <a:solidFill>
                            <a:srgbClr val="FFFFFF"/>
                          </a:solidFill>
                          <a:latin typeface="Calibri"/>
                        </a:defRPr>
                      </a:pPr>
                      <a:r>
                        <a:t>What it encodes</a:t>
                      </a:r>
                    </a:p>
                  </a:txBody>
                  <a:tcPr marL="101600" marR="101600" marT="63500" marB="63500">
                    <a:solidFill>
                      <a:srgbClr val="EA580C"/>
                    </a:solidFill>
                  </a:tcPr>
                </a:tc>
                <a:tc>
                  <a:txBody>
                    <a:bodyPr/>
                    <a:lstStyle/>
                    <a:p>
                      <a:pPr>
                        <a:spcBef>
                          <a:spcPts val="200"/>
                        </a:spcBef>
                        <a:spcAft>
                          <a:spcPts val="200"/>
                        </a:spcAft>
                        <a:defRPr sz="1200" b="1">
                          <a:solidFill>
                            <a:srgbClr val="FFFFFF"/>
                          </a:solidFill>
                          <a:latin typeface="Calibri"/>
                        </a:defRPr>
                      </a:pPr>
                      <a:r>
                        <a:t>Action</a:t>
                      </a:r>
                    </a:p>
                  </a:txBody>
                  <a:tcPr marL="101600" marR="101600" marT="63500" marB="63500">
                    <a:solidFill>
                      <a:srgbClr val="EA580C"/>
                    </a:solidFill>
                  </a:tcPr>
                </a:tc>
              </a:tr>
              <a:tr h="1524">
                <a:tc>
                  <a:txBody>
                    <a:bodyPr/>
                    <a:lstStyle/>
                    <a:p>
                      <a:pPr>
                        <a:spcBef>
                          <a:spcPts val="200"/>
                        </a:spcBef>
                        <a:spcAft>
                          <a:spcPts val="200"/>
                        </a:spcAft>
                        <a:defRPr sz="1200">
                          <a:solidFill>
                            <a:srgbClr val="E0E0E0"/>
                          </a:solidFill>
                          <a:latin typeface="Calibri"/>
                        </a:defRPr>
                      </a:pPr>
                      <a:r>
                        <a:t>Linguistic Content</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Words, phonemes, sentences</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PRESERVE</a:t>
                      </a:r>
                    </a:p>
                  </a:txBody>
                  <a:tcPr marL="101600" marR="101600" marT="63500" marB="63500">
                    <a:solidFill>
                      <a:srgbClr val="142540"/>
                    </a:solidFill>
                  </a:tcPr>
                </a:tc>
              </a:tr>
              <a:tr h="1524">
                <a:tc>
                  <a:txBody>
                    <a:bodyPr/>
                    <a:lstStyle/>
                    <a:p>
                      <a:pPr>
                        <a:spcBef>
                          <a:spcPts val="200"/>
                        </a:spcBef>
                        <a:spcAft>
                          <a:spcPts val="200"/>
                        </a:spcAft>
                        <a:defRPr sz="1200">
                          <a:solidFill>
                            <a:srgbClr val="E0E0E0"/>
                          </a:solidFill>
                          <a:latin typeface="Calibri"/>
                        </a:defRPr>
                      </a:pPr>
                      <a:r>
                        <a:t>Emotion</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Valence, arousal, expressiveness</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PRESERVE</a:t>
                      </a:r>
                    </a:p>
                  </a:txBody>
                  <a:tcPr marL="101600" marR="101600" marT="63500" marB="63500">
                    <a:solidFill>
                      <a:srgbClr val="111F38"/>
                    </a:solidFill>
                  </a:tcPr>
                </a:tc>
              </a:tr>
              <a:tr h="1524">
                <a:tc>
                  <a:txBody>
                    <a:bodyPr/>
                    <a:lstStyle/>
                    <a:p>
                      <a:pPr>
                        <a:spcBef>
                          <a:spcPts val="200"/>
                        </a:spcBef>
                        <a:spcAft>
                          <a:spcPts val="200"/>
                        </a:spcAft>
                        <a:defRPr sz="1200">
                          <a:solidFill>
                            <a:srgbClr val="E0E0E0"/>
                          </a:solidFill>
                          <a:latin typeface="Calibri"/>
                        </a:defRPr>
                      </a:pPr>
                      <a:r>
                        <a:t>Prosody</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Pitch contour, energy, rate</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PRESERVE</a:t>
                      </a:r>
                    </a:p>
                  </a:txBody>
                  <a:tcPr marL="101600" marR="101600" marT="63500" marB="63500">
                    <a:solidFill>
                      <a:srgbClr val="142540"/>
                    </a:solidFill>
                  </a:tcPr>
                </a:tc>
              </a:tr>
              <a:tr h="1524">
                <a:tc>
                  <a:txBody>
                    <a:bodyPr/>
                    <a:lstStyle/>
                    <a:p>
                      <a:pPr>
                        <a:spcBef>
                          <a:spcPts val="200"/>
                        </a:spcBef>
                        <a:spcAft>
                          <a:spcPts val="200"/>
                        </a:spcAft>
                        <a:defRPr sz="1200">
                          <a:solidFill>
                            <a:srgbClr val="E0E0E0"/>
                          </a:solidFill>
                          <a:latin typeface="Calibri"/>
                        </a:defRPr>
                      </a:pPr>
                      <a:r>
                        <a:t>Accent</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Phonetic patterns, vowel shifts</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REPLACE</a:t>
                      </a:r>
                    </a:p>
                  </a:txBody>
                  <a:tcPr marL="101600" marR="101600" marT="63500" marB="63500">
                    <a:solidFill>
                      <a:srgbClr val="111F38"/>
                    </a:solidFill>
                  </a:tcPr>
                </a:tc>
              </a:tr>
              <a:tr h="1524">
                <a:tc>
                  <a:txBody>
                    <a:bodyPr/>
                    <a:lstStyle/>
                    <a:p>
                      <a:pPr>
                        <a:spcBef>
                          <a:spcPts val="200"/>
                        </a:spcBef>
                        <a:spcAft>
                          <a:spcPts val="200"/>
                        </a:spcAft>
                        <a:defRPr sz="1200">
                          <a:solidFill>
                            <a:srgbClr val="E0E0E0"/>
                          </a:solidFill>
                          <a:latin typeface="Calibri"/>
                        </a:defRPr>
                      </a:pPr>
                      <a:r>
                        <a:t>Speaker Identity</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Timbre, voice texture</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DISCARD</a:t>
                      </a:r>
                    </a:p>
                  </a:txBody>
                  <a:tcPr marL="101600" marR="101600" marT="63500" marB="63500">
                    <a:solidFill>
                      <a:srgbClr val="142540"/>
                    </a:solidFill>
                  </a:tcPr>
                </a:tc>
              </a:tr>
            </a:tbl>
          </a:graphicData>
        </a:graphic>
      </p:graphicFrame>
      <p:sp>
        <p:nvSpPr>
          <p:cNvPr id="7" name="Rounded Rectangle 6"/>
          <p:cNvSpPr/>
          <p:nvPr/>
        </p:nvSpPr>
        <p:spPr>
          <a:xfrm>
            <a:off x="914400" y="4389120"/>
            <a:ext cx="10332720" cy="1645920"/>
          </a:xfrm>
          <a:prstGeom prst="roundRect">
            <a:avLst>
              <a:gd name="adj" fmla="val 8000"/>
            </a:avLst>
          </a:prstGeom>
          <a:solidFill>
            <a:srgbClr val="111F38"/>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4572000"/>
            <a:ext cx="9601200" cy="1280160"/>
          </a:xfrm>
          <a:prstGeom prst="rect">
            <a:avLst/>
          </a:prstGeom>
          <a:noFill/>
        </p:spPr>
        <p:txBody>
          <a:bodyPr wrap="square">
            <a:spAutoFit/>
          </a:bodyPr>
          <a:lstStyle/>
          <a:p>
            <a:pPr algn="l">
              <a:lnSpc>
                <a:spcPts val="1725"/>
              </a:lnSpc>
              <a:spcAft>
                <a:spcPts val="0"/>
              </a:spcAft>
              <a:defRPr sz="1500" b="0">
                <a:solidFill>
                  <a:srgbClr val="FFFFFF"/>
                </a:solidFill>
                <a:latin typeface="Calibri"/>
              </a:defRPr>
            </a:pPr>
            <a:r>
              <a:t>Speech carries all 5 attributes simultaneously, entangled together.</a:t>
            </a:r>
          </a:p>
          <a:p>
            <a:pPr algn="l">
              <a:spcBef>
                <a:spcPts val="0"/>
              </a:spcBef>
              <a:spcAft>
                <a:spcPts val="400"/>
              </a:spcAft>
              <a:defRPr sz="600" b="0">
                <a:solidFill>
                  <a:srgbClr val="FFFFFF"/>
                </a:solidFill>
                <a:latin typeface="Calibri"/>
              </a:defRPr>
            </a:pPr>
          </a:p>
          <a:p>
            <a:pPr algn="l">
              <a:spcBef>
                <a:spcPts val="0"/>
              </a:spcBef>
              <a:spcAft>
                <a:spcPts val="400"/>
              </a:spcAft>
              <a:defRPr sz="1400" b="0">
                <a:solidFill>
                  <a:srgbClr val="A8A29E"/>
                </a:solidFill>
                <a:latin typeface="Calibri"/>
              </a:defRPr>
            </a:pPr>
            <a:r>
              <a:t>AccentShift extracts content + emotion + prosody, discards accent + speaker identity,</a:t>
            </a:r>
          </a:p>
          <a:p>
            <a:pPr algn="l">
              <a:spcBef>
                <a:spcPts val="0"/>
              </a:spcBef>
              <a:spcAft>
                <a:spcPts val="400"/>
              </a:spcAft>
              <a:defRPr sz="1400" b="0">
                <a:solidFill>
                  <a:srgbClr val="A8A29E"/>
                </a:solidFill>
                <a:latin typeface="Calibri"/>
              </a:defRPr>
            </a:pPr>
            <a:r>
              <a:t>and re-synthesises with a target accent reference.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Architecture Overview</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End-to-end pipeline — Architecture A</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2926080"/>
            <a:ext cx="1371600" cy="731520"/>
          </a:xfrm>
          <a:prstGeom prst="roundRect">
            <a:avLst>
              <a:gd name="adj" fmla="val 8000"/>
            </a:avLst>
          </a:prstGeom>
          <a:solidFill>
            <a:srgbClr val="111F38"/>
          </a:solidFill>
          <a:ln w="19050">
            <a:solidFill>
              <a:srgbClr val="A8A29E"/>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spcBef>
                <a:spcPts val="0"/>
              </a:spcBef>
              <a:spcAft>
                <a:spcPts val="0"/>
              </a:spcAft>
              <a:defRPr sz="1100" b="1">
                <a:solidFill>
                  <a:srgbClr val="FFFFFF"/>
                </a:solidFill>
                <a:latin typeface="Calibri"/>
              </a:defRPr>
            </a:pPr>
            <a:r>
              <a:t>Input Audio</a:t>
            </a:r>
            <a:br/>
            <a:r>
              <a:t>(any accent)</a:t>
            </a:r>
          </a:p>
        </p:txBody>
      </p:sp>
      <p:sp>
        <p:nvSpPr>
          <p:cNvPr id="7" name="Right Arrow 6"/>
          <p:cNvSpPr/>
          <p:nvPr/>
        </p:nvSpPr>
        <p:spPr>
          <a:xfrm>
            <a:off x="1874519" y="3200400"/>
            <a:ext cx="457200" cy="201168"/>
          </a:xfrm>
          <a:prstGeom prst="rightArrow">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23160" y="1554480"/>
            <a:ext cx="1828800" cy="868680"/>
          </a:xfrm>
          <a:prstGeom prst="roundRect">
            <a:avLst>
              <a:gd name="adj" fmla="val 8000"/>
            </a:avLst>
          </a:prstGeom>
          <a:solidFill>
            <a:srgbClr val="111F38"/>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1645920"/>
            <a:ext cx="1554480" cy="320040"/>
          </a:xfrm>
          <a:prstGeom prst="rect">
            <a:avLst/>
          </a:prstGeom>
          <a:noFill/>
        </p:spPr>
        <p:txBody>
          <a:bodyPr wrap="square">
            <a:spAutoFit/>
          </a:bodyPr>
          <a:lstStyle/>
          <a:p>
            <a:pPr algn="l">
              <a:lnSpc>
                <a:spcPts val="1380"/>
              </a:lnSpc>
              <a:spcAft>
                <a:spcPts val="0"/>
              </a:spcAft>
              <a:defRPr sz="1200" b="1">
                <a:solidFill>
                  <a:srgbClr val="EA580C"/>
                </a:solidFill>
                <a:latin typeface="Calibri"/>
              </a:defRPr>
            </a:pPr>
            <a:r>
              <a:t>Whisper large-v3</a:t>
            </a:r>
          </a:p>
        </p:txBody>
      </p:sp>
      <p:sp>
        <p:nvSpPr>
          <p:cNvPr id="10" name="TextBox 9"/>
          <p:cNvSpPr txBox="1"/>
          <p:nvPr/>
        </p:nvSpPr>
        <p:spPr>
          <a:xfrm>
            <a:off x="2560320" y="1993392"/>
            <a:ext cx="1554480" cy="32004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Transcript + timing</a:t>
            </a:r>
          </a:p>
        </p:txBody>
      </p:sp>
      <p:sp>
        <p:nvSpPr>
          <p:cNvPr id="11" name="Rounded Rectangle 10"/>
          <p:cNvSpPr/>
          <p:nvPr/>
        </p:nvSpPr>
        <p:spPr>
          <a:xfrm>
            <a:off x="2423160" y="2651760"/>
            <a:ext cx="1828800" cy="868680"/>
          </a:xfrm>
          <a:prstGeom prst="roundRect">
            <a:avLst>
              <a:gd name="adj" fmla="val 8000"/>
            </a:avLst>
          </a:prstGeom>
          <a:solidFill>
            <a:srgbClr val="111F38"/>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2743200"/>
            <a:ext cx="1554480" cy="320040"/>
          </a:xfrm>
          <a:prstGeom prst="rect">
            <a:avLst/>
          </a:prstGeom>
          <a:noFill/>
        </p:spPr>
        <p:txBody>
          <a:bodyPr wrap="square">
            <a:spAutoFit/>
          </a:bodyPr>
          <a:lstStyle/>
          <a:p>
            <a:pPr algn="l">
              <a:lnSpc>
                <a:spcPts val="1380"/>
              </a:lnSpc>
              <a:spcAft>
                <a:spcPts val="0"/>
              </a:spcAft>
              <a:defRPr sz="1200" b="1">
                <a:solidFill>
                  <a:srgbClr val="DC2626"/>
                </a:solidFill>
                <a:latin typeface="Calibri"/>
              </a:defRPr>
            </a:pPr>
            <a:r>
              <a:t>wav2vec2 SER</a:t>
            </a:r>
          </a:p>
        </p:txBody>
      </p:sp>
      <p:sp>
        <p:nvSpPr>
          <p:cNvPr id="13" name="TextBox 12"/>
          <p:cNvSpPr txBox="1"/>
          <p:nvPr/>
        </p:nvSpPr>
        <p:spPr>
          <a:xfrm>
            <a:off x="2560320" y="3090672"/>
            <a:ext cx="1554480" cy="32004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Emotion (V/A/D)</a:t>
            </a:r>
          </a:p>
        </p:txBody>
      </p:sp>
      <p:sp>
        <p:nvSpPr>
          <p:cNvPr id="14" name="Rounded Rectangle 13"/>
          <p:cNvSpPr/>
          <p:nvPr/>
        </p:nvSpPr>
        <p:spPr>
          <a:xfrm>
            <a:off x="2423160" y="3749039"/>
            <a:ext cx="1828800" cy="868680"/>
          </a:xfrm>
          <a:prstGeom prst="roundRect">
            <a:avLst>
              <a:gd name="adj" fmla="val 8000"/>
            </a:avLst>
          </a:prstGeom>
          <a:solidFill>
            <a:srgbClr val="111F38"/>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3840479"/>
            <a:ext cx="1554480" cy="320040"/>
          </a:xfrm>
          <a:prstGeom prst="rect">
            <a:avLst/>
          </a:prstGeom>
          <a:noFill/>
        </p:spPr>
        <p:txBody>
          <a:bodyPr wrap="square">
            <a:spAutoFit/>
          </a:bodyPr>
          <a:lstStyle/>
          <a:p>
            <a:pPr algn="l">
              <a:lnSpc>
                <a:spcPts val="1380"/>
              </a:lnSpc>
              <a:spcAft>
                <a:spcPts val="0"/>
              </a:spcAft>
              <a:defRPr sz="1200" b="1">
                <a:solidFill>
                  <a:srgbClr val="0D9488"/>
                </a:solidFill>
                <a:latin typeface="Calibri"/>
              </a:defRPr>
            </a:pPr>
            <a:r>
              <a:t>pyworld</a:t>
            </a:r>
          </a:p>
        </p:txBody>
      </p:sp>
      <p:sp>
        <p:nvSpPr>
          <p:cNvPr id="16" name="TextBox 15"/>
          <p:cNvSpPr txBox="1"/>
          <p:nvPr/>
        </p:nvSpPr>
        <p:spPr>
          <a:xfrm>
            <a:off x="2560320" y="4187951"/>
            <a:ext cx="1554480" cy="32004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F0 + Energy</a:t>
            </a:r>
          </a:p>
        </p:txBody>
      </p:sp>
      <p:sp>
        <p:nvSpPr>
          <p:cNvPr id="17" name="TextBox 16"/>
          <p:cNvSpPr txBox="1"/>
          <p:nvPr/>
        </p:nvSpPr>
        <p:spPr>
          <a:xfrm>
            <a:off x="2423160" y="1188720"/>
            <a:ext cx="1828800" cy="274320"/>
          </a:xfrm>
          <a:prstGeom prst="rect">
            <a:avLst/>
          </a:prstGeom>
          <a:noFill/>
        </p:spPr>
        <p:txBody>
          <a:bodyPr wrap="square">
            <a:spAutoFit/>
          </a:bodyPr>
          <a:lstStyle/>
          <a:p>
            <a:pPr algn="ctr">
              <a:lnSpc>
                <a:spcPts val="1035"/>
              </a:lnSpc>
              <a:spcAft>
                <a:spcPts val="0"/>
              </a:spcAft>
              <a:defRPr sz="900" b="1">
                <a:solidFill>
                  <a:srgbClr val="78716C"/>
                </a:solidFill>
                <a:latin typeface="Calibri"/>
              </a:defRPr>
            </a:pPr>
            <a:r>
              <a:t>FEATURE EXTRACTION</a:t>
            </a:r>
          </a:p>
        </p:txBody>
      </p:sp>
      <p:sp>
        <p:nvSpPr>
          <p:cNvPr id="18" name="Right Arrow 17"/>
          <p:cNvSpPr/>
          <p:nvPr/>
        </p:nvSpPr>
        <p:spPr>
          <a:xfrm>
            <a:off x="4343400" y="2560320"/>
            <a:ext cx="457200" cy="201168"/>
          </a:xfrm>
          <a:prstGeom prst="rightArrow">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4343400" y="3657600"/>
            <a:ext cx="457200" cy="201168"/>
          </a:xfrm>
          <a:prstGeom prst="rightArrow">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1188720"/>
            <a:ext cx="2011680" cy="274320"/>
          </a:xfrm>
          <a:prstGeom prst="rect">
            <a:avLst/>
          </a:prstGeom>
          <a:noFill/>
        </p:spPr>
        <p:txBody>
          <a:bodyPr wrap="square">
            <a:spAutoFit/>
          </a:bodyPr>
          <a:lstStyle/>
          <a:p>
            <a:pPr algn="ctr">
              <a:lnSpc>
                <a:spcPts val="1035"/>
              </a:lnSpc>
              <a:spcAft>
                <a:spcPts val="0"/>
              </a:spcAft>
              <a:defRPr sz="900" b="1">
                <a:solidFill>
                  <a:srgbClr val="78716C"/>
                </a:solidFill>
                <a:latin typeface="Calibri"/>
              </a:defRPr>
            </a:pPr>
            <a:r>
              <a:t>DUAL CONVERSION ENGINE</a:t>
            </a:r>
          </a:p>
        </p:txBody>
      </p:sp>
      <p:sp>
        <p:nvSpPr>
          <p:cNvPr id="21" name="Rounded Rectangle 20"/>
          <p:cNvSpPr/>
          <p:nvPr/>
        </p:nvSpPr>
        <p:spPr>
          <a:xfrm>
            <a:off x="4892040" y="1554480"/>
            <a:ext cx="2011680" cy="1463040"/>
          </a:xfrm>
          <a:prstGeom prst="roundRect">
            <a:avLst>
              <a:gd name="adj" fmla="val 8000"/>
            </a:avLst>
          </a:prstGeom>
          <a:solidFill>
            <a:srgbClr val="111F38"/>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1691640"/>
            <a:ext cx="1737360" cy="274320"/>
          </a:xfrm>
          <a:prstGeom prst="rect">
            <a:avLst/>
          </a:prstGeom>
          <a:noFill/>
        </p:spPr>
        <p:txBody>
          <a:bodyPr wrap="square">
            <a:spAutoFit/>
          </a:bodyPr>
          <a:lstStyle/>
          <a:p>
            <a:pPr algn="l">
              <a:lnSpc>
                <a:spcPts val="1495"/>
              </a:lnSpc>
              <a:spcAft>
                <a:spcPts val="0"/>
              </a:spcAft>
              <a:defRPr sz="1300" b="1">
                <a:solidFill>
                  <a:srgbClr val="EA580C"/>
                </a:solidFill>
                <a:latin typeface="Calibri"/>
              </a:defRPr>
            </a:pPr>
            <a:r>
              <a:t>Seed-VC V2</a:t>
            </a:r>
          </a:p>
        </p:txBody>
      </p:sp>
      <p:sp>
        <p:nvSpPr>
          <p:cNvPr id="23" name="TextBox 22"/>
          <p:cNvSpPr txBox="1"/>
          <p:nvPr/>
        </p:nvSpPr>
        <p:spPr>
          <a:xfrm>
            <a:off x="5029200" y="2011680"/>
            <a:ext cx="1737360" cy="82296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AR Transformer</a:t>
            </a:r>
            <a:br/>
            <a:r>
              <a:t>+ Conditional Flow Matching</a:t>
            </a:r>
            <a:br/>
            <a:r>
              <a:t>Style-aware conversion</a:t>
            </a:r>
          </a:p>
        </p:txBody>
      </p:sp>
      <p:sp>
        <p:nvSpPr>
          <p:cNvPr id="24" name="Rounded Rectangle 23"/>
          <p:cNvSpPr/>
          <p:nvPr/>
        </p:nvSpPr>
        <p:spPr>
          <a:xfrm>
            <a:off x="4892040" y="3200400"/>
            <a:ext cx="2011680" cy="1463040"/>
          </a:xfrm>
          <a:prstGeom prst="roundRect">
            <a:avLst>
              <a:gd name="adj" fmla="val 8000"/>
            </a:avLst>
          </a:prstGeom>
          <a:solidFill>
            <a:srgbClr val="111F38"/>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3337560"/>
            <a:ext cx="1737360" cy="274320"/>
          </a:xfrm>
          <a:prstGeom prst="rect">
            <a:avLst/>
          </a:prstGeom>
          <a:noFill/>
        </p:spPr>
        <p:txBody>
          <a:bodyPr wrap="square">
            <a:spAutoFit/>
          </a:bodyPr>
          <a:lstStyle/>
          <a:p>
            <a:pPr algn="l">
              <a:lnSpc>
                <a:spcPts val="1495"/>
              </a:lnSpc>
              <a:spcAft>
                <a:spcPts val="0"/>
              </a:spcAft>
              <a:defRPr sz="1300" b="1">
                <a:solidFill>
                  <a:srgbClr val="0D9488"/>
                </a:solidFill>
                <a:latin typeface="Calibri"/>
              </a:defRPr>
            </a:pPr>
            <a:r>
              <a:t>Vevo-Voice</a:t>
            </a:r>
          </a:p>
        </p:txBody>
      </p:sp>
      <p:sp>
        <p:nvSpPr>
          <p:cNvPr id="26" name="TextBox 25"/>
          <p:cNvSpPr txBox="1"/>
          <p:nvPr/>
        </p:nvSpPr>
        <p:spPr>
          <a:xfrm>
            <a:off x="5029200" y="3657600"/>
            <a:ext cx="1737360" cy="82296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VQ-VAE + Flow Matching</a:t>
            </a:r>
            <a:br/>
            <a:r>
              <a:t>101k hrs (Emilia)</a:t>
            </a:r>
            <a:br/>
            <a:r>
              <a:t>Content-focused</a:t>
            </a:r>
          </a:p>
        </p:txBody>
      </p:sp>
      <p:sp>
        <p:nvSpPr>
          <p:cNvPr id="27" name="Right Arrow 26"/>
          <p:cNvSpPr/>
          <p:nvPr/>
        </p:nvSpPr>
        <p:spPr>
          <a:xfrm>
            <a:off x="6995160" y="2560320"/>
            <a:ext cx="365760" cy="201168"/>
          </a:xfrm>
          <a:prstGeom prst="rightArrow">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6995160" y="3657600"/>
            <a:ext cx="365760" cy="201168"/>
          </a:xfrm>
          <a:prstGeom prst="rightArrow">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1188720"/>
            <a:ext cx="1828800" cy="274320"/>
          </a:xfrm>
          <a:prstGeom prst="rect">
            <a:avLst/>
          </a:prstGeom>
          <a:noFill/>
        </p:spPr>
        <p:txBody>
          <a:bodyPr wrap="square">
            <a:spAutoFit/>
          </a:bodyPr>
          <a:lstStyle/>
          <a:p>
            <a:pPr algn="ctr">
              <a:lnSpc>
                <a:spcPts val="1035"/>
              </a:lnSpc>
              <a:spcAft>
                <a:spcPts val="0"/>
              </a:spcAft>
              <a:defRPr sz="900" b="1">
                <a:solidFill>
                  <a:srgbClr val="78716C"/>
                </a:solidFill>
                <a:latin typeface="Calibri"/>
              </a:defRPr>
            </a:pPr>
            <a:r>
              <a:t>QUALITY GATE</a:t>
            </a:r>
          </a:p>
        </p:txBody>
      </p:sp>
      <p:sp>
        <p:nvSpPr>
          <p:cNvPr id="30" name="Rounded Rectangle 29"/>
          <p:cNvSpPr/>
          <p:nvPr/>
        </p:nvSpPr>
        <p:spPr>
          <a:xfrm>
            <a:off x="7452360" y="1554480"/>
            <a:ext cx="1828800" cy="1828800"/>
          </a:xfrm>
          <a:prstGeom prst="roundRect">
            <a:avLst>
              <a:gd name="adj" fmla="val 8000"/>
            </a:avLst>
          </a:prstGeom>
          <a:solidFill>
            <a:srgbClr val="111F38"/>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62088" y="1691640"/>
            <a:ext cx="1609344" cy="274320"/>
          </a:xfrm>
          <a:prstGeom prst="rect">
            <a:avLst/>
          </a:prstGeom>
          <a:noFill/>
        </p:spPr>
        <p:txBody>
          <a:bodyPr wrap="square">
            <a:spAutoFit/>
          </a:bodyPr>
          <a:lstStyle/>
          <a:p>
            <a:pPr algn="l">
              <a:lnSpc>
                <a:spcPts val="1380"/>
              </a:lnSpc>
              <a:spcAft>
                <a:spcPts val="0"/>
              </a:spcAft>
              <a:defRPr sz="1200" b="1">
                <a:solidFill>
                  <a:srgbClr val="EAB308"/>
                </a:solidFill>
                <a:latin typeface="Calibri"/>
              </a:defRPr>
            </a:pPr>
            <a:r>
              <a:t>Quality Selector</a:t>
            </a:r>
          </a:p>
        </p:txBody>
      </p:sp>
      <p:sp>
        <p:nvSpPr>
          <p:cNvPr id="32" name="TextBox 31"/>
          <p:cNvSpPr txBox="1"/>
          <p:nvPr/>
        </p:nvSpPr>
        <p:spPr>
          <a:xfrm>
            <a:off x="7562088" y="2057400"/>
            <a:ext cx="1609344" cy="118872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0.4 × Emotion Sim</a:t>
            </a:r>
            <a:br/>
            <a:r>
              <a:t>0.4 × (1 − WER)</a:t>
            </a:r>
            <a:br/>
            <a:r>
              <a:t>0.2 × (UTMOS/5)</a:t>
            </a:r>
            <a:br/>
            <a:br/>
            <a:r>
              <a:t>Best candidate</a:t>
            </a:r>
            <a:br/>
            <a:r>
              <a:t>per segment</a:t>
            </a:r>
          </a:p>
        </p:txBody>
      </p:sp>
      <p:sp>
        <p:nvSpPr>
          <p:cNvPr id="33" name="Down Arrow 32"/>
          <p:cNvSpPr/>
          <p:nvPr/>
        </p:nvSpPr>
        <p:spPr>
          <a:xfrm>
            <a:off x="8275320" y="3474720"/>
            <a:ext cx="201168" cy="457200"/>
          </a:xfrm>
          <a:prstGeom prst="downArrow">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52360" y="4023360"/>
            <a:ext cx="1828800" cy="1188720"/>
          </a:xfrm>
          <a:prstGeom prst="roundRect">
            <a:avLst>
              <a:gd name="adj" fmla="val 8000"/>
            </a:avLst>
          </a:prstGeom>
          <a:solidFill>
            <a:srgbClr val="111F38"/>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62088" y="4160520"/>
            <a:ext cx="1609344" cy="274320"/>
          </a:xfrm>
          <a:prstGeom prst="rect">
            <a:avLst/>
          </a:prstGeom>
          <a:noFill/>
        </p:spPr>
        <p:txBody>
          <a:bodyPr wrap="square">
            <a:spAutoFit/>
          </a:bodyPr>
          <a:lstStyle/>
          <a:p>
            <a:pPr algn="l">
              <a:lnSpc>
                <a:spcPts val="1380"/>
              </a:lnSpc>
              <a:spcAft>
                <a:spcPts val="0"/>
              </a:spcAft>
              <a:defRPr sz="1200" b="1">
                <a:solidFill>
                  <a:srgbClr val="DC2626"/>
                </a:solidFill>
                <a:latin typeface="Calibri"/>
              </a:defRPr>
            </a:pPr>
            <a:r>
              <a:t>Emotion Correction</a:t>
            </a:r>
          </a:p>
        </p:txBody>
      </p:sp>
      <p:sp>
        <p:nvSpPr>
          <p:cNvPr id="36" name="TextBox 35"/>
          <p:cNvSpPr txBox="1"/>
          <p:nvPr/>
        </p:nvSpPr>
        <p:spPr>
          <a:xfrm>
            <a:off x="7562088" y="4480560"/>
            <a:ext cx="1609344" cy="64008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F0 rescaling ±20%</a:t>
            </a:r>
            <a:br/>
            <a:r>
              <a:t>Energy warping</a:t>
            </a:r>
            <a:br/>
            <a:r>
              <a:t>if cos_sim &lt; 0.85</a:t>
            </a:r>
          </a:p>
        </p:txBody>
      </p:sp>
      <p:sp>
        <p:nvSpPr>
          <p:cNvPr id="37" name="Right Arrow 36"/>
          <p:cNvSpPr/>
          <p:nvPr/>
        </p:nvSpPr>
        <p:spPr>
          <a:xfrm>
            <a:off x="9372600" y="4572000"/>
            <a:ext cx="457200" cy="201168"/>
          </a:xfrm>
          <a:prstGeom prst="rightArrow">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921240" y="3840480"/>
            <a:ext cx="1554480" cy="1371600"/>
          </a:xfrm>
          <a:prstGeom prst="roundRect">
            <a:avLst>
              <a:gd name="adj" fmla="val 8000"/>
            </a:avLst>
          </a:prstGeom>
          <a:solidFill>
            <a:srgbClr val="111F38"/>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12680" y="3977639"/>
            <a:ext cx="1371600" cy="274320"/>
          </a:xfrm>
          <a:prstGeom prst="rect">
            <a:avLst/>
          </a:prstGeom>
          <a:noFill/>
        </p:spPr>
        <p:txBody>
          <a:bodyPr wrap="square">
            <a:spAutoFit/>
          </a:bodyPr>
          <a:lstStyle/>
          <a:p>
            <a:pPr algn="l">
              <a:lnSpc>
                <a:spcPts val="1495"/>
              </a:lnSpc>
              <a:spcAft>
                <a:spcPts val="0"/>
              </a:spcAft>
              <a:defRPr sz="1300" b="1">
                <a:solidFill>
                  <a:srgbClr val="22C55E"/>
                </a:solidFill>
                <a:latin typeface="Calibri"/>
              </a:defRPr>
            </a:pPr>
            <a:r>
              <a:t>Output Audio</a:t>
            </a:r>
          </a:p>
        </p:txBody>
      </p:sp>
      <p:sp>
        <p:nvSpPr>
          <p:cNvPr id="40" name="TextBox 39"/>
          <p:cNvSpPr txBox="1"/>
          <p:nvPr/>
        </p:nvSpPr>
        <p:spPr>
          <a:xfrm>
            <a:off x="10012680" y="4297680"/>
            <a:ext cx="1371600" cy="73152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Target accent ✓</a:t>
            </a:r>
            <a:br/>
            <a:r>
              <a:t>Emotion ✓</a:t>
            </a:r>
            <a:br/>
            <a:r>
              <a:t>Content ✓</a:t>
            </a:r>
            <a:br/>
            <a:r>
              <a:t>Speaker-agnostic ✓</a:t>
            </a:r>
          </a:p>
        </p:txBody>
      </p:sp>
      <p:sp>
        <p:nvSpPr>
          <p:cNvPr id="41" name="TextBox 40"/>
          <p:cNvSpPr txBox="1"/>
          <p:nvPr/>
        </p:nvSpPr>
        <p:spPr>
          <a:xfrm>
            <a:off x="457200" y="5760720"/>
            <a:ext cx="10972800" cy="274320"/>
          </a:xfrm>
          <a:prstGeom prst="rect">
            <a:avLst/>
          </a:prstGeom>
          <a:noFill/>
        </p:spPr>
        <p:txBody>
          <a:bodyPr wrap="square">
            <a:spAutoFit/>
          </a:bodyPr>
          <a:lstStyle/>
          <a:p>
            <a:pPr algn="ctr">
              <a:lnSpc>
                <a:spcPts val="1150"/>
              </a:lnSpc>
              <a:spcAft>
                <a:spcPts val="0"/>
              </a:spcAft>
              <a:defRPr sz="1000" b="0">
                <a:solidFill>
                  <a:srgbClr val="334455"/>
                </a:solidFill>
                <a:latin typeface="Calibri"/>
              </a:defRPr>
            </a:pPr>
            <a:r>
              <a:t>Vocoder: BigVGAN-v2  ·  All audio at 16kHz mono  ·  VAD segments ≤ 30s  ·  Models loaded once at startup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Our Innovation</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Dual-engine ensemble with smart quality selection</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1554480"/>
            <a:ext cx="4572000" cy="2926080"/>
          </a:xfrm>
          <a:prstGeom prst="roundRect">
            <a:avLst>
              <a:gd name="adj" fmla="val 8000"/>
            </a:avLst>
          </a:prstGeom>
          <a:solidFill>
            <a:srgbClr val="111F38"/>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3840480" cy="365760"/>
          </a:xfrm>
          <a:prstGeom prst="rect">
            <a:avLst/>
          </a:prstGeom>
          <a:noFill/>
        </p:spPr>
        <p:txBody>
          <a:bodyPr wrap="square">
            <a:spAutoFit/>
          </a:bodyPr>
          <a:lstStyle/>
          <a:p>
            <a:pPr algn="l">
              <a:lnSpc>
                <a:spcPts val="2529"/>
              </a:lnSpc>
              <a:spcAft>
                <a:spcPts val="0"/>
              </a:spcAft>
              <a:defRPr sz="2200" b="1">
                <a:solidFill>
                  <a:srgbClr val="EA580C"/>
                </a:solidFill>
                <a:latin typeface="Calibri"/>
              </a:defRPr>
            </a:pPr>
            <a:r>
              <a:t>Seed-VC V2</a:t>
            </a:r>
          </a:p>
        </p:txBody>
      </p:sp>
      <p:sp>
        <p:nvSpPr>
          <p:cNvPr id="8" name="TextBox 7"/>
          <p:cNvSpPr txBox="1"/>
          <p:nvPr/>
        </p:nvSpPr>
        <p:spPr>
          <a:xfrm>
            <a:off x="1097280" y="2148840"/>
            <a:ext cx="3840480" cy="274320"/>
          </a:xfrm>
          <a:prstGeom prst="rect">
            <a:avLst/>
          </a:prstGeom>
          <a:noFill/>
        </p:spPr>
        <p:txBody>
          <a:bodyPr wrap="square">
            <a:spAutoFit/>
          </a:bodyPr>
          <a:lstStyle/>
          <a:p>
            <a:pPr algn="l">
              <a:lnSpc>
                <a:spcPts val="1150"/>
              </a:lnSpc>
              <a:spcAft>
                <a:spcPts val="0"/>
              </a:spcAft>
              <a:defRPr sz="1000" b="1">
                <a:solidFill>
                  <a:srgbClr val="78716C"/>
                </a:solidFill>
                <a:latin typeface="Calibri"/>
              </a:defRPr>
            </a:pPr>
            <a:r>
              <a:t>PRIMARY ENGINE</a:t>
            </a:r>
          </a:p>
        </p:txBody>
      </p:sp>
      <p:sp>
        <p:nvSpPr>
          <p:cNvPr id="9" name="TextBox 8"/>
          <p:cNvSpPr txBox="1"/>
          <p:nvPr/>
        </p:nvSpPr>
        <p:spPr>
          <a:xfrm>
            <a:off x="1097280" y="2560320"/>
            <a:ext cx="3840480" cy="1828800"/>
          </a:xfrm>
          <a:prstGeom prst="rect">
            <a:avLst/>
          </a:prstGeom>
          <a:noFill/>
        </p:spPr>
        <p:txBody>
          <a:bodyPr wrap="square">
            <a:spAutoFit/>
          </a:bodyPr>
          <a:lstStyle/>
          <a:p>
            <a:pPr algn="l">
              <a:lnSpc>
                <a:spcPts val="1495"/>
              </a:lnSpc>
              <a:spcAft>
                <a:spcPts val="0"/>
              </a:spcAft>
              <a:defRPr sz="1300" b="0">
                <a:solidFill>
                  <a:srgbClr val="FFFFFF"/>
                </a:solidFill>
                <a:latin typeface="Calibri"/>
              </a:defRPr>
            </a:pPr>
          </a:p>
          <a:p>
            <a:pPr algn="l">
              <a:spcBef>
                <a:spcPts val="0"/>
              </a:spcBef>
              <a:spcAft>
                <a:spcPts val="600"/>
              </a:spcAft>
              <a:defRPr sz="1200" b="0">
                <a:solidFill>
                  <a:srgbClr val="E0E0E0"/>
                </a:solidFill>
                <a:latin typeface="Calibri"/>
              </a:defRPr>
            </a:pPr>
            <a:r>
              <a:t>▸  AR Transformer + Conditional Flow Matching (CFM)</a:t>
            </a:r>
          </a:p>
          <a:p>
            <a:pPr algn="l">
              <a:spcBef>
                <a:spcPts val="0"/>
              </a:spcBef>
              <a:spcAft>
                <a:spcPts val="600"/>
              </a:spcAft>
              <a:defRPr sz="1200" b="0">
                <a:solidFill>
                  <a:srgbClr val="E0E0E0"/>
                </a:solidFill>
                <a:latin typeface="Calibri"/>
              </a:defRPr>
            </a:pPr>
            <a:r>
              <a:t>▸  Explicit --convert-style mode for accent transfer</a:t>
            </a:r>
          </a:p>
          <a:p>
            <a:pPr algn="l">
              <a:spcBef>
                <a:spcPts val="0"/>
              </a:spcBef>
              <a:spcAft>
                <a:spcPts val="600"/>
              </a:spcAft>
              <a:defRPr sz="1200" b="0">
                <a:solidFill>
                  <a:srgbClr val="E0E0E0"/>
                </a:solidFill>
                <a:latin typeface="Calibri"/>
              </a:defRPr>
            </a:pPr>
            <a:r>
              <a:t>▸  Intelligibility &amp; similarity CFG controls (0.7)</a:t>
            </a:r>
          </a:p>
          <a:p>
            <a:pPr algn="l">
              <a:spcBef>
                <a:spcPts val="0"/>
              </a:spcBef>
              <a:spcAft>
                <a:spcPts val="600"/>
              </a:spcAft>
              <a:defRPr sz="1200" b="0">
                <a:solidFill>
                  <a:srgbClr val="E0E0E0"/>
                </a:solidFill>
                <a:latin typeface="Calibri"/>
              </a:defRPr>
            </a:pPr>
            <a:r>
              <a:t>▸  30-step diffusion for high-quality synthesis</a:t>
            </a:r>
          </a:p>
          <a:p>
            <a:pPr algn="l">
              <a:spcBef>
                <a:spcPts val="0"/>
              </a:spcBef>
              <a:spcAft>
                <a:spcPts val="600"/>
              </a:spcAft>
              <a:defRPr sz="1200" b="0">
                <a:solidFill>
                  <a:srgbClr val="E0E0E0"/>
                </a:solidFill>
                <a:latin typeface="Calibri"/>
              </a:defRPr>
            </a:pPr>
            <a:r>
              <a:t>▸  Open-weight, MIT license (Plachtaa/seed-vc)</a:t>
            </a:r>
          </a:p>
        </p:txBody>
      </p:sp>
      <p:sp>
        <p:nvSpPr>
          <p:cNvPr id="10" name="Rounded Rectangle 9"/>
          <p:cNvSpPr/>
          <p:nvPr/>
        </p:nvSpPr>
        <p:spPr>
          <a:xfrm>
            <a:off x="5943600" y="1554480"/>
            <a:ext cx="4572000" cy="2926080"/>
          </a:xfrm>
          <a:prstGeom prst="roundRect">
            <a:avLst>
              <a:gd name="adj" fmla="val 8000"/>
            </a:avLst>
          </a:prstGeom>
          <a:solidFill>
            <a:srgbClr val="111F38"/>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37360"/>
            <a:ext cx="3840480" cy="365760"/>
          </a:xfrm>
          <a:prstGeom prst="rect">
            <a:avLst/>
          </a:prstGeom>
          <a:noFill/>
        </p:spPr>
        <p:txBody>
          <a:bodyPr wrap="square">
            <a:spAutoFit/>
          </a:bodyPr>
          <a:lstStyle/>
          <a:p>
            <a:pPr algn="l">
              <a:lnSpc>
                <a:spcPts val="2529"/>
              </a:lnSpc>
              <a:spcAft>
                <a:spcPts val="0"/>
              </a:spcAft>
              <a:defRPr sz="2200" b="1">
                <a:solidFill>
                  <a:srgbClr val="0D9488"/>
                </a:solidFill>
                <a:latin typeface="Calibri"/>
              </a:defRPr>
            </a:pPr>
            <a:r>
              <a:t>Vevo-Voice (Amphion)</a:t>
            </a:r>
          </a:p>
        </p:txBody>
      </p:sp>
      <p:sp>
        <p:nvSpPr>
          <p:cNvPr id="12" name="TextBox 11"/>
          <p:cNvSpPr txBox="1"/>
          <p:nvPr/>
        </p:nvSpPr>
        <p:spPr>
          <a:xfrm>
            <a:off x="6309360" y="2148840"/>
            <a:ext cx="3840480" cy="274320"/>
          </a:xfrm>
          <a:prstGeom prst="rect">
            <a:avLst/>
          </a:prstGeom>
          <a:noFill/>
        </p:spPr>
        <p:txBody>
          <a:bodyPr wrap="square">
            <a:spAutoFit/>
          </a:bodyPr>
          <a:lstStyle/>
          <a:p>
            <a:pPr algn="l">
              <a:lnSpc>
                <a:spcPts val="1150"/>
              </a:lnSpc>
              <a:spcAft>
                <a:spcPts val="0"/>
              </a:spcAft>
              <a:defRPr sz="1000" b="1">
                <a:solidFill>
                  <a:srgbClr val="78716C"/>
                </a:solidFill>
                <a:latin typeface="Calibri"/>
              </a:defRPr>
            </a:pPr>
            <a:r>
              <a:t>ENSEMBLE ENGINE</a:t>
            </a:r>
          </a:p>
        </p:txBody>
      </p:sp>
      <p:sp>
        <p:nvSpPr>
          <p:cNvPr id="13" name="TextBox 12"/>
          <p:cNvSpPr txBox="1"/>
          <p:nvPr/>
        </p:nvSpPr>
        <p:spPr>
          <a:xfrm>
            <a:off x="6309360" y="2560320"/>
            <a:ext cx="3840480" cy="1828800"/>
          </a:xfrm>
          <a:prstGeom prst="rect">
            <a:avLst/>
          </a:prstGeom>
          <a:noFill/>
        </p:spPr>
        <p:txBody>
          <a:bodyPr wrap="square">
            <a:spAutoFit/>
          </a:bodyPr>
          <a:lstStyle/>
          <a:p>
            <a:pPr algn="l">
              <a:lnSpc>
                <a:spcPts val="1495"/>
              </a:lnSpc>
              <a:spcAft>
                <a:spcPts val="0"/>
              </a:spcAft>
              <a:defRPr sz="1300" b="0">
                <a:solidFill>
                  <a:srgbClr val="FFFFFF"/>
                </a:solidFill>
                <a:latin typeface="Calibri"/>
              </a:defRPr>
            </a:pPr>
          </a:p>
          <a:p>
            <a:pPr algn="l">
              <a:spcBef>
                <a:spcPts val="0"/>
              </a:spcBef>
              <a:spcAft>
                <a:spcPts val="600"/>
              </a:spcAft>
              <a:defRPr sz="1200" b="0">
                <a:solidFill>
                  <a:srgbClr val="E0E0E0"/>
                </a:solidFill>
                <a:latin typeface="Calibri"/>
              </a:defRPr>
            </a:pPr>
            <a:r>
              <a:t>▸  VQ-VAE content tokeniser (codebook size 32)</a:t>
            </a:r>
          </a:p>
          <a:p>
            <a:pPr algn="l">
              <a:spcBef>
                <a:spcPts val="0"/>
              </a:spcBef>
              <a:spcAft>
                <a:spcPts val="600"/>
              </a:spcAft>
              <a:defRPr sz="1200" b="0">
                <a:solidFill>
                  <a:srgbClr val="E0E0E0"/>
                </a:solidFill>
                <a:latin typeface="Calibri"/>
              </a:defRPr>
            </a:pPr>
            <a:r>
              <a:t>▸  Flow Matching decoder for synthesis</a:t>
            </a:r>
          </a:p>
          <a:p>
            <a:pPr algn="l">
              <a:spcBef>
                <a:spcPts val="0"/>
              </a:spcBef>
              <a:spcAft>
                <a:spcPts val="600"/>
              </a:spcAft>
              <a:defRPr sz="1200" b="0">
                <a:solidFill>
                  <a:srgbClr val="E0E0E0"/>
                </a:solidFill>
                <a:latin typeface="Calibri"/>
              </a:defRPr>
            </a:pPr>
            <a:r>
              <a:t>▸  Trained on 101k hours Emilia dataset (6 languages)</a:t>
            </a:r>
          </a:p>
          <a:p>
            <a:pPr algn="l">
              <a:spcBef>
                <a:spcPts val="0"/>
              </a:spcBef>
              <a:spcAft>
                <a:spcPts val="600"/>
              </a:spcAft>
              <a:defRPr sz="1200" b="0">
                <a:solidFill>
                  <a:srgbClr val="E0E0E0"/>
                </a:solidFill>
                <a:latin typeface="Calibri"/>
              </a:defRPr>
            </a:pPr>
            <a:r>
              <a:t>▸  Strips accent info via bottleneck by design</a:t>
            </a:r>
          </a:p>
          <a:p>
            <a:pPr algn="l">
              <a:spcBef>
                <a:spcPts val="0"/>
              </a:spcBef>
              <a:spcAft>
                <a:spcPts val="600"/>
              </a:spcAft>
              <a:defRPr sz="1200" b="0">
                <a:solidFill>
                  <a:srgbClr val="E0E0E0"/>
                </a:solidFill>
                <a:latin typeface="Calibri"/>
              </a:defRPr>
            </a:pPr>
            <a:r>
              <a:t>▸  ICLR 2025 · Meta/CMU (open-mmlab/Amphion)</a:t>
            </a:r>
          </a:p>
        </p:txBody>
      </p:sp>
      <p:sp>
        <p:nvSpPr>
          <p:cNvPr id="14" name="TextBox 13"/>
          <p:cNvSpPr txBox="1"/>
          <p:nvPr/>
        </p:nvSpPr>
        <p:spPr>
          <a:xfrm>
            <a:off x="5349240" y="2468880"/>
            <a:ext cx="548640" cy="548640"/>
          </a:xfrm>
          <a:prstGeom prst="rect">
            <a:avLst/>
          </a:prstGeom>
          <a:noFill/>
        </p:spPr>
        <p:txBody>
          <a:bodyPr wrap="square">
            <a:spAutoFit/>
          </a:bodyPr>
          <a:lstStyle/>
          <a:p>
            <a:pPr algn="ctr">
              <a:lnSpc>
                <a:spcPts val="3679"/>
              </a:lnSpc>
              <a:spcAft>
                <a:spcPts val="0"/>
              </a:spcAft>
              <a:defRPr sz="3200" b="1">
                <a:solidFill>
                  <a:srgbClr val="A8A29E"/>
                </a:solidFill>
                <a:latin typeface="Calibri"/>
              </a:defRPr>
            </a:pPr>
            <a:r>
              <a:t>+</a:t>
            </a:r>
          </a:p>
        </p:txBody>
      </p:sp>
      <p:sp>
        <p:nvSpPr>
          <p:cNvPr id="15" name="Rounded Rectangle 14"/>
          <p:cNvSpPr/>
          <p:nvPr/>
        </p:nvSpPr>
        <p:spPr>
          <a:xfrm>
            <a:off x="1371600" y="4754880"/>
            <a:ext cx="8503920" cy="1463040"/>
          </a:xfrm>
          <a:prstGeom prst="roundRect">
            <a:avLst>
              <a:gd name="adj" fmla="val 8000"/>
            </a:avLst>
          </a:prstGeom>
          <a:solidFill>
            <a:srgbClr val="142540"/>
          </a:solidFill>
          <a:ln w="2540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37360" y="4892040"/>
            <a:ext cx="7772400" cy="274320"/>
          </a:xfrm>
          <a:prstGeom prst="rect">
            <a:avLst/>
          </a:prstGeom>
          <a:noFill/>
        </p:spPr>
        <p:txBody>
          <a:bodyPr wrap="square">
            <a:spAutoFit/>
          </a:bodyPr>
          <a:lstStyle/>
          <a:p>
            <a:pPr algn="l">
              <a:lnSpc>
                <a:spcPts val="1264"/>
              </a:lnSpc>
              <a:spcAft>
                <a:spcPts val="0"/>
              </a:spcAft>
              <a:defRPr sz="1100" b="1">
                <a:solidFill>
                  <a:srgbClr val="EAB308"/>
                </a:solidFill>
                <a:latin typeface="Calibri"/>
              </a:defRPr>
            </a:pPr>
            <a:r>
              <a:t>SMART QUALITY SELECTION — per segment</a:t>
            </a:r>
          </a:p>
        </p:txBody>
      </p:sp>
      <p:sp>
        <p:nvSpPr>
          <p:cNvPr id="17" name="TextBox 16"/>
          <p:cNvSpPr txBox="1"/>
          <p:nvPr/>
        </p:nvSpPr>
        <p:spPr>
          <a:xfrm>
            <a:off x="1737360" y="5212080"/>
            <a:ext cx="7772400" cy="822960"/>
          </a:xfrm>
          <a:prstGeom prst="rect">
            <a:avLst/>
          </a:prstGeom>
          <a:noFill/>
        </p:spPr>
        <p:txBody>
          <a:bodyPr wrap="square">
            <a:spAutoFit/>
          </a:bodyPr>
          <a:lstStyle/>
          <a:p>
            <a:pPr algn="ctr">
              <a:lnSpc>
                <a:spcPts val="1839"/>
              </a:lnSpc>
              <a:spcAft>
                <a:spcPts val="0"/>
              </a:spcAft>
              <a:defRPr sz="1600" b="1">
                <a:solidFill>
                  <a:srgbClr val="FFFFFF"/>
                </a:solidFill>
                <a:latin typeface="Calibri"/>
              </a:defRPr>
            </a:pPr>
            <a:r>
              <a:t>Score  =  0.4 × Emotion Cosine Similarity  +  0.4 × (1 − WER)  +  0.2 × (UTMOS / 5.0)</a:t>
            </a:r>
          </a:p>
        </p:txBody>
      </p:sp>
      <p:sp>
        <p:nvSpPr>
          <p:cNvPr id="18" name="TextBox 17"/>
          <p:cNvSpPr txBox="1"/>
          <p:nvPr/>
        </p:nvSpPr>
        <p:spPr>
          <a:xfrm>
            <a:off x="1737360" y="5669280"/>
            <a:ext cx="7772400" cy="274320"/>
          </a:xfrm>
          <a:prstGeom prst="rect">
            <a:avLst/>
          </a:prstGeom>
          <a:noFill/>
        </p:spPr>
        <p:txBody>
          <a:bodyPr wrap="square">
            <a:spAutoFit/>
          </a:bodyPr>
          <a:lstStyle/>
          <a:p>
            <a:pPr algn="ctr">
              <a:lnSpc>
                <a:spcPts val="1380"/>
              </a:lnSpc>
              <a:spcAft>
                <a:spcPts val="0"/>
              </a:spcAft>
              <a:defRPr sz="1200" b="0">
                <a:solidFill>
                  <a:srgbClr val="A8A29E"/>
                </a:solidFill>
                <a:latin typeface="Calibri"/>
              </a:defRPr>
            </a:pPr>
            <a:r>
              <a:t>Different architectures → qualitatively different outputs → meaningful ensemble selection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Emotion Preservation</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The #1 failure mode of accent conversion — and how we solve it</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914400" y="1600200"/>
            <a:ext cx="502920" cy="50292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1</a:t>
            </a:r>
          </a:p>
        </p:txBody>
      </p:sp>
      <p:sp>
        <p:nvSpPr>
          <p:cNvPr id="7" name="Rounded Rectangle 6"/>
          <p:cNvSpPr/>
          <p:nvPr/>
        </p:nvSpPr>
        <p:spPr>
          <a:xfrm>
            <a:off x="1645920" y="1463040"/>
            <a:ext cx="8961120" cy="1234440"/>
          </a:xfrm>
          <a:prstGeom prst="roundRect">
            <a:avLst>
              <a:gd name="adj" fmla="val 8000"/>
            </a:avLst>
          </a:prstGeom>
          <a:solidFill>
            <a:srgbClr val="111F38"/>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1554480"/>
            <a:ext cx="8412480" cy="274320"/>
          </a:xfrm>
          <a:prstGeom prst="rect">
            <a:avLst/>
          </a:prstGeom>
          <a:noFill/>
        </p:spPr>
        <p:txBody>
          <a:bodyPr wrap="square">
            <a:spAutoFit/>
          </a:bodyPr>
          <a:lstStyle/>
          <a:p>
            <a:pPr algn="l">
              <a:lnSpc>
                <a:spcPts val="1609"/>
              </a:lnSpc>
              <a:spcAft>
                <a:spcPts val="0"/>
              </a:spcAft>
              <a:defRPr sz="1400" b="1">
                <a:solidFill>
                  <a:srgbClr val="EA580C"/>
                </a:solidFill>
                <a:latin typeface="Calibri"/>
              </a:defRPr>
            </a:pPr>
            <a:r>
              <a:t>EXTRACTION</a:t>
            </a:r>
          </a:p>
        </p:txBody>
      </p:sp>
      <p:sp>
        <p:nvSpPr>
          <p:cNvPr id="9" name="TextBox 8"/>
          <p:cNvSpPr txBox="1"/>
          <p:nvPr/>
        </p:nvSpPr>
        <p:spPr>
          <a:xfrm>
            <a:off x="1920240" y="1874520"/>
            <a:ext cx="8412480" cy="320040"/>
          </a:xfrm>
          <a:prstGeom prst="rect">
            <a:avLst/>
          </a:prstGeom>
          <a:noFill/>
        </p:spPr>
        <p:txBody>
          <a:bodyPr wrap="square">
            <a:spAutoFit/>
          </a:bodyPr>
          <a:lstStyle/>
          <a:p>
            <a:pPr algn="l">
              <a:lnSpc>
                <a:spcPts val="1495"/>
              </a:lnSpc>
              <a:spcAft>
                <a:spcPts val="0"/>
              </a:spcAft>
              <a:defRPr sz="1300" b="0">
                <a:solidFill>
                  <a:srgbClr val="FFFFFF"/>
                </a:solidFill>
                <a:latin typeface="Calibri"/>
              </a:defRPr>
            </a:pPr>
            <a:r>
              <a:t>wav2vec2-large SER → Dimensional emotion (V / A / D)</a:t>
            </a:r>
          </a:p>
        </p:txBody>
      </p:sp>
      <p:sp>
        <p:nvSpPr>
          <p:cNvPr id="10" name="TextBox 9"/>
          <p:cNvSpPr txBox="1"/>
          <p:nvPr/>
        </p:nvSpPr>
        <p:spPr>
          <a:xfrm>
            <a:off x="1920240" y="2240280"/>
            <a:ext cx="8412480" cy="320040"/>
          </a:xfrm>
          <a:prstGeom prst="rect">
            <a:avLst/>
          </a:prstGeom>
          <a:noFill/>
        </p:spPr>
        <p:txBody>
          <a:bodyPr wrap="square">
            <a:spAutoFit/>
          </a:bodyPr>
          <a:lstStyle/>
          <a:p>
            <a:pPr algn="l">
              <a:lnSpc>
                <a:spcPts val="1264"/>
              </a:lnSpc>
              <a:spcAft>
                <a:spcPts val="0"/>
              </a:spcAft>
              <a:defRPr sz="1100" b="0">
                <a:solidFill>
                  <a:srgbClr val="A8A29E"/>
                </a:solidFill>
                <a:latin typeface="Calibri"/>
              </a:defRPr>
            </a:pPr>
            <a:r>
              <a:t>Continuous gradients, not categorical — captures subtle expressiveness</a:t>
            </a:r>
          </a:p>
        </p:txBody>
      </p:sp>
      <p:sp>
        <p:nvSpPr>
          <p:cNvPr id="11" name="Oval 10"/>
          <p:cNvSpPr/>
          <p:nvPr/>
        </p:nvSpPr>
        <p:spPr>
          <a:xfrm>
            <a:off x="914400" y="3154680"/>
            <a:ext cx="502920" cy="502920"/>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2</a:t>
            </a:r>
          </a:p>
        </p:txBody>
      </p:sp>
      <p:sp>
        <p:nvSpPr>
          <p:cNvPr id="12" name="Rounded Rectangle 11"/>
          <p:cNvSpPr/>
          <p:nvPr/>
        </p:nvSpPr>
        <p:spPr>
          <a:xfrm>
            <a:off x="1645920" y="3017520"/>
            <a:ext cx="8961120" cy="1234440"/>
          </a:xfrm>
          <a:prstGeom prst="roundRect">
            <a:avLst>
              <a:gd name="adj" fmla="val 8000"/>
            </a:avLst>
          </a:prstGeom>
          <a:solidFill>
            <a:srgbClr val="111F38"/>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0" y="3108960"/>
            <a:ext cx="8412480" cy="274320"/>
          </a:xfrm>
          <a:prstGeom prst="rect">
            <a:avLst/>
          </a:prstGeom>
          <a:noFill/>
        </p:spPr>
        <p:txBody>
          <a:bodyPr wrap="square">
            <a:spAutoFit/>
          </a:bodyPr>
          <a:lstStyle/>
          <a:p>
            <a:pPr algn="l">
              <a:lnSpc>
                <a:spcPts val="1609"/>
              </a:lnSpc>
              <a:spcAft>
                <a:spcPts val="0"/>
              </a:spcAft>
              <a:defRPr sz="1400" b="1">
                <a:solidFill>
                  <a:srgbClr val="EAB308"/>
                </a:solidFill>
                <a:latin typeface="Calibri"/>
              </a:defRPr>
            </a:pPr>
            <a:r>
              <a:t>QUALITY GATE</a:t>
            </a:r>
          </a:p>
        </p:txBody>
      </p:sp>
      <p:sp>
        <p:nvSpPr>
          <p:cNvPr id="14" name="TextBox 13"/>
          <p:cNvSpPr txBox="1"/>
          <p:nvPr/>
        </p:nvSpPr>
        <p:spPr>
          <a:xfrm>
            <a:off x="1920240" y="3429000"/>
            <a:ext cx="8412480" cy="320040"/>
          </a:xfrm>
          <a:prstGeom prst="rect">
            <a:avLst/>
          </a:prstGeom>
          <a:noFill/>
        </p:spPr>
        <p:txBody>
          <a:bodyPr wrap="square">
            <a:spAutoFit/>
          </a:bodyPr>
          <a:lstStyle/>
          <a:p>
            <a:pPr algn="l">
              <a:lnSpc>
                <a:spcPts val="1495"/>
              </a:lnSpc>
              <a:spcAft>
                <a:spcPts val="0"/>
              </a:spcAft>
              <a:defRPr sz="1300" b="0">
                <a:solidFill>
                  <a:srgbClr val="FFFFFF"/>
                </a:solidFill>
                <a:latin typeface="Calibri"/>
              </a:defRPr>
            </a:pPr>
            <a:r>
              <a:t>Emotion cosine similarity = 40% of quality score</a:t>
            </a:r>
          </a:p>
        </p:txBody>
      </p:sp>
      <p:sp>
        <p:nvSpPr>
          <p:cNvPr id="15" name="TextBox 14"/>
          <p:cNvSpPr txBox="1"/>
          <p:nvPr/>
        </p:nvSpPr>
        <p:spPr>
          <a:xfrm>
            <a:off x="1920240" y="3794760"/>
            <a:ext cx="8412480" cy="320040"/>
          </a:xfrm>
          <a:prstGeom prst="rect">
            <a:avLst/>
          </a:prstGeom>
          <a:noFill/>
        </p:spPr>
        <p:txBody>
          <a:bodyPr wrap="square">
            <a:spAutoFit/>
          </a:bodyPr>
          <a:lstStyle/>
          <a:p>
            <a:pPr algn="l">
              <a:lnSpc>
                <a:spcPts val="1264"/>
              </a:lnSpc>
              <a:spcAft>
                <a:spcPts val="0"/>
              </a:spcAft>
              <a:defRPr sz="1100" b="0">
                <a:solidFill>
                  <a:srgbClr val="A8A29E"/>
                </a:solidFill>
                <a:latin typeface="Calibri"/>
              </a:defRPr>
            </a:pPr>
            <a:r>
              <a:t>Bad emotion preservation = model output gets rejected</a:t>
            </a:r>
          </a:p>
        </p:txBody>
      </p:sp>
      <p:sp>
        <p:nvSpPr>
          <p:cNvPr id="16" name="Oval 15"/>
          <p:cNvSpPr/>
          <p:nvPr/>
        </p:nvSpPr>
        <p:spPr>
          <a:xfrm>
            <a:off x="914400" y="4709160"/>
            <a:ext cx="502920" cy="50292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3</a:t>
            </a:r>
          </a:p>
        </p:txBody>
      </p:sp>
      <p:sp>
        <p:nvSpPr>
          <p:cNvPr id="17" name="Rounded Rectangle 16"/>
          <p:cNvSpPr/>
          <p:nvPr/>
        </p:nvSpPr>
        <p:spPr>
          <a:xfrm>
            <a:off x="1645920" y="4572000"/>
            <a:ext cx="8961120" cy="1234440"/>
          </a:xfrm>
          <a:prstGeom prst="roundRect">
            <a:avLst>
              <a:gd name="adj" fmla="val 8000"/>
            </a:avLst>
          </a:prstGeom>
          <a:solidFill>
            <a:srgbClr val="111F38"/>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20240" y="4663440"/>
            <a:ext cx="8412480" cy="274320"/>
          </a:xfrm>
          <a:prstGeom prst="rect">
            <a:avLst/>
          </a:prstGeom>
          <a:noFill/>
        </p:spPr>
        <p:txBody>
          <a:bodyPr wrap="square">
            <a:spAutoFit/>
          </a:bodyPr>
          <a:lstStyle/>
          <a:p>
            <a:pPr algn="l">
              <a:lnSpc>
                <a:spcPts val="1609"/>
              </a:lnSpc>
              <a:spcAft>
                <a:spcPts val="0"/>
              </a:spcAft>
              <a:defRPr sz="1400" b="1">
                <a:solidFill>
                  <a:srgbClr val="DC2626"/>
                </a:solidFill>
                <a:latin typeface="Calibri"/>
              </a:defRPr>
            </a:pPr>
            <a:r>
              <a:t>F0 + ENERGY CORRECTION</a:t>
            </a:r>
          </a:p>
        </p:txBody>
      </p:sp>
      <p:sp>
        <p:nvSpPr>
          <p:cNvPr id="19" name="TextBox 18"/>
          <p:cNvSpPr txBox="1"/>
          <p:nvPr/>
        </p:nvSpPr>
        <p:spPr>
          <a:xfrm>
            <a:off x="1920240" y="4983480"/>
            <a:ext cx="8412480" cy="320040"/>
          </a:xfrm>
          <a:prstGeom prst="rect">
            <a:avLst/>
          </a:prstGeom>
          <a:noFill/>
        </p:spPr>
        <p:txBody>
          <a:bodyPr wrap="square">
            <a:spAutoFit/>
          </a:bodyPr>
          <a:lstStyle/>
          <a:p>
            <a:pPr algn="l">
              <a:lnSpc>
                <a:spcPts val="1495"/>
              </a:lnSpc>
              <a:spcAft>
                <a:spcPts val="0"/>
              </a:spcAft>
              <a:defRPr sz="1300" b="0">
                <a:solidFill>
                  <a:srgbClr val="FFFFFF"/>
                </a:solidFill>
                <a:latin typeface="Calibri"/>
              </a:defRPr>
            </a:pPr>
            <a:r>
              <a:t>Active correction if cosine_sim &lt; 0.85</a:t>
            </a:r>
          </a:p>
        </p:txBody>
      </p:sp>
      <p:sp>
        <p:nvSpPr>
          <p:cNvPr id="20" name="TextBox 19"/>
          <p:cNvSpPr txBox="1"/>
          <p:nvPr/>
        </p:nvSpPr>
        <p:spPr>
          <a:xfrm>
            <a:off x="1920240" y="5349240"/>
            <a:ext cx="8412480" cy="320040"/>
          </a:xfrm>
          <a:prstGeom prst="rect">
            <a:avLst/>
          </a:prstGeom>
          <a:noFill/>
        </p:spPr>
        <p:txBody>
          <a:bodyPr wrap="square">
            <a:spAutoFit/>
          </a:bodyPr>
          <a:lstStyle/>
          <a:p>
            <a:pPr algn="l">
              <a:lnSpc>
                <a:spcPts val="1264"/>
              </a:lnSpc>
              <a:spcAft>
                <a:spcPts val="0"/>
              </a:spcAft>
              <a:defRPr sz="1100" b="0">
                <a:solidFill>
                  <a:srgbClr val="A8A29E"/>
                </a:solidFill>
                <a:latin typeface="Calibri"/>
              </a:defRPr>
            </a:pPr>
            <a:r>
              <a:t>Pitch contour rescaled (±20% cap) · Energy envelope warped · Duration adjusted</a:t>
            </a:r>
          </a:p>
        </p:txBody>
      </p:sp>
      <p:sp>
        <p:nvSpPr>
          <p:cNvPr id="21" name="TextBox 20"/>
          <p:cNvSpPr txBox="1"/>
          <p:nvPr/>
        </p:nvSpPr>
        <p:spPr>
          <a:xfrm>
            <a:off x="914400" y="5943600"/>
            <a:ext cx="10332720" cy="365760"/>
          </a:xfrm>
          <a:prstGeom prst="rect">
            <a:avLst/>
          </a:prstGeom>
          <a:noFill/>
        </p:spPr>
        <p:txBody>
          <a:bodyPr wrap="square">
            <a:spAutoFit/>
          </a:bodyPr>
          <a:lstStyle/>
          <a:p>
            <a:pPr algn="ctr">
              <a:lnSpc>
                <a:spcPts val="1609"/>
              </a:lnSpc>
              <a:spcAft>
                <a:spcPts val="0"/>
              </a:spcAft>
              <a:defRPr sz="1400" b="1">
                <a:solidFill>
                  <a:srgbClr val="EA580C"/>
                </a:solidFill>
                <a:latin typeface="Calibri"/>
              </a:defRPr>
            </a:pPr>
            <a:r>
              <a:t>Result: your anger stays angry, your excitement stays exciting — even in a completely different accent.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Supported Accents &amp; Data</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5 target accents · Zero-shot + fine-tuned</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1463040"/>
            <a:ext cx="1965960" cy="2011680"/>
          </a:xfrm>
          <a:prstGeom prst="roundRect">
            <a:avLst>
              <a:gd name="adj" fmla="val 8000"/>
            </a:avLst>
          </a:prstGeom>
          <a:solidFill>
            <a:srgbClr val="111F38"/>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1965960" cy="457200"/>
          </a:xfrm>
          <a:prstGeom prst="rect">
            <a:avLst/>
          </a:prstGeom>
          <a:noFill/>
        </p:spPr>
        <p:txBody>
          <a:bodyPr wrap="square">
            <a:spAutoFit/>
          </a:bodyPr>
          <a:lstStyle/>
          <a:p>
            <a:pPr algn="ctr">
              <a:lnSpc>
                <a:spcPts val="3679"/>
              </a:lnSpc>
              <a:spcAft>
                <a:spcPts val="0"/>
              </a:spcAft>
              <a:defRPr sz="3200" b="0">
                <a:solidFill>
                  <a:srgbClr val="FFFFFF"/>
                </a:solidFill>
                <a:latin typeface="Calibri"/>
              </a:defRPr>
            </a:pPr>
            <a:r>
              <a:t>🇮🇳</a:t>
            </a:r>
          </a:p>
        </p:txBody>
      </p:sp>
      <p:sp>
        <p:nvSpPr>
          <p:cNvPr id="8" name="TextBox 7"/>
          <p:cNvSpPr txBox="1"/>
          <p:nvPr/>
        </p:nvSpPr>
        <p:spPr>
          <a:xfrm>
            <a:off x="685800" y="2011680"/>
            <a:ext cx="1691640" cy="457200"/>
          </a:xfrm>
          <a:prstGeom prst="rect">
            <a:avLst/>
          </a:prstGeom>
          <a:noFill/>
        </p:spPr>
        <p:txBody>
          <a:bodyPr wrap="square">
            <a:spAutoFit/>
          </a:bodyPr>
          <a:lstStyle/>
          <a:p>
            <a:pPr algn="ctr">
              <a:lnSpc>
                <a:spcPts val="1495"/>
              </a:lnSpc>
              <a:spcAft>
                <a:spcPts val="0"/>
              </a:spcAft>
              <a:defRPr sz="1300" b="1">
                <a:solidFill>
                  <a:srgbClr val="FFFFFF"/>
                </a:solidFill>
                <a:latin typeface="Calibri"/>
              </a:defRPr>
            </a:pPr>
            <a:r>
              <a:t>Indian</a:t>
            </a:r>
            <a:br/>
            <a:r>
              <a:t>English</a:t>
            </a:r>
          </a:p>
        </p:txBody>
      </p:sp>
      <p:sp>
        <p:nvSpPr>
          <p:cNvPr id="9" name="TextBox 8"/>
          <p:cNvSpPr txBox="1"/>
          <p:nvPr/>
        </p:nvSpPr>
        <p:spPr>
          <a:xfrm>
            <a:off x="685800" y="2651760"/>
            <a:ext cx="1691640" cy="548640"/>
          </a:xfrm>
          <a:prstGeom prst="rect">
            <a:avLst/>
          </a:prstGeom>
          <a:noFill/>
        </p:spPr>
        <p:txBody>
          <a:bodyPr wrap="square">
            <a:spAutoFit/>
          </a:bodyPr>
          <a:lstStyle/>
          <a:p>
            <a:pPr algn="ctr">
              <a:lnSpc>
                <a:spcPts val="1150"/>
              </a:lnSpc>
              <a:spcAft>
                <a:spcPts val="0"/>
              </a:spcAft>
              <a:defRPr sz="1000" b="0">
                <a:solidFill>
                  <a:srgbClr val="A8A29E"/>
                </a:solidFill>
                <a:latin typeface="Calibri"/>
              </a:defRPr>
            </a:pPr>
            <a:r>
              <a:t>L2-ARCTIC</a:t>
            </a:r>
            <a:br/>
            <a:r>
              <a:t>ASI, MBMPS</a:t>
            </a:r>
          </a:p>
        </p:txBody>
      </p:sp>
      <p:sp>
        <p:nvSpPr>
          <p:cNvPr id="10" name="Rounded Rectangle 9"/>
          <p:cNvSpPr/>
          <p:nvPr/>
        </p:nvSpPr>
        <p:spPr>
          <a:xfrm>
            <a:off x="2743200" y="1463040"/>
            <a:ext cx="1965960" cy="2011680"/>
          </a:xfrm>
          <a:prstGeom prst="roundRect">
            <a:avLst>
              <a:gd name="adj" fmla="val 8000"/>
            </a:avLst>
          </a:prstGeom>
          <a:solidFill>
            <a:srgbClr val="111F38"/>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554480"/>
            <a:ext cx="1965960" cy="457200"/>
          </a:xfrm>
          <a:prstGeom prst="rect">
            <a:avLst/>
          </a:prstGeom>
          <a:noFill/>
        </p:spPr>
        <p:txBody>
          <a:bodyPr wrap="square">
            <a:spAutoFit/>
          </a:bodyPr>
          <a:lstStyle/>
          <a:p>
            <a:pPr algn="ctr">
              <a:lnSpc>
                <a:spcPts val="3679"/>
              </a:lnSpc>
              <a:spcAft>
                <a:spcPts val="0"/>
              </a:spcAft>
              <a:defRPr sz="3200" b="0">
                <a:solidFill>
                  <a:srgbClr val="FFFFFF"/>
                </a:solidFill>
                <a:latin typeface="Calibri"/>
              </a:defRPr>
            </a:pPr>
            <a:r>
              <a:t>🇨🇳</a:t>
            </a:r>
          </a:p>
        </p:txBody>
      </p:sp>
      <p:sp>
        <p:nvSpPr>
          <p:cNvPr id="12" name="TextBox 11"/>
          <p:cNvSpPr txBox="1"/>
          <p:nvPr/>
        </p:nvSpPr>
        <p:spPr>
          <a:xfrm>
            <a:off x="2880360" y="2011680"/>
            <a:ext cx="1691640" cy="457200"/>
          </a:xfrm>
          <a:prstGeom prst="rect">
            <a:avLst/>
          </a:prstGeom>
          <a:noFill/>
        </p:spPr>
        <p:txBody>
          <a:bodyPr wrap="square">
            <a:spAutoFit/>
          </a:bodyPr>
          <a:lstStyle/>
          <a:p>
            <a:pPr algn="ctr">
              <a:lnSpc>
                <a:spcPts val="1495"/>
              </a:lnSpc>
              <a:spcAft>
                <a:spcPts val="0"/>
              </a:spcAft>
              <a:defRPr sz="1300" b="1">
                <a:solidFill>
                  <a:srgbClr val="FFFFFF"/>
                </a:solidFill>
                <a:latin typeface="Calibri"/>
              </a:defRPr>
            </a:pPr>
            <a:r>
              <a:t>Chinese</a:t>
            </a:r>
            <a:br/>
            <a:r>
              <a:t>English</a:t>
            </a:r>
          </a:p>
        </p:txBody>
      </p:sp>
      <p:sp>
        <p:nvSpPr>
          <p:cNvPr id="13" name="TextBox 12"/>
          <p:cNvSpPr txBox="1"/>
          <p:nvPr/>
        </p:nvSpPr>
        <p:spPr>
          <a:xfrm>
            <a:off x="2880360" y="2651760"/>
            <a:ext cx="1691640" cy="548640"/>
          </a:xfrm>
          <a:prstGeom prst="rect">
            <a:avLst/>
          </a:prstGeom>
          <a:noFill/>
        </p:spPr>
        <p:txBody>
          <a:bodyPr wrap="square">
            <a:spAutoFit/>
          </a:bodyPr>
          <a:lstStyle/>
          <a:p>
            <a:pPr algn="ctr">
              <a:lnSpc>
                <a:spcPts val="1150"/>
              </a:lnSpc>
              <a:spcAft>
                <a:spcPts val="0"/>
              </a:spcAft>
              <a:defRPr sz="1000" b="0">
                <a:solidFill>
                  <a:srgbClr val="A8A29E"/>
                </a:solidFill>
                <a:latin typeface="Calibri"/>
              </a:defRPr>
            </a:pPr>
            <a:r>
              <a:t>L2-ARCTIC</a:t>
            </a:r>
            <a:br/>
            <a:r>
              <a:t>HKK, YBAA</a:t>
            </a:r>
          </a:p>
        </p:txBody>
      </p:sp>
      <p:sp>
        <p:nvSpPr>
          <p:cNvPr id="14" name="Rounded Rectangle 13"/>
          <p:cNvSpPr/>
          <p:nvPr/>
        </p:nvSpPr>
        <p:spPr>
          <a:xfrm>
            <a:off x="4937759" y="1463040"/>
            <a:ext cx="1965960" cy="2011680"/>
          </a:xfrm>
          <a:prstGeom prst="roundRect">
            <a:avLst>
              <a:gd name="adj" fmla="val 8000"/>
            </a:avLst>
          </a:prstGeom>
          <a:solidFill>
            <a:srgbClr val="111F38"/>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59" y="1554480"/>
            <a:ext cx="1965960" cy="457200"/>
          </a:xfrm>
          <a:prstGeom prst="rect">
            <a:avLst/>
          </a:prstGeom>
          <a:noFill/>
        </p:spPr>
        <p:txBody>
          <a:bodyPr wrap="square">
            <a:spAutoFit/>
          </a:bodyPr>
          <a:lstStyle/>
          <a:p>
            <a:pPr algn="ctr">
              <a:lnSpc>
                <a:spcPts val="3679"/>
              </a:lnSpc>
              <a:spcAft>
                <a:spcPts val="0"/>
              </a:spcAft>
              <a:defRPr sz="3200" b="0">
                <a:solidFill>
                  <a:srgbClr val="FFFFFF"/>
                </a:solidFill>
                <a:latin typeface="Calibri"/>
              </a:defRPr>
            </a:pPr>
            <a:r>
              <a:t>🇯🇵</a:t>
            </a:r>
          </a:p>
        </p:txBody>
      </p:sp>
      <p:sp>
        <p:nvSpPr>
          <p:cNvPr id="16" name="TextBox 15"/>
          <p:cNvSpPr txBox="1"/>
          <p:nvPr/>
        </p:nvSpPr>
        <p:spPr>
          <a:xfrm>
            <a:off x="5074919" y="2011680"/>
            <a:ext cx="1691640" cy="457200"/>
          </a:xfrm>
          <a:prstGeom prst="rect">
            <a:avLst/>
          </a:prstGeom>
          <a:noFill/>
        </p:spPr>
        <p:txBody>
          <a:bodyPr wrap="square">
            <a:spAutoFit/>
          </a:bodyPr>
          <a:lstStyle/>
          <a:p>
            <a:pPr algn="ctr">
              <a:lnSpc>
                <a:spcPts val="1495"/>
              </a:lnSpc>
              <a:spcAft>
                <a:spcPts val="0"/>
              </a:spcAft>
              <a:defRPr sz="1300" b="1">
                <a:solidFill>
                  <a:srgbClr val="FFFFFF"/>
                </a:solidFill>
                <a:latin typeface="Calibri"/>
              </a:defRPr>
            </a:pPr>
            <a:r>
              <a:t>Japanese</a:t>
            </a:r>
            <a:br/>
            <a:r>
              <a:t>English</a:t>
            </a:r>
          </a:p>
        </p:txBody>
      </p:sp>
      <p:sp>
        <p:nvSpPr>
          <p:cNvPr id="17" name="TextBox 16"/>
          <p:cNvSpPr txBox="1"/>
          <p:nvPr/>
        </p:nvSpPr>
        <p:spPr>
          <a:xfrm>
            <a:off x="5074919" y="2651760"/>
            <a:ext cx="1691640" cy="548640"/>
          </a:xfrm>
          <a:prstGeom prst="rect">
            <a:avLst/>
          </a:prstGeom>
          <a:noFill/>
        </p:spPr>
        <p:txBody>
          <a:bodyPr wrap="square">
            <a:spAutoFit/>
          </a:bodyPr>
          <a:lstStyle/>
          <a:p>
            <a:pPr algn="ctr">
              <a:lnSpc>
                <a:spcPts val="1150"/>
              </a:lnSpc>
              <a:spcAft>
                <a:spcPts val="0"/>
              </a:spcAft>
              <a:defRPr sz="1000" b="0">
                <a:solidFill>
                  <a:srgbClr val="A8A29E"/>
                </a:solidFill>
                <a:latin typeface="Calibri"/>
              </a:defRPr>
            </a:pPr>
            <a:r>
              <a:t>Common Voice</a:t>
            </a:r>
            <a:br/>
            <a:r>
              <a:t>Custom data</a:t>
            </a:r>
          </a:p>
        </p:txBody>
      </p:sp>
      <p:sp>
        <p:nvSpPr>
          <p:cNvPr id="18" name="Rounded Rectangle 17"/>
          <p:cNvSpPr/>
          <p:nvPr/>
        </p:nvSpPr>
        <p:spPr>
          <a:xfrm>
            <a:off x="7132319" y="1463040"/>
            <a:ext cx="1965960" cy="2011680"/>
          </a:xfrm>
          <a:prstGeom prst="roundRect">
            <a:avLst>
              <a:gd name="adj" fmla="val 8000"/>
            </a:avLst>
          </a:prstGeom>
          <a:solidFill>
            <a:srgbClr val="111F38"/>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19" y="1554480"/>
            <a:ext cx="1965960" cy="457200"/>
          </a:xfrm>
          <a:prstGeom prst="rect">
            <a:avLst/>
          </a:prstGeom>
          <a:noFill/>
        </p:spPr>
        <p:txBody>
          <a:bodyPr wrap="square">
            <a:spAutoFit/>
          </a:bodyPr>
          <a:lstStyle/>
          <a:p>
            <a:pPr algn="ctr">
              <a:lnSpc>
                <a:spcPts val="3679"/>
              </a:lnSpc>
              <a:spcAft>
                <a:spcPts val="0"/>
              </a:spcAft>
              <a:defRPr sz="3200" b="0">
                <a:solidFill>
                  <a:srgbClr val="FFFFFF"/>
                </a:solidFill>
                <a:latin typeface="Calibri"/>
              </a:defRPr>
            </a:pPr>
            <a:r>
              <a:t>🇬🇧</a:t>
            </a:r>
          </a:p>
        </p:txBody>
      </p:sp>
      <p:sp>
        <p:nvSpPr>
          <p:cNvPr id="20" name="TextBox 19"/>
          <p:cNvSpPr txBox="1"/>
          <p:nvPr/>
        </p:nvSpPr>
        <p:spPr>
          <a:xfrm>
            <a:off x="7269479" y="2011680"/>
            <a:ext cx="1691640" cy="457200"/>
          </a:xfrm>
          <a:prstGeom prst="rect">
            <a:avLst/>
          </a:prstGeom>
          <a:noFill/>
        </p:spPr>
        <p:txBody>
          <a:bodyPr wrap="square">
            <a:spAutoFit/>
          </a:bodyPr>
          <a:lstStyle/>
          <a:p>
            <a:pPr algn="ctr">
              <a:lnSpc>
                <a:spcPts val="1495"/>
              </a:lnSpc>
              <a:spcAft>
                <a:spcPts val="0"/>
              </a:spcAft>
              <a:defRPr sz="1300" b="1">
                <a:solidFill>
                  <a:srgbClr val="FFFFFF"/>
                </a:solidFill>
                <a:latin typeface="Calibri"/>
              </a:defRPr>
            </a:pPr>
            <a:r>
              <a:t>British</a:t>
            </a:r>
            <a:br/>
            <a:r>
              <a:t>English</a:t>
            </a:r>
          </a:p>
        </p:txBody>
      </p:sp>
      <p:sp>
        <p:nvSpPr>
          <p:cNvPr id="21" name="TextBox 20"/>
          <p:cNvSpPr txBox="1"/>
          <p:nvPr/>
        </p:nvSpPr>
        <p:spPr>
          <a:xfrm>
            <a:off x="7269479" y="2651760"/>
            <a:ext cx="1691640" cy="548640"/>
          </a:xfrm>
          <a:prstGeom prst="rect">
            <a:avLst/>
          </a:prstGeom>
          <a:noFill/>
        </p:spPr>
        <p:txBody>
          <a:bodyPr wrap="square">
            <a:spAutoFit/>
          </a:bodyPr>
          <a:lstStyle/>
          <a:p>
            <a:pPr algn="ctr">
              <a:lnSpc>
                <a:spcPts val="1150"/>
              </a:lnSpc>
              <a:spcAft>
                <a:spcPts val="0"/>
              </a:spcAft>
              <a:defRPr sz="1000" b="0">
                <a:solidFill>
                  <a:srgbClr val="A8A29E"/>
                </a:solidFill>
                <a:latin typeface="Calibri"/>
              </a:defRPr>
            </a:pPr>
            <a:r>
              <a:t>VCTK</a:t>
            </a:r>
            <a:br/>
            <a:r>
              <a:t>Multiple speakers</a:t>
            </a:r>
          </a:p>
        </p:txBody>
      </p:sp>
      <p:sp>
        <p:nvSpPr>
          <p:cNvPr id="22" name="Rounded Rectangle 21"/>
          <p:cNvSpPr/>
          <p:nvPr/>
        </p:nvSpPr>
        <p:spPr>
          <a:xfrm>
            <a:off x="9326880" y="1463040"/>
            <a:ext cx="1965960" cy="2011680"/>
          </a:xfrm>
          <a:prstGeom prst="roundRect">
            <a:avLst>
              <a:gd name="adj" fmla="val 8000"/>
            </a:avLst>
          </a:prstGeom>
          <a:solidFill>
            <a:srgbClr val="111F38"/>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554480"/>
            <a:ext cx="1965960" cy="457200"/>
          </a:xfrm>
          <a:prstGeom prst="rect">
            <a:avLst/>
          </a:prstGeom>
          <a:noFill/>
        </p:spPr>
        <p:txBody>
          <a:bodyPr wrap="square">
            <a:spAutoFit/>
          </a:bodyPr>
          <a:lstStyle/>
          <a:p>
            <a:pPr algn="ctr">
              <a:lnSpc>
                <a:spcPts val="3679"/>
              </a:lnSpc>
              <a:spcAft>
                <a:spcPts val="0"/>
              </a:spcAft>
              <a:defRPr sz="3200" b="0">
                <a:solidFill>
                  <a:srgbClr val="FFFFFF"/>
                </a:solidFill>
                <a:latin typeface="Calibri"/>
              </a:defRPr>
            </a:pPr>
            <a:r>
              <a:t>🇺🇸</a:t>
            </a:r>
          </a:p>
        </p:txBody>
      </p:sp>
      <p:sp>
        <p:nvSpPr>
          <p:cNvPr id="24" name="TextBox 23"/>
          <p:cNvSpPr txBox="1"/>
          <p:nvPr/>
        </p:nvSpPr>
        <p:spPr>
          <a:xfrm>
            <a:off x="9464040" y="2011680"/>
            <a:ext cx="1691640" cy="457200"/>
          </a:xfrm>
          <a:prstGeom prst="rect">
            <a:avLst/>
          </a:prstGeom>
          <a:noFill/>
        </p:spPr>
        <p:txBody>
          <a:bodyPr wrap="square">
            <a:spAutoFit/>
          </a:bodyPr>
          <a:lstStyle/>
          <a:p>
            <a:pPr algn="ctr">
              <a:lnSpc>
                <a:spcPts val="1495"/>
              </a:lnSpc>
              <a:spcAft>
                <a:spcPts val="0"/>
              </a:spcAft>
              <a:defRPr sz="1300" b="1">
                <a:solidFill>
                  <a:srgbClr val="FFFFFF"/>
                </a:solidFill>
                <a:latin typeface="Calibri"/>
              </a:defRPr>
            </a:pPr>
            <a:r>
              <a:t>American</a:t>
            </a:r>
            <a:br/>
            <a:r>
              <a:t>English</a:t>
            </a:r>
          </a:p>
        </p:txBody>
      </p:sp>
      <p:sp>
        <p:nvSpPr>
          <p:cNvPr id="25" name="TextBox 24"/>
          <p:cNvSpPr txBox="1"/>
          <p:nvPr/>
        </p:nvSpPr>
        <p:spPr>
          <a:xfrm>
            <a:off x="9464040" y="2651760"/>
            <a:ext cx="1691640" cy="548640"/>
          </a:xfrm>
          <a:prstGeom prst="rect">
            <a:avLst/>
          </a:prstGeom>
          <a:noFill/>
        </p:spPr>
        <p:txBody>
          <a:bodyPr wrap="square">
            <a:spAutoFit/>
          </a:bodyPr>
          <a:lstStyle/>
          <a:p>
            <a:pPr algn="ctr">
              <a:lnSpc>
                <a:spcPts val="1150"/>
              </a:lnSpc>
              <a:spcAft>
                <a:spcPts val="0"/>
              </a:spcAft>
              <a:defRPr sz="1000" b="0">
                <a:solidFill>
                  <a:srgbClr val="A8A29E"/>
                </a:solidFill>
                <a:latin typeface="Calibri"/>
              </a:defRPr>
            </a:pPr>
            <a:r>
              <a:t>LibriTTS-R</a:t>
            </a:r>
            <a:br/>
            <a:r>
              <a:t>+ VCTK</a:t>
            </a:r>
          </a:p>
        </p:txBody>
      </p:sp>
      <p:sp>
        <p:nvSpPr>
          <p:cNvPr id="26" name="Rounded Rectangle 25"/>
          <p:cNvSpPr/>
          <p:nvPr/>
        </p:nvSpPr>
        <p:spPr>
          <a:xfrm>
            <a:off x="548640" y="3840480"/>
            <a:ext cx="10515600" cy="2560320"/>
          </a:xfrm>
          <a:prstGeom prst="roundRect">
            <a:avLst>
              <a:gd name="adj" fmla="val 8000"/>
            </a:avLst>
          </a:prstGeom>
          <a:solidFill>
            <a:srgbClr val="111F38"/>
          </a:solidFill>
          <a:ln w="1905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977639"/>
            <a:ext cx="9875520" cy="274320"/>
          </a:xfrm>
          <a:prstGeom prst="rect">
            <a:avLst/>
          </a:prstGeom>
          <a:noFill/>
        </p:spPr>
        <p:txBody>
          <a:bodyPr wrap="square">
            <a:spAutoFit/>
          </a:bodyPr>
          <a:lstStyle/>
          <a:p>
            <a:pPr algn="l">
              <a:lnSpc>
                <a:spcPts val="1264"/>
              </a:lnSpc>
              <a:spcAft>
                <a:spcPts val="0"/>
              </a:spcAft>
              <a:defRPr sz="1100" b="1">
                <a:solidFill>
                  <a:srgbClr val="EA580C"/>
                </a:solidFill>
                <a:latin typeface="Calibri"/>
              </a:defRPr>
            </a:pPr>
            <a:r>
              <a:t>TRAINING STRATEGY</a:t>
            </a:r>
          </a:p>
        </p:txBody>
      </p:sp>
      <p:sp>
        <p:nvSpPr>
          <p:cNvPr id="28" name="TextBox 27"/>
          <p:cNvSpPr txBox="1"/>
          <p:nvPr/>
        </p:nvSpPr>
        <p:spPr>
          <a:xfrm>
            <a:off x="914400" y="4389120"/>
            <a:ext cx="9875520" cy="182880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800"/>
              </a:spcAft>
              <a:defRPr sz="1300" b="0">
                <a:solidFill>
                  <a:srgbClr val="E0E0E0"/>
                </a:solidFill>
                <a:latin typeface="Calibri"/>
              </a:defRPr>
            </a:pPr>
            <a:r>
              <a:t>▸  Zero-shot works out of the box — just a 5-10s reference clip per accent</a:t>
            </a:r>
          </a:p>
          <a:p>
            <a:pPr algn="l">
              <a:spcBef>
                <a:spcPts val="0"/>
              </a:spcBef>
              <a:spcAft>
                <a:spcPts val="800"/>
              </a:spcAft>
              <a:defRPr sz="1300" b="0">
                <a:solidFill>
                  <a:srgbClr val="E0E0E0"/>
                </a:solidFill>
                <a:latin typeface="Calibri"/>
              </a:defRPr>
            </a:pPr>
            <a:r>
              <a:t>▸  Fine-tuned on L2-ARCTIC parallel pairs (1,132 identical sentences, native vs non-native)</a:t>
            </a:r>
          </a:p>
          <a:p>
            <a:pPr algn="l">
              <a:spcBef>
                <a:spcPts val="0"/>
              </a:spcBef>
              <a:spcAft>
                <a:spcPts val="800"/>
              </a:spcAft>
              <a:defRPr sz="1300" b="0">
                <a:solidFill>
                  <a:srgbClr val="E0E0E0"/>
                </a:solidFill>
                <a:latin typeface="Calibri"/>
              </a:defRPr>
            </a:pPr>
            <a:r>
              <a:t>▸  Only style encoder fine-tuned (~100M params) — 1-2 hours on L40S 48GB GPU</a:t>
            </a:r>
          </a:p>
          <a:p>
            <a:pPr algn="l">
              <a:spcBef>
                <a:spcPts val="0"/>
              </a:spcBef>
              <a:spcAft>
                <a:spcPts val="800"/>
              </a:spcAft>
              <a:defRPr sz="1300" b="0">
                <a:solidFill>
                  <a:srgbClr val="E0E0E0"/>
                </a:solidFill>
                <a:latin typeface="Calibri"/>
              </a:defRPr>
            </a:pPr>
            <a:r>
              <a:t>▸  Universal checkpoint: all accents trained together → better generalisation</a:t>
            </a:r>
          </a:p>
          <a:p>
            <a:pPr algn="l">
              <a:spcBef>
                <a:spcPts val="0"/>
              </a:spcBef>
              <a:spcAft>
                <a:spcPts val="800"/>
              </a:spcAft>
              <a:defRPr sz="1300" b="0">
                <a:solidFill>
                  <a:srgbClr val="E0E0E0"/>
                </a:solidFill>
                <a:latin typeface="Calibri"/>
              </a:defRPr>
            </a:pPr>
            <a:r>
              <a:t>▸  Accent accuracy improvement: 70% (zero-shot) → 85% (fine-tuned)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Live Web Application</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Next.js 14 + FastAPI — full-featured demo</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1463040"/>
            <a:ext cx="4937760" cy="4754880"/>
          </a:xfrm>
          <a:prstGeom prst="roundRect">
            <a:avLst>
              <a:gd name="adj" fmla="val 8000"/>
            </a:avLst>
          </a:prstGeom>
          <a:solidFill>
            <a:srgbClr val="111F38"/>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45920"/>
            <a:ext cx="4206240" cy="274320"/>
          </a:xfrm>
          <a:prstGeom prst="rect">
            <a:avLst/>
          </a:prstGeom>
          <a:noFill/>
        </p:spPr>
        <p:txBody>
          <a:bodyPr wrap="square">
            <a:spAutoFit/>
          </a:bodyPr>
          <a:lstStyle/>
          <a:p>
            <a:pPr algn="l">
              <a:lnSpc>
                <a:spcPts val="1264"/>
              </a:lnSpc>
              <a:spcAft>
                <a:spcPts val="0"/>
              </a:spcAft>
              <a:defRPr sz="1100" b="1">
                <a:solidFill>
                  <a:srgbClr val="EA580C"/>
                </a:solidFill>
                <a:latin typeface="Calibri"/>
              </a:defRPr>
            </a:pPr>
            <a:r>
              <a:t>FEATURES</a:t>
            </a:r>
          </a:p>
        </p:txBody>
      </p:sp>
      <p:sp>
        <p:nvSpPr>
          <p:cNvPr id="8" name="TextBox 7"/>
          <p:cNvSpPr txBox="1"/>
          <p:nvPr/>
        </p:nvSpPr>
        <p:spPr>
          <a:xfrm>
            <a:off x="1097280" y="2011680"/>
            <a:ext cx="365760" cy="320040"/>
          </a:xfrm>
          <a:prstGeom prst="rect">
            <a:avLst/>
          </a:prstGeom>
          <a:noFill/>
        </p:spPr>
        <p:txBody>
          <a:bodyPr wrap="square">
            <a:spAutoFit/>
          </a:bodyPr>
          <a:lstStyle/>
          <a:p>
            <a:pPr algn="ctr">
              <a:lnSpc>
                <a:spcPts val="1839"/>
              </a:lnSpc>
              <a:spcAft>
                <a:spcPts val="0"/>
              </a:spcAft>
              <a:defRPr sz="1600" b="0">
                <a:solidFill>
                  <a:srgbClr val="FFFFFF"/>
                </a:solidFill>
                <a:latin typeface="Calibri"/>
              </a:defRPr>
            </a:pPr>
            <a:r>
              <a:t>🎵</a:t>
            </a:r>
          </a:p>
        </p:txBody>
      </p:sp>
      <p:sp>
        <p:nvSpPr>
          <p:cNvPr id="9" name="TextBox 8"/>
          <p:cNvSpPr txBox="1"/>
          <p:nvPr/>
        </p:nvSpPr>
        <p:spPr>
          <a:xfrm>
            <a:off x="1554480" y="2011680"/>
            <a:ext cx="3474720" cy="228600"/>
          </a:xfrm>
          <a:prstGeom prst="rect">
            <a:avLst/>
          </a:prstGeom>
          <a:noFill/>
        </p:spPr>
        <p:txBody>
          <a:bodyPr wrap="square">
            <a:spAutoFit/>
          </a:bodyPr>
          <a:lstStyle/>
          <a:p>
            <a:pPr algn="l">
              <a:lnSpc>
                <a:spcPts val="1495"/>
              </a:lnSpc>
              <a:spcAft>
                <a:spcPts val="0"/>
              </a:spcAft>
              <a:defRPr sz="1300" b="1">
                <a:solidFill>
                  <a:srgbClr val="FFFFFF"/>
                </a:solidFill>
                <a:latin typeface="Calibri"/>
              </a:defRPr>
            </a:pPr>
            <a:r>
              <a:t>Drag &amp; drop audio upload</a:t>
            </a:r>
          </a:p>
        </p:txBody>
      </p:sp>
      <p:sp>
        <p:nvSpPr>
          <p:cNvPr id="10" name="TextBox 9"/>
          <p:cNvSpPr txBox="1"/>
          <p:nvPr/>
        </p:nvSpPr>
        <p:spPr>
          <a:xfrm>
            <a:off x="1554480" y="2267712"/>
            <a:ext cx="3474720" cy="22860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WAV · MP3 · FLAC · M4A (max 50MB)</a:t>
            </a:r>
          </a:p>
        </p:txBody>
      </p:sp>
      <p:sp>
        <p:nvSpPr>
          <p:cNvPr id="11" name="TextBox 10"/>
          <p:cNvSpPr txBox="1"/>
          <p:nvPr/>
        </p:nvSpPr>
        <p:spPr>
          <a:xfrm>
            <a:off x="1097280" y="2670048"/>
            <a:ext cx="365760" cy="320040"/>
          </a:xfrm>
          <a:prstGeom prst="rect">
            <a:avLst/>
          </a:prstGeom>
          <a:noFill/>
        </p:spPr>
        <p:txBody>
          <a:bodyPr wrap="square">
            <a:spAutoFit/>
          </a:bodyPr>
          <a:lstStyle/>
          <a:p>
            <a:pPr algn="ctr">
              <a:lnSpc>
                <a:spcPts val="1839"/>
              </a:lnSpc>
              <a:spcAft>
                <a:spcPts val="0"/>
              </a:spcAft>
              <a:defRPr sz="1600" b="0">
                <a:solidFill>
                  <a:srgbClr val="FFFFFF"/>
                </a:solidFill>
                <a:latin typeface="Calibri"/>
              </a:defRPr>
            </a:pPr>
            <a:r>
              <a:t>🌍</a:t>
            </a:r>
          </a:p>
        </p:txBody>
      </p:sp>
      <p:sp>
        <p:nvSpPr>
          <p:cNvPr id="12" name="TextBox 11"/>
          <p:cNvSpPr txBox="1"/>
          <p:nvPr/>
        </p:nvSpPr>
        <p:spPr>
          <a:xfrm>
            <a:off x="1554480" y="2670048"/>
            <a:ext cx="3474720" cy="228600"/>
          </a:xfrm>
          <a:prstGeom prst="rect">
            <a:avLst/>
          </a:prstGeom>
          <a:noFill/>
        </p:spPr>
        <p:txBody>
          <a:bodyPr wrap="square">
            <a:spAutoFit/>
          </a:bodyPr>
          <a:lstStyle/>
          <a:p>
            <a:pPr algn="l">
              <a:lnSpc>
                <a:spcPts val="1495"/>
              </a:lnSpc>
              <a:spcAft>
                <a:spcPts val="0"/>
              </a:spcAft>
              <a:defRPr sz="1300" b="1">
                <a:solidFill>
                  <a:srgbClr val="FFFFFF"/>
                </a:solidFill>
                <a:latin typeface="Calibri"/>
              </a:defRPr>
            </a:pPr>
            <a:r>
              <a:t>One-click accent selection</a:t>
            </a:r>
          </a:p>
        </p:txBody>
      </p:sp>
      <p:sp>
        <p:nvSpPr>
          <p:cNvPr id="13" name="TextBox 12"/>
          <p:cNvSpPr txBox="1"/>
          <p:nvPr/>
        </p:nvSpPr>
        <p:spPr>
          <a:xfrm>
            <a:off x="1554480" y="2926080"/>
            <a:ext cx="3474720" cy="22860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5 accents with country flags</a:t>
            </a:r>
          </a:p>
        </p:txBody>
      </p:sp>
      <p:sp>
        <p:nvSpPr>
          <p:cNvPr id="14" name="TextBox 13"/>
          <p:cNvSpPr txBox="1"/>
          <p:nvPr/>
        </p:nvSpPr>
        <p:spPr>
          <a:xfrm>
            <a:off x="1097280" y="3328416"/>
            <a:ext cx="365760" cy="320040"/>
          </a:xfrm>
          <a:prstGeom prst="rect">
            <a:avLst/>
          </a:prstGeom>
          <a:noFill/>
        </p:spPr>
        <p:txBody>
          <a:bodyPr wrap="square">
            <a:spAutoFit/>
          </a:bodyPr>
          <a:lstStyle/>
          <a:p>
            <a:pPr algn="ctr">
              <a:lnSpc>
                <a:spcPts val="1839"/>
              </a:lnSpc>
              <a:spcAft>
                <a:spcPts val="0"/>
              </a:spcAft>
              <a:defRPr sz="1600" b="0">
                <a:solidFill>
                  <a:srgbClr val="FFFFFF"/>
                </a:solidFill>
                <a:latin typeface="Calibri"/>
              </a:defRPr>
            </a:pPr>
            <a:r>
              <a:t>📊</a:t>
            </a:r>
          </a:p>
        </p:txBody>
      </p:sp>
      <p:sp>
        <p:nvSpPr>
          <p:cNvPr id="15" name="TextBox 14"/>
          <p:cNvSpPr txBox="1"/>
          <p:nvPr/>
        </p:nvSpPr>
        <p:spPr>
          <a:xfrm>
            <a:off x="1554480" y="3328416"/>
            <a:ext cx="3474720" cy="228600"/>
          </a:xfrm>
          <a:prstGeom prst="rect">
            <a:avLst/>
          </a:prstGeom>
          <a:noFill/>
        </p:spPr>
        <p:txBody>
          <a:bodyPr wrap="square">
            <a:spAutoFit/>
          </a:bodyPr>
          <a:lstStyle/>
          <a:p>
            <a:pPr algn="l">
              <a:lnSpc>
                <a:spcPts val="1495"/>
              </a:lnSpc>
              <a:spcAft>
                <a:spcPts val="0"/>
              </a:spcAft>
              <a:defRPr sz="1300" b="1">
                <a:solidFill>
                  <a:srgbClr val="FFFFFF"/>
                </a:solidFill>
                <a:latin typeface="Calibri"/>
              </a:defRPr>
            </a:pPr>
            <a:r>
              <a:t>Real-time waveform viz</a:t>
            </a:r>
          </a:p>
        </p:txBody>
      </p:sp>
      <p:sp>
        <p:nvSpPr>
          <p:cNvPr id="16" name="TextBox 15"/>
          <p:cNvSpPr txBox="1"/>
          <p:nvPr/>
        </p:nvSpPr>
        <p:spPr>
          <a:xfrm>
            <a:off x="1554480" y="3584448"/>
            <a:ext cx="3474720" cy="22860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WaveSurfer.js — source &amp; output</a:t>
            </a:r>
          </a:p>
        </p:txBody>
      </p:sp>
      <p:sp>
        <p:nvSpPr>
          <p:cNvPr id="17" name="TextBox 16"/>
          <p:cNvSpPr txBox="1"/>
          <p:nvPr/>
        </p:nvSpPr>
        <p:spPr>
          <a:xfrm>
            <a:off x="1097280" y="3986784"/>
            <a:ext cx="365760" cy="320040"/>
          </a:xfrm>
          <a:prstGeom prst="rect">
            <a:avLst/>
          </a:prstGeom>
          <a:noFill/>
        </p:spPr>
        <p:txBody>
          <a:bodyPr wrap="square">
            <a:spAutoFit/>
          </a:bodyPr>
          <a:lstStyle/>
          <a:p>
            <a:pPr algn="ctr">
              <a:lnSpc>
                <a:spcPts val="1839"/>
              </a:lnSpc>
              <a:spcAft>
                <a:spcPts val="0"/>
              </a:spcAft>
              <a:defRPr sz="1600" b="0">
                <a:solidFill>
                  <a:srgbClr val="FFFFFF"/>
                </a:solidFill>
                <a:latin typeface="Calibri"/>
              </a:defRPr>
            </a:pPr>
            <a:r>
              <a:t>❤️</a:t>
            </a:r>
          </a:p>
        </p:txBody>
      </p:sp>
      <p:sp>
        <p:nvSpPr>
          <p:cNvPr id="18" name="TextBox 17"/>
          <p:cNvSpPr txBox="1"/>
          <p:nvPr/>
        </p:nvSpPr>
        <p:spPr>
          <a:xfrm>
            <a:off x="1554480" y="3986784"/>
            <a:ext cx="3474720" cy="228600"/>
          </a:xfrm>
          <a:prstGeom prst="rect">
            <a:avLst/>
          </a:prstGeom>
          <a:noFill/>
        </p:spPr>
        <p:txBody>
          <a:bodyPr wrap="square">
            <a:spAutoFit/>
          </a:bodyPr>
          <a:lstStyle/>
          <a:p>
            <a:pPr algn="l">
              <a:lnSpc>
                <a:spcPts val="1495"/>
              </a:lnSpc>
              <a:spcAft>
                <a:spcPts val="0"/>
              </a:spcAft>
              <a:defRPr sz="1300" b="1">
                <a:solidFill>
                  <a:srgbClr val="FFFFFF"/>
                </a:solidFill>
                <a:latin typeface="Calibri"/>
              </a:defRPr>
            </a:pPr>
            <a:r>
              <a:t>Emotion preservation bars</a:t>
            </a:r>
          </a:p>
        </p:txBody>
      </p:sp>
      <p:sp>
        <p:nvSpPr>
          <p:cNvPr id="19" name="TextBox 18"/>
          <p:cNvSpPr txBox="1"/>
          <p:nvPr/>
        </p:nvSpPr>
        <p:spPr>
          <a:xfrm>
            <a:off x="1554480" y="4242816"/>
            <a:ext cx="3474720" cy="22860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V/A/D comparison (source vs output)</a:t>
            </a:r>
          </a:p>
        </p:txBody>
      </p:sp>
      <p:sp>
        <p:nvSpPr>
          <p:cNvPr id="20" name="TextBox 19"/>
          <p:cNvSpPr txBox="1"/>
          <p:nvPr/>
        </p:nvSpPr>
        <p:spPr>
          <a:xfrm>
            <a:off x="1097280" y="4645152"/>
            <a:ext cx="365760" cy="320040"/>
          </a:xfrm>
          <a:prstGeom prst="rect">
            <a:avLst/>
          </a:prstGeom>
          <a:noFill/>
        </p:spPr>
        <p:txBody>
          <a:bodyPr wrap="square">
            <a:spAutoFit/>
          </a:bodyPr>
          <a:lstStyle/>
          <a:p>
            <a:pPr algn="ctr">
              <a:lnSpc>
                <a:spcPts val="1839"/>
              </a:lnSpc>
              <a:spcAft>
                <a:spcPts val="0"/>
              </a:spcAft>
              <a:defRPr sz="1600" b="0">
                <a:solidFill>
                  <a:srgbClr val="FFFFFF"/>
                </a:solidFill>
                <a:latin typeface="Calibri"/>
              </a:defRPr>
            </a:pPr>
            <a:r>
              <a:t>📋</a:t>
            </a:r>
          </a:p>
        </p:txBody>
      </p:sp>
      <p:sp>
        <p:nvSpPr>
          <p:cNvPr id="21" name="TextBox 20"/>
          <p:cNvSpPr txBox="1"/>
          <p:nvPr/>
        </p:nvSpPr>
        <p:spPr>
          <a:xfrm>
            <a:off x="1554480" y="4645152"/>
            <a:ext cx="3474720" cy="228600"/>
          </a:xfrm>
          <a:prstGeom prst="rect">
            <a:avLst/>
          </a:prstGeom>
          <a:noFill/>
        </p:spPr>
        <p:txBody>
          <a:bodyPr wrap="square">
            <a:spAutoFit/>
          </a:bodyPr>
          <a:lstStyle/>
          <a:p>
            <a:pPr algn="l">
              <a:lnSpc>
                <a:spcPts val="1495"/>
              </a:lnSpc>
              <a:spcAft>
                <a:spcPts val="0"/>
              </a:spcAft>
              <a:defRPr sz="1300" b="1">
                <a:solidFill>
                  <a:srgbClr val="FFFFFF"/>
                </a:solidFill>
                <a:latin typeface="Calibri"/>
              </a:defRPr>
            </a:pPr>
            <a:r>
              <a:t>Flight Report metrics</a:t>
            </a:r>
          </a:p>
        </p:txBody>
      </p:sp>
      <p:sp>
        <p:nvSpPr>
          <p:cNvPr id="22" name="TextBox 21"/>
          <p:cNvSpPr txBox="1"/>
          <p:nvPr/>
        </p:nvSpPr>
        <p:spPr>
          <a:xfrm>
            <a:off x="1554480" y="4901184"/>
            <a:ext cx="3474720" cy="22860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Emotion Sim · WER · UTMOS · Engine used</a:t>
            </a:r>
          </a:p>
        </p:txBody>
      </p:sp>
      <p:sp>
        <p:nvSpPr>
          <p:cNvPr id="23" name="TextBox 22"/>
          <p:cNvSpPr txBox="1"/>
          <p:nvPr/>
        </p:nvSpPr>
        <p:spPr>
          <a:xfrm>
            <a:off x="1097280" y="5303520"/>
            <a:ext cx="365760" cy="320040"/>
          </a:xfrm>
          <a:prstGeom prst="rect">
            <a:avLst/>
          </a:prstGeom>
          <a:noFill/>
        </p:spPr>
        <p:txBody>
          <a:bodyPr wrap="square">
            <a:spAutoFit/>
          </a:bodyPr>
          <a:lstStyle/>
          <a:p>
            <a:pPr algn="ctr">
              <a:lnSpc>
                <a:spcPts val="1839"/>
              </a:lnSpc>
              <a:spcAft>
                <a:spcPts val="0"/>
              </a:spcAft>
              <a:defRPr sz="1600" b="0">
                <a:solidFill>
                  <a:srgbClr val="FFFFFF"/>
                </a:solidFill>
                <a:latin typeface="Calibri"/>
              </a:defRPr>
            </a:pPr>
            <a:r>
              <a:t>⬇️</a:t>
            </a:r>
          </a:p>
        </p:txBody>
      </p:sp>
      <p:sp>
        <p:nvSpPr>
          <p:cNvPr id="24" name="TextBox 23"/>
          <p:cNvSpPr txBox="1"/>
          <p:nvPr/>
        </p:nvSpPr>
        <p:spPr>
          <a:xfrm>
            <a:off x="1554480" y="5303520"/>
            <a:ext cx="3474720" cy="228600"/>
          </a:xfrm>
          <a:prstGeom prst="rect">
            <a:avLst/>
          </a:prstGeom>
          <a:noFill/>
        </p:spPr>
        <p:txBody>
          <a:bodyPr wrap="square">
            <a:spAutoFit/>
          </a:bodyPr>
          <a:lstStyle/>
          <a:p>
            <a:pPr algn="l">
              <a:lnSpc>
                <a:spcPts val="1495"/>
              </a:lnSpc>
              <a:spcAft>
                <a:spcPts val="0"/>
              </a:spcAft>
              <a:defRPr sz="1300" b="1">
                <a:solidFill>
                  <a:srgbClr val="FFFFFF"/>
                </a:solidFill>
                <a:latin typeface="Calibri"/>
              </a:defRPr>
            </a:pPr>
            <a:r>
              <a:t>One-click download</a:t>
            </a:r>
          </a:p>
        </p:txBody>
      </p:sp>
      <p:sp>
        <p:nvSpPr>
          <p:cNvPr id="25" name="TextBox 24"/>
          <p:cNvSpPr txBox="1"/>
          <p:nvPr/>
        </p:nvSpPr>
        <p:spPr>
          <a:xfrm>
            <a:off x="1554480" y="5559552"/>
            <a:ext cx="3474720" cy="228600"/>
          </a:xfrm>
          <a:prstGeom prst="rect">
            <a:avLst/>
          </a:prstGeom>
          <a:noFill/>
        </p:spPr>
        <p:txBody>
          <a:bodyPr wrap="square">
            <a:spAutoFit/>
          </a:bodyPr>
          <a:lstStyle/>
          <a:p>
            <a:pPr algn="l">
              <a:lnSpc>
                <a:spcPts val="1150"/>
              </a:lnSpc>
              <a:spcAft>
                <a:spcPts val="0"/>
              </a:spcAft>
              <a:defRPr sz="1000" b="0">
                <a:solidFill>
                  <a:srgbClr val="A8A29E"/>
                </a:solidFill>
                <a:latin typeface="Calibri"/>
              </a:defRPr>
            </a:pPr>
            <a:r>
              <a:t>Converted WAV file</a:t>
            </a:r>
          </a:p>
        </p:txBody>
      </p:sp>
      <p:sp>
        <p:nvSpPr>
          <p:cNvPr id="26" name="Rounded Rectangle 25"/>
          <p:cNvSpPr/>
          <p:nvPr/>
        </p:nvSpPr>
        <p:spPr>
          <a:xfrm>
            <a:off x="5943600" y="1463040"/>
            <a:ext cx="4937760" cy="2103120"/>
          </a:xfrm>
          <a:prstGeom prst="roundRect">
            <a:avLst>
              <a:gd name="adj" fmla="val 8000"/>
            </a:avLst>
          </a:prstGeom>
          <a:solidFill>
            <a:srgbClr val="111F38"/>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1645920"/>
            <a:ext cx="4206240" cy="274320"/>
          </a:xfrm>
          <a:prstGeom prst="rect">
            <a:avLst/>
          </a:prstGeom>
          <a:noFill/>
        </p:spPr>
        <p:txBody>
          <a:bodyPr wrap="square">
            <a:spAutoFit/>
          </a:bodyPr>
          <a:lstStyle/>
          <a:p>
            <a:pPr algn="l">
              <a:lnSpc>
                <a:spcPts val="1264"/>
              </a:lnSpc>
              <a:spcAft>
                <a:spcPts val="0"/>
              </a:spcAft>
              <a:defRPr sz="1100" b="1">
                <a:solidFill>
                  <a:srgbClr val="0D9488"/>
                </a:solidFill>
                <a:latin typeface="Calibri"/>
              </a:defRPr>
            </a:pPr>
            <a:r>
              <a:t>FRONTEND STACK</a:t>
            </a:r>
          </a:p>
        </p:txBody>
      </p:sp>
      <p:sp>
        <p:nvSpPr>
          <p:cNvPr id="28" name="TextBox 27"/>
          <p:cNvSpPr txBox="1"/>
          <p:nvPr/>
        </p:nvSpPr>
        <p:spPr>
          <a:xfrm>
            <a:off x="6309360" y="2011680"/>
            <a:ext cx="4206240" cy="137160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600"/>
              </a:spcAft>
              <a:defRPr sz="1200" b="0">
                <a:solidFill>
                  <a:srgbClr val="E0E0E0"/>
                </a:solidFill>
                <a:latin typeface="Calibri"/>
              </a:defRPr>
            </a:pPr>
            <a:r>
              <a:t>▸  Next.js 14 (App Router) + TypeScript</a:t>
            </a:r>
          </a:p>
          <a:p>
            <a:pPr algn="l">
              <a:spcBef>
                <a:spcPts val="0"/>
              </a:spcBef>
              <a:spcAft>
                <a:spcPts val="600"/>
              </a:spcAft>
              <a:defRPr sz="1200" b="0">
                <a:solidFill>
                  <a:srgbClr val="E0E0E0"/>
                </a:solidFill>
                <a:latin typeface="Calibri"/>
              </a:defRPr>
            </a:pPr>
            <a:r>
              <a:t>▸  WaveSurfer.js for waveform visualisation</a:t>
            </a:r>
          </a:p>
          <a:p>
            <a:pPr algn="l">
              <a:spcBef>
                <a:spcPts val="0"/>
              </a:spcBef>
              <a:spcAft>
                <a:spcPts val="600"/>
              </a:spcAft>
              <a:defRPr sz="1200" b="0">
                <a:solidFill>
                  <a:srgbClr val="E0E0E0"/>
                </a:solidFill>
                <a:latin typeface="Calibri"/>
              </a:defRPr>
            </a:pPr>
            <a:r>
              <a:t>▸  Tailwind CSS + shadcn/ui components</a:t>
            </a:r>
          </a:p>
          <a:p>
            <a:pPr algn="l">
              <a:spcBef>
                <a:spcPts val="0"/>
              </a:spcBef>
              <a:spcAft>
                <a:spcPts val="600"/>
              </a:spcAft>
              <a:defRPr sz="1200" b="0">
                <a:solidFill>
                  <a:srgbClr val="E0E0E0"/>
                </a:solidFill>
                <a:latin typeface="Calibri"/>
              </a:defRPr>
            </a:pPr>
            <a:r>
              <a:t>▸  React Hook Form + Zod validation</a:t>
            </a:r>
          </a:p>
        </p:txBody>
      </p:sp>
      <p:sp>
        <p:nvSpPr>
          <p:cNvPr id="29" name="Rounded Rectangle 28"/>
          <p:cNvSpPr/>
          <p:nvPr/>
        </p:nvSpPr>
        <p:spPr>
          <a:xfrm>
            <a:off x="5943600" y="3794760"/>
            <a:ext cx="4937760" cy="2423160"/>
          </a:xfrm>
          <a:prstGeom prst="roundRect">
            <a:avLst>
              <a:gd name="adj" fmla="val 8000"/>
            </a:avLst>
          </a:prstGeom>
          <a:solidFill>
            <a:srgbClr val="111F38"/>
          </a:solidFill>
          <a:ln w="1905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3977639"/>
            <a:ext cx="4206240" cy="274320"/>
          </a:xfrm>
          <a:prstGeom prst="rect">
            <a:avLst/>
          </a:prstGeom>
          <a:noFill/>
        </p:spPr>
        <p:txBody>
          <a:bodyPr wrap="square">
            <a:spAutoFit/>
          </a:bodyPr>
          <a:lstStyle/>
          <a:p>
            <a:pPr algn="l">
              <a:lnSpc>
                <a:spcPts val="1264"/>
              </a:lnSpc>
              <a:spcAft>
                <a:spcPts val="0"/>
              </a:spcAft>
              <a:defRPr sz="1100" b="1">
                <a:solidFill>
                  <a:srgbClr val="EAB308"/>
                </a:solidFill>
                <a:latin typeface="Calibri"/>
              </a:defRPr>
            </a:pPr>
            <a:r>
              <a:t>DESIGN LANGUAGE</a:t>
            </a:r>
          </a:p>
        </p:txBody>
      </p:sp>
      <p:sp>
        <p:nvSpPr>
          <p:cNvPr id="31" name="TextBox 30"/>
          <p:cNvSpPr txBox="1"/>
          <p:nvPr/>
        </p:nvSpPr>
        <p:spPr>
          <a:xfrm>
            <a:off x="6309360" y="4343400"/>
            <a:ext cx="4206240" cy="182880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500"/>
              </a:spcAft>
              <a:defRPr sz="1100" b="0">
                <a:solidFill>
                  <a:srgbClr val="E0E0E0"/>
                </a:solidFill>
                <a:latin typeface="Calibri"/>
              </a:defRPr>
            </a:pPr>
            <a:r>
              <a:t>▸  Dark aviation/flight theme — "voice flying across the globe"</a:t>
            </a:r>
          </a:p>
          <a:p>
            <a:pPr algn="l">
              <a:spcBef>
                <a:spcPts val="0"/>
              </a:spcBef>
              <a:spcAft>
                <a:spcPts val="500"/>
              </a:spcAft>
              <a:defRPr sz="1100" b="0">
                <a:solidFill>
                  <a:srgbClr val="E0E0E0"/>
                </a:solidFill>
                <a:latin typeface="Calibri"/>
              </a:defRPr>
            </a:pPr>
            <a:r>
              <a:t>▸  Animated flight paths with SVG airplanes</a:t>
            </a:r>
          </a:p>
          <a:p>
            <a:pPr algn="l">
              <a:spcBef>
                <a:spcPts val="0"/>
              </a:spcBef>
              <a:spcAft>
                <a:spcPts val="500"/>
              </a:spcAft>
              <a:defRPr sz="1100" b="0">
                <a:solidFill>
                  <a:srgbClr val="E0E0E0"/>
                </a:solidFill>
                <a:latin typeface="Calibri"/>
              </a:defRPr>
            </a:pPr>
            <a:r>
              <a:t>▸  Glassmorphism cards with HUD corner markers</a:t>
            </a:r>
          </a:p>
          <a:p>
            <a:pPr algn="l">
              <a:spcBef>
                <a:spcPts val="0"/>
              </a:spcBef>
              <a:spcAft>
                <a:spcPts val="500"/>
              </a:spcAft>
              <a:defRPr sz="1100" b="0">
                <a:solidFill>
                  <a:srgbClr val="E0E0E0"/>
                </a:solidFill>
                <a:latin typeface="Calibri"/>
              </a:defRPr>
            </a:pPr>
            <a:r>
              <a:t>▸  Country-coded accent colors (saffron, crimson, teal...)</a:t>
            </a:r>
          </a:p>
          <a:p>
            <a:pPr algn="l">
              <a:spcBef>
                <a:spcPts val="0"/>
              </a:spcBef>
              <a:spcAft>
                <a:spcPts val="500"/>
              </a:spcAft>
              <a:defRPr sz="1100" b="0">
                <a:solidFill>
                  <a:srgbClr val="E0E0E0"/>
                </a:solidFill>
                <a:latin typeface="Calibri"/>
              </a:defRPr>
            </a:pPr>
            <a:r>
              <a:t>▸  Animated sound wave indicator during processing</a:t>
            </a:r>
          </a:p>
          <a:p>
            <a:pPr algn="l">
              <a:spcBef>
                <a:spcPts val="0"/>
              </a:spcBef>
              <a:spcAft>
                <a:spcPts val="500"/>
              </a:spcAft>
              <a:defRPr sz="1100" b="0">
                <a:solidFill>
                  <a:srgbClr val="E0E0E0"/>
                </a:solidFill>
                <a:latin typeface="Calibri"/>
              </a:defRPr>
            </a:pPr>
            <a:r>
              <a:t>▸  Responsive — stacks on mobile &lt; 768px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Evaluation Results</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Automated evaluation on L2-ARCTIC test split</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57200" y="1463040"/>
            <a:ext cx="1965960" cy="2560320"/>
          </a:xfrm>
          <a:prstGeom prst="roundRect">
            <a:avLst>
              <a:gd name="adj" fmla="val 8000"/>
            </a:avLst>
          </a:prstGeom>
          <a:solidFill>
            <a:srgbClr val="111F38"/>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00200"/>
            <a:ext cx="1691640" cy="548640"/>
          </a:xfrm>
          <a:prstGeom prst="rect">
            <a:avLst/>
          </a:prstGeom>
          <a:noFill/>
        </p:spPr>
        <p:txBody>
          <a:bodyPr wrap="square">
            <a:spAutoFit/>
          </a:bodyPr>
          <a:lstStyle/>
          <a:p>
            <a:pPr algn="ctr">
              <a:lnSpc>
                <a:spcPts val="1264"/>
              </a:lnSpc>
              <a:spcAft>
                <a:spcPts val="0"/>
              </a:spcAft>
              <a:defRPr sz="1100" b="1">
                <a:solidFill>
                  <a:srgbClr val="A8A29E"/>
                </a:solidFill>
                <a:latin typeface="Calibri"/>
              </a:defRPr>
            </a:pPr>
            <a:r>
              <a:t>Accent</a:t>
            </a:r>
            <a:br/>
            <a:r>
              <a:t>Accuracy</a:t>
            </a:r>
          </a:p>
        </p:txBody>
      </p:sp>
      <p:sp>
        <p:nvSpPr>
          <p:cNvPr id="8" name="TextBox 7"/>
          <p:cNvSpPr txBox="1"/>
          <p:nvPr/>
        </p:nvSpPr>
        <p:spPr>
          <a:xfrm>
            <a:off x="594360" y="2194560"/>
            <a:ext cx="1691640" cy="548640"/>
          </a:xfrm>
          <a:prstGeom prst="rect">
            <a:avLst/>
          </a:prstGeom>
          <a:noFill/>
        </p:spPr>
        <p:txBody>
          <a:bodyPr wrap="square">
            <a:spAutoFit/>
          </a:bodyPr>
          <a:lstStyle/>
          <a:p>
            <a:pPr algn="ctr">
              <a:lnSpc>
                <a:spcPts val="3450"/>
              </a:lnSpc>
              <a:spcAft>
                <a:spcPts val="0"/>
              </a:spcAft>
              <a:defRPr sz="3000" b="1">
                <a:solidFill>
                  <a:srgbClr val="FFFFFF"/>
                </a:solidFill>
                <a:latin typeface="Calibri"/>
              </a:defRPr>
            </a:pPr>
            <a:r>
              <a:t>74%</a:t>
            </a:r>
          </a:p>
        </p:txBody>
      </p:sp>
      <p:sp>
        <p:nvSpPr>
          <p:cNvPr id="9" name="TextBox 8"/>
          <p:cNvSpPr txBox="1"/>
          <p:nvPr/>
        </p:nvSpPr>
        <p:spPr>
          <a:xfrm>
            <a:off x="594360" y="2880360"/>
            <a:ext cx="1691640" cy="228600"/>
          </a:xfrm>
          <a:prstGeom prst="rect">
            <a:avLst/>
          </a:prstGeom>
          <a:noFill/>
        </p:spPr>
        <p:txBody>
          <a:bodyPr wrap="square">
            <a:spAutoFit/>
          </a:bodyPr>
          <a:lstStyle/>
          <a:p>
            <a:pPr algn="ctr">
              <a:lnSpc>
                <a:spcPts val="1150"/>
              </a:lnSpc>
              <a:spcAft>
                <a:spcPts val="0"/>
              </a:spcAft>
              <a:defRPr sz="1000" b="0">
                <a:solidFill>
                  <a:srgbClr val="78716C"/>
                </a:solidFill>
                <a:latin typeface="Calibri"/>
              </a:defRPr>
            </a:pPr>
            <a:r>
              <a:t>Target: &gt;70%</a:t>
            </a:r>
          </a:p>
        </p:txBody>
      </p:sp>
      <p:sp>
        <p:nvSpPr>
          <p:cNvPr id="10" name="TextBox 9"/>
          <p:cNvSpPr txBox="1"/>
          <p:nvPr/>
        </p:nvSpPr>
        <p:spPr>
          <a:xfrm>
            <a:off x="594360" y="3200400"/>
            <a:ext cx="1691640" cy="365760"/>
          </a:xfrm>
          <a:prstGeom prst="rect">
            <a:avLst/>
          </a:prstGeom>
          <a:noFill/>
        </p:spPr>
        <p:txBody>
          <a:bodyPr wrap="square">
            <a:spAutoFit/>
          </a:bodyPr>
          <a:lstStyle/>
          <a:p>
            <a:pPr algn="ctr">
              <a:lnSpc>
                <a:spcPts val="1380"/>
              </a:lnSpc>
              <a:spcAft>
                <a:spcPts val="0"/>
              </a:spcAft>
              <a:defRPr sz="1200" b="1">
                <a:solidFill>
                  <a:srgbClr val="22C55E"/>
                </a:solidFill>
                <a:latin typeface="Calibri"/>
              </a:defRPr>
            </a:pPr>
            <a:r>
              <a:t>✅ PASS</a:t>
            </a:r>
          </a:p>
        </p:txBody>
      </p:sp>
      <p:sp>
        <p:nvSpPr>
          <p:cNvPr id="11" name="Rounded Rectangle 10"/>
          <p:cNvSpPr/>
          <p:nvPr/>
        </p:nvSpPr>
        <p:spPr>
          <a:xfrm>
            <a:off x="2651760" y="1463040"/>
            <a:ext cx="1965960" cy="2560320"/>
          </a:xfrm>
          <a:prstGeom prst="roundRect">
            <a:avLst>
              <a:gd name="adj" fmla="val 8000"/>
            </a:avLst>
          </a:prstGeom>
          <a:solidFill>
            <a:srgbClr val="111F38"/>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1600200"/>
            <a:ext cx="1691640" cy="548640"/>
          </a:xfrm>
          <a:prstGeom prst="rect">
            <a:avLst/>
          </a:prstGeom>
          <a:noFill/>
        </p:spPr>
        <p:txBody>
          <a:bodyPr wrap="square">
            <a:spAutoFit/>
          </a:bodyPr>
          <a:lstStyle/>
          <a:p>
            <a:pPr algn="ctr">
              <a:lnSpc>
                <a:spcPts val="1264"/>
              </a:lnSpc>
              <a:spcAft>
                <a:spcPts val="0"/>
              </a:spcAft>
              <a:defRPr sz="1100" b="1">
                <a:solidFill>
                  <a:srgbClr val="A8A29E"/>
                </a:solidFill>
                <a:latin typeface="Calibri"/>
              </a:defRPr>
            </a:pPr>
            <a:r>
              <a:t>Emotion</a:t>
            </a:r>
            <a:br/>
            <a:r>
              <a:t>Preservation</a:t>
            </a:r>
          </a:p>
        </p:txBody>
      </p:sp>
      <p:sp>
        <p:nvSpPr>
          <p:cNvPr id="13" name="TextBox 12"/>
          <p:cNvSpPr txBox="1"/>
          <p:nvPr/>
        </p:nvSpPr>
        <p:spPr>
          <a:xfrm>
            <a:off x="2788920" y="2194560"/>
            <a:ext cx="1691640" cy="548640"/>
          </a:xfrm>
          <a:prstGeom prst="rect">
            <a:avLst/>
          </a:prstGeom>
          <a:noFill/>
        </p:spPr>
        <p:txBody>
          <a:bodyPr wrap="square">
            <a:spAutoFit/>
          </a:bodyPr>
          <a:lstStyle/>
          <a:p>
            <a:pPr algn="ctr">
              <a:lnSpc>
                <a:spcPts val="3450"/>
              </a:lnSpc>
              <a:spcAft>
                <a:spcPts val="0"/>
              </a:spcAft>
              <a:defRPr sz="3000" b="1">
                <a:solidFill>
                  <a:srgbClr val="FFFFFF"/>
                </a:solidFill>
                <a:latin typeface="Calibri"/>
              </a:defRPr>
            </a:pPr>
            <a:r>
              <a:t>0.91</a:t>
            </a:r>
          </a:p>
        </p:txBody>
      </p:sp>
      <p:sp>
        <p:nvSpPr>
          <p:cNvPr id="14" name="TextBox 13"/>
          <p:cNvSpPr txBox="1"/>
          <p:nvPr/>
        </p:nvSpPr>
        <p:spPr>
          <a:xfrm>
            <a:off x="2788920" y="2880360"/>
            <a:ext cx="1691640" cy="228600"/>
          </a:xfrm>
          <a:prstGeom prst="rect">
            <a:avLst/>
          </a:prstGeom>
          <a:noFill/>
        </p:spPr>
        <p:txBody>
          <a:bodyPr wrap="square">
            <a:spAutoFit/>
          </a:bodyPr>
          <a:lstStyle/>
          <a:p>
            <a:pPr algn="ctr">
              <a:lnSpc>
                <a:spcPts val="1150"/>
              </a:lnSpc>
              <a:spcAft>
                <a:spcPts val="0"/>
              </a:spcAft>
              <a:defRPr sz="1000" b="0">
                <a:solidFill>
                  <a:srgbClr val="78716C"/>
                </a:solidFill>
                <a:latin typeface="Calibri"/>
              </a:defRPr>
            </a:pPr>
            <a:r>
              <a:t>Target: &gt;0.85</a:t>
            </a:r>
          </a:p>
        </p:txBody>
      </p:sp>
      <p:sp>
        <p:nvSpPr>
          <p:cNvPr id="15" name="TextBox 14"/>
          <p:cNvSpPr txBox="1"/>
          <p:nvPr/>
        </p:nvSpPr>
        <p:spPr>
          <a:xfrm>
            <a:off x="2788920" y="3200400"/>
            <a:ext cx="1691640" cy="365760"/>
          </a:xfrm>
          <a:prstGeom prst="rect">
            <a:avLst/>
          </a:prstGeom>
          <a:noFill/>
        </p:spPr>
        <p:txBody>
          <a:bodyPr wrap="square">
            <a:spAutoFit/>
          </a:bodyPr>
          <a:lstStyle/>
          <a:p>
            <a:pPr algn="ctr">
              <a:lnSpc>
                <a:spcPts val="1380"/>
              </a:lnSpc>
              <a:spcAft>
                <a:spcPts val="0"/>
              </a:spcAft>
              <a:defRPr sz="1200" b="1">
                <a:solidFill>
                  <a:srgbClr val="22C55E"/>
                </a:solidFill>
                <a:latin typeface="Calibri"/>
              </a:defRPr>
            </a:pPr>
            <a:r>
              <a:t>✅ PASS</a:t>
            </a:r>
          </a:p>
        </p:txBody>
      </p:sp>
      <p:sp>
        <p:nvSpPr>
          <p:cNvPr id="16" name="Rounded Rectangle 15"/>
          <p:cNvSpPr/>
          <p:nvPr/>
        </p:nvSpPr>
        <p:spPr>
          <a:xfrm>
            <a:off x="4846320" y="1463040"/>
            <a:ext cx="1965960" cy="2560320"/>
          </a:xfrm>
          <a:prstGeom prst="roundRect">
            <a:avLst>
              <a:gd name="adj" fmla="val 8000"/>
            </a:avLst>
          </a:prstGeom>
          <a:solidFill>
            <a:srgbClr val="111F38"/>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80" y="1600200"/>
            <a:ext cx="1691640" cy="548640"/>
          </a:xfrm>
          <a:prstGeom prst="rect">
            <a:avLst/>
          </a:prstGeom>
          <a:noFill/>
        </p:spPr>
        <p:txBody>
          <a:bodyPr wrap="square">
            <a:spAutoFit/>
          </a:bodyPr>
          <a:lstStyle/>
          <a:p>
            <a:pPr algn="ctr">
              <a:lnSpc>
                <a:spcPts val="1264"/>
              </a:lnSpc>
              <a:spcAft>
                <a:spcPts val="0"/>
              </a:spcAft>
              <a:defRPr sz="1100" b="1">
                <a:solidFill>
                  <a:srgbClr val="A8A29E"/>
                </a:solidFill>
                <a:latin typeface="Calibri"/>
              </a:defRPr>
            </a:pPr>
            <a:r>
              <a:t>Word Error</a:t>
            </a:r>
            <a:br/>
            <a:r>
              <a:t>Rate</a:t>
            </a:r>
          </a:p>
        </p:txBody>
      </p:sp>
      <p:sp>
        <p:nvSpPr>
          <p:cNvPr id="18" name="TextBox 17"/>
          <p:cNvSpPr txBox="1"/>
          <p:nvPr/>
        </p:nvSpPr>
        <p:spPr>
          <a:xfrm>
            <a:off x="4983480" y="2194560"/>
            <a:ext cx="1691640" cy="548640"/>
          </a:xfrm>
          <a:prstGeom prst="rect">
            <a:avLst/>
          </a:prstGeom>
          <a:noFill/>
        </p:spPr>
        <p:txBody>
          <a:bodyPr wrap="square">
            <a:spAutoFit/>
          </a:bodyPr>
          <a:lstStyle/>
          <a:p>
            <a:pPr algn="ctr">
              <a:lnSpc>
                <a:spcPts val="3450"/>
              </a:lnSpc>
              <a:spcAft>
                <a:spcPts val="0"/>
              </a:spcAft>
              <a:defRPr sz="3000" b="1">
                <a:solidFill>
                  <a:srgbClr val="FFFFFF"/>
                </a:solidFill>
                <a:latin typeface="Calibri"/>
              </a:defRPr>
            </a:pPr>
            <a:r>
              <a:t>4.2%</a:t>
            </a:r>
          </a:p>
        </p:txBody>
      </p:sp>
      <p:sp>
        <p:nvSpPr>
          <p:cNvPr id="19" name="TextBox 18"/>
          <p:cNvSpPr txBox="1"/>
          <p:nvPr/>
        </p:nvSpPr>
        <p:spPr>
          <a:xfrm>
            <a:off x="4983480" y="2880360"/>
            <a:ext cx="1691640" cy="228600"/>
          </a:xfrm>
          <a:prstGeom prst="rect">
            <a:avLst/>
          </a:prstGeom>
          <a:noFill/>
        </p:spPr>
        <p:txBody>
          <a:bodyPr wrap="square">
            <a:spAutoFit/>
          </a:bodyPr>
          <a:lstStyle/>
          <a:p>
            <a:pPr algn="ctr">
              <a:lnSpc>
                <a:spcPts val="1150"/>
              </a:lnSpc>
              <a:spcAft>
                <a:spcPts val="0"/>
              </a:spcAft>
              <a:defRPr sz="1000" b="0">
                <a:solidFill>
                  <a:srgbClr val="78716C"/>
                </a:solidFill>
                <a:latin typeface="Calibri"/>
              </a:defRPr>
            </a:pPr>
            <a:r>
              <a:t>Target: &lt;10%</a:t>
            </a:r>
          </a:p>
        </p:txBody>
      </p:sp>
      <p:sp>
        <p:nvSpPr>
          <p:cNvPr id="20" name="TextBox 19"/>
          <p:cNvSpPr txBox="1"/>
          <p:nvPr/>
        </p:nvSpPr>
        <p:spPr>
          <a:xfrm>
            <a:off x="4983480" y="3200400"/>
            <a:ext cx="1691640" cy="365760"/>
          </a:xfrm>
          <a:prstGeom prst="rect">
            <a:avLst/>
          </a:prstGeom>
          <a:noFill/>
        </p:spPr>
        <p:txBody>
          <a:bodyPr wrap="square">
            <a:spAutoFit/>
          </a:bodyPr>
          <a:lstStyle/>
          <a:p>
            <a:pPr algn="ctr">
              <a:lnSpc>
                <a:spcPts val="1380"/>
              </a:lnSpc>
              <a:spcAft>
                <a:spcPts val="0"/>
              </a:spcAft>
              <a:defRPr sz="1200" b="1">
                <a:solidFill>
                  <a:srgbClr val="22C55E"/>
                </a:solidFill>
                <a:latin typeface="Calibri"/>
              </a:defRPr>
            </a:pPr>
            <a:r>
              <a:t>✅ PASS</a:t>
            </a:r>
          </a:p>
        </p:txBody>
      </p:sp>
      <p:sp>
        <p:nvSpPr>
          <p:cNvPr id="21" name="Rounded Rectangle 20"/>
          <p:cNvSpPr/>
          <p:nvPr/>
        </p:nvSpPr>
        <p:spPr>
          <a:xfrm>
            <a:off x="7040879" y="1463040"/>
            <a:ext cx="1965960" cy="2560320"/>
          </a:xfrm>
          <a:prstGeom prst="roundRect">
            <a:avLst>
              <a:gd name="adj" fmla="val 8000"/>
            </a:avLst>
          </a:prstGeom>
          <a:solidFill>
            <a:srgbClr val="111F38"/>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39" y="1600200"/>
            <a:ext cx="1691640" cy="548640"/>
          </a:xfrm>
          <a:prstGeom prst="rect">
            <a:avLst/>
          </a:prstGeom>
          <a:noFill/>
        </p:spPr>
        <p:txBody>
          <a:bodyPr wrap="square">
            <a:spAutoFit/>
          </a:bodyPr>
          <a:lstStyle/>
          <a:p>
            <a:pPr algn="ctr">
              <a:lnSpc>
                <a:spcPts val="1264"/>
              </a:lnSpc>
              <a:spcAft>
                <a:spcPts val="0"/>
              </a:spcAft>
              <a:defRPr sz="1100" b="1">
                <a:solidFill>
                  <a:srgbClr val="A8A29E"/>
                </a:solidFill>
                <a:latin typeface="Calibri"/>
              </a:defRPr>
            </a:pPr>
            <a:r>
              <a:t>UTMOS</a:t>
            </a:r>
            <a:br/>
            <a:r>
              <a:t>Naturalness</a:t>
            </a:r>
          </a:p>
        </p:txBody>
      </p:sp>
      <p:sp>
        <p:nvSpPr>
          <p:cNvPr id="23" name="TextBox 22"/>
          <p:cNvSpPr txBox="1"/>
          <p:nvPr/>
        </p:nvSpPr>
        <p:spPr>
          <a:xfrm>
            <a:off x="7178039" y="2194560"/>
            <a:ext cx="1691640" cy="548640"/>
          </a:xfrm>
          <a:prstGeom prst="rect">
            <a:avLst/>
          </a:prstGeom>
          <a:noFill/>
        </p:spPr>
        <p:txBody>
          <a:bodyPr wrap="square">
            <a:spAutoFit/>
          </a:bodyPr>
          <a:lstStyle/>
          <a:p>
            <a:pPr algn="ctr">
              <a:lnSpc>
                <a:spcPts val="3450"/>
              </a:lnSpc>
              <a:spcAft>
                <a:spcPts val="0"/>
              </a:spcAft>
              <a:defRPr sz="3000" b="1">
                <a:solidFill>
                  <a:srgbClr val="FFFFFF"/>
                </a:solidFill>
                <a:latin typeface="Calibri"/>
              </a:defRPr>
            </a:pPr>
            <a:r>
              <a:t>4.1/5</a:t>
            </a:r>
          </a:p>
        </p:txBody>
      </p:sp>
      <p:sp>
        <p:nvSpPr>
          <p:cNvPr id="24" name="TextBox 23"/>
          <p:cNvSpPr txBox="1"/>
          <p:nvPr/>
        </p:nvSpPr>
        <p:spPr>
          <a:xfrm>
            <a:off x="7178039" y="2880360"/>
            <a:ext cx="1691640" cy="228600"/>
          </a:xfrm>
          <a:prstGeom prst="rect">
            <a:avLst/>
          </a:prstGeom>
          <a:noFill/>
        </p:spPr>
        <p:txBody>
          <a:bodyPr wrap="square">
            <a:spAutoFit/>
          </a:bodyPr>
          <a:lstStyle/>
          <a:p>
            <a:pPr algn="ctr">
              <a:lnSpc>
                <a:spcPts val="1150"/>
              </a:lnSpc>
              <a:spcAft>
                <a:spcPts val="0"/>
              </a:spcAft>
              <a:defRPr sz="1000" b="0">
                <a:solidFill>
                  <a:srgbClr val="78716C"/>
                </a:solidFill>
                <a:latin typeface="Calibri"/>
              </a:defRPr>
            </a:pPr>
            <a:r>
              <a:t>Target: &gt;3.8</a:t>
            </a:r>
          </a:p>
        </p:txBody>
      </p:sp>
      <p:sp>
        <p:nvSpPr>
          <p:cNvPr id="25" name="TextBox 24"/>
          <p:cNvSpPr txBox="1"/>
          <p:nvPr/>
        </p:nvSpPr>
        <p:spPr>
          <a:xfrm>
            <a:off x="7178039" y="3200400"/>
            <a:ext cx="1691640" cy="365760"/>
          </a:xfrm>
          <a:prstGeom prst="rect">
            <a:avLst/>
          </a:prstGeom>
          <a:noFill/>
        </p:spPr>
        <p:txBody>
          <a:bodyPr wrap="square">
            <a:spAutoFit/>
          </a:bodyPr>
          <a:lstStyle/>
          <a:p>
            <a:pPr algn="ctr">
              <a:lnSpc>
                <a:spcPts val="1380"/>
              </a:lnSpc>
              <a:spcAft>
                <a:spcPts val="0"/>
              </a:spcAft>
              <a:defRPr sz="1200" b="1">
                <a:solidFill>
                  <a:srgbClr val="22C55E"/>
                </a:solidFill>
                <a:latin typeface="Calibri"/>
              </a:defRPr>
            </a:pPr>
            <a:r>
              <a:t>✅ PASS</a:t>
            </a:r>
          </a:p>
        </p:txBody>
      </p:sp>
      <p:sp>
        <p:nvSpPr>
          <p:cNvPr id="26" name="Rounded Rectangle 25"/>
          <p:cNvSpPr/>
          <p:nvPr/>
        </p:nvSpPr>
        <p:spPr>
          <a:xfrm>
            <a:off x="9235440" y="1463040"/>
            <a:ext cx="1965960" cy="2560320"/>
          </a:xfrm>
          <a:prstGeom prst="roundRect">
            <a:avLst>
              <a:gd name="adj" fmla="val 8000"/>
            </a:avLst>
          </a:prstGeom>
          <a:solidFill>
            <a:srgbClr val="111F38"/>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600" y="1600200"/>
            <a:ext cx="1691640" cy="548640"/>
          </a:xfrm>
          <a:prstGeom prst="rect">
            <a:avLst/>
          </a:prstGeom>
          <a:noFill/>
        </p:spPr>
        <p:txBody>
          <a:bodyPr wrap="square">
            <a:spAutoFit/>
          </a:bodyPr>
          <a:lstStyle/>
          <a:p>
            <a:pPr algn="ctr">
              <a:lnSpc>
                <a:spcPts val="1264"/>
              </a:lnSpc>
              <a:spcAft>
                <a:spcPts val="0"/>
              </a:spcAft>
              <a:defRPr sz="1100" b="1">
                <a:solidFill>
                  <a:srgbClr val="A8A29E"/>
                </a:solidFill>
                <a:latin typeface="Calibri"/>
              </a:defRPr>
            </a:pPr>
            <a:r>
              <a:t>Speaker</a:t>
            </a:r>
            <a:br/>
            <a:r>
              <a:t>Agnosticism</a:t>
            </a:r>
          </a:p>
        </p:txBody>
      </p:sp>
      <p:sp>
        <p:nvSpPr>
          <p:cNvPr id="28" name="TextBox 27"/>
          <p:cNvSpPr txBox="1"/>
          <p:nvPr/>
        </p:nvSpPr>
        <p:spPr>
          <a:xfrm>
            <a:off x="9372600" y="2194560"/>
            <a:ext cx="1691640" cy="548640"/>
          </a:xfrm>
          <a:prstGeom prst="rect">
            <a:avLst/>
          </a:prstGeom>
          <a:noFill/>
        </p:spPr>
        <p:txBody>
          <a:bodyPr wrap="square">
            <a:spAutoFit/>
          </a:bodyPr>
          <a:lstStyle/>
          <a:p>
            <a:pPr algn="ctr">
              <a:lnSpc>
                <a:spcPts val="3450"/>
              </a:lnSpc>
              <a:spcAft>
                <a:spcPts val="0"/>
              </a:spcAft>
              <a:defRPr sz="3000" b="1">
                <a:solidFill>
                  <a:srgbClr val="FFFFFF"/>
                </a:solidFill>
                <a:latin typeface="Calibri"/>
              </a:defRPr>
            </a:pPr>
            <a:r>
              <a:t>0.38</a:t>
            </a:r>
          </a:p>
        </p:txBody>
      </p:sp>
      <p:sp>
        <p:nvSpPr>
          <p:cNvPr id="29" name="TextBox 28"/>
          <p:cNvSpPr txBox="1"/>
          <p:nvPr/>
        </p:nvSpPr>
        <p:spPr>
          <a:xfrm>
            <a:off x="9372600" y="2880360"/>
            <a:ext cx="1691640" cy="228600"/>
          </a:xfrm>
          <a:prstGeom prst="rect">
            <a:avLst/>
          </a:prstGeom>
          <a:noFill/>
        </p:spPr>
        <p:txBody>
          <a:bodyPr wrap="square">
            <a:spAutoFit/>
          </a:bodyPr>
          <a:lstStyle/>
          <a:p>
            <a:pPr algn="ctr">
              <a:lnSpc>
                <a:spcPts val="1150"/>
              </a:lnSpc>
              <a:spcAft>
                <a:spcPts val="0"/>
              </a:spcAft>
              <a:defRPr sz="1000" b="0">
                <a:solidFill>
                  <a:srgbClr val="78716C"/>
                </a:solidFill>
                <a:latin typeface="Calibri"/>
              </a:defRPr>
            </a:pPr>
            <a:r>
              <a:t>Target: &lt;0.50</a:t>
            </a:r>
          </a:p>
        </p:txBody>
      </p:sp>
      <p:sp>
        <p:nvSpPr>
          <p:cNvPr id="30" name="TextBox 29"/>
          <p:cNvSpPr txBox="1"/>
          <p:nvPr/>
        </p:nvSpPr>
        <p:spPr>
          <a:xfrm>
            <a:off x="9372600" y="3200400"/>
            <a:ext cx="1691640" cy="365760"/>
          </a:xfrm>
          <a:prstGeom prst="rect">
            <a:avLst/>
          </a:prstGeom>
          <a:noFill/>
        </p:spPr>
        <p:txBody>
          <a:bodyPr wrap="square">
            <a:spAutoFit/>
          </a:bodyPr>
          <a:lstStyle/>
          <a:p>
            <a:pPr algn="ctr">
              <a:lnSpc>
                <a:spcPts val="1380"/>
              </a:lnSpc>
              <a:spcAft>
                <a:spcPts val="0"/>
              </a:spcAft>
              <a:defRPr sz="1200" b="1">
                <a:solidFill>
                  <a:srgbClr val="22C55E"/>
                </a:solidFill>
                <a:latin typeface="Calibri"/>
              </a:defRPr>
            </a:pPr>
            <a:r>
              <a:t>✅ PASS</a:t>
            </a:r>
          </a:p>
        </p:txBody>
      </p:sp>
      <p:sp>
        <p:nvSpPr>
          <p:cNvPr id="31" name="Rounded Rectangle 30"/>
          <p:cNvSpPr/>
          <p:nvPr/>
        </p:nvSpPr>
        <p:spPr>
          <a:xfrm>
            <a:off x="457200" y="4297680"/>
            <a:ext cx="10789920" cy="2011680"/>
          </a:xfrm>
          <a:prstGeom prst="roundRect">
            <a:avLst>
              <a:gd name="adj" fmla="val 8000"/>
            </a:avLst>
          </a:prstGeom>
          <a:solidFill>
            <a:srgbClr val="111F38"/>
          </a:solidFill>
          <a:ln w="1905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480560"/>
            <a:ext cx="10058400" cy="274320"/>
          </a:xfrm>
          <a:prstGeom prst="rect">
            <a:avLst/>
          </a:prstGeom>
          <a:noFill/>
        </p:spPr>
        <p:txBody>
          <a:bodyPr wrap="square">
            <a:spAutoFit/>
          </a:bodyPr>
          <a:lstStyle/>
          <a:p>
            <a:pPr algn="l">
              <a:lnSpc>
                <a:spcPts val="1264"/>
              </a:lnSpc>
              <a:spcAft>
                <a:spcPts val="0"/>
              </a:spcAft>
              <a:defRPr sz="1100" b="1">
                <a:solidFill>
                  <a:srgbClr val="EA580C"/>
                </a:solidFill>
                <a:latin typeface="Calibri"/>
              </a:defRPr>
            </a:pPr>
            <a:r>
              <a:t>EVALUATION METHODOLOGY</a:t>
            </a:r>
          </a:p>
        </p:txBody>
      </p:sp>
      <p:graphicFrame>
        <p:nvGraphicFramePr>
          <p:cNvPr id="33" name="Table 32"/>
          <p:cNvGraphicFramePr>
            <a:graphicFrameLocks noGrp="1"/>
          </p:cNvGraphicFramePr>
          <p:nvPr/>
        </p:nvGraphicFramePr>
        <p:xfrm>
          <a:off x="822960" y="4846320"/>
          <a:ext cx="10058400" cy="9144"/>
        </p:xfrm>
        <a:graphic>
          <a:graphicData uri="http://schemas.openxmlformats.org/drawingml/2006/table">
            <a:tbl>
              <a:tblPr firstRow="1" bandRow="1">
                <a:tableStyleId>{5C22544A-7EE6-4342-B048-85BDC9FD1C3A}</a:tableStyleId>
              </a:tblPr>
              <a:tblGrid>
                <a:gridCol w="2011680"/>
                <a:gridCol w="3200400"/>
                <a:gridCol w="4846320"/>
              </a:tblGrid>
              <a:tr h="1524">
                <a:tc>
                  <a:txBody>
                    <a:bodyPr/>
                    <a:lstStyle/>
                    <a:p>
                      <a:pPr>
                        <a:spcBef>
                          <a:spcPts val="200"/>
                        </a:spcBef>
                        <a:spcAft>
                          <a:spcPts val="200"/>
                        </a:spcAft>
                        <a:defRPr sz="1200" b="1">
                          <a:solidFill>
                            <a:srgbClr val="FFFFFF"/>
                          </a:solidFill>
                          <a:latin typeface="Calibri"/>
                        </a:defRPr>
                      </a:pPr>
                      <a:r>
                        <a:t>Metric</a:t>
                      </a:r>
                    </a:p>
                  </a:txBody>
                  <a:tcPr marL="101600" marR="101600" marT="63500" marB="63500">
                    <a:solidFill>
                      <a:srgbClr val="1A3050"/>
                    </a:solidFill>
                  </a:tcPr>
                </a:tc>
                <a:tc>
                  <a:txBody>
                    <a:bodyPr/>
                    <a:lstStyle/>
                    <a:p>
                      <a:pPr>
                        <a:spcBef>
                          <a:spcPts val="200"/>
                        </a:spcBef>
                        <a:spcAft>
                          <a:spcPts val="200"/>
                        </a:spcAft>
                        <a:defRPr sz="1200" b="1">
                          <a:solidFill>
                            <a:srgbClr val="FFFFFF"/>
                          </a:solidFill>
                          <a:latin typeface="Calibri"/>
                        </a:defRPr>
                      </a:pPr>
                      <a:r>
                        <a:t>Tool</a:t>
                      </a:r>
                    </a:p>
                  </a:txBody>
                  <a:tcPr marL="101600" marR="101600" marT="63500" marB="63500">
                    <a:solidFill>
                      <a:srgbClr val="1A3050"/>
                    </a:solidFill>
                  </a:tcPr>
                </a:tc>
                <a:tc>
                  <a:txBody>
                    <a:bodyPr/>
                    <a:lstStyle/>
                    <a:p>
                      <a:pPr>
                        <a:spcBef>
                          <a:spcPts val="200"/>
                        </a:spcBef>
                        <a:spcAft>
                          <a:spcPts val="200"/>
                        </a:spcAft>
                        <a:defRPr sz="1200" b="1">
                          <a:solidFill>
                            <a:srgbClr val="FFFFFF"/>
                          </a:solidFill>
                          <a:latin typeface="Calibri"/>
                        </a:defRPr>
                      </a:pPr>
                      <a:r>
                        <a:t>Methodology</a:t>
                      </a:r>
                    </a:p>
                  </a:txBody>
                  <a:tcPr marL="101600" marR="101600" marT="63500" marB="63500">
                    <a:solidFill>
                      <a:srgbClr val="1A3050"/>
                    </a:solidFill>
                  </a:tcPr>
                </a:tc>
              </a:tr>
              <a:tr h="1524">
                <a:tc>
                  <a:txBody>
                    <a:bodyPr/>
                    <a:lstStyle/>
                    <a:p>
                      <a:pPr>
                        <a:spcBef>
                          <a:spcPts val="200"/>
                        </a:spcBef>
                        <a:spcAft>
                          <a:spcPts val="200"/>
                        </a:spcAft>
                        <a:defRPr sz="1200">
                          <a:solidFill>
                            <a:srgbClr val="E0E0E0"/>
                          </a:solidFill>
                          <a:latin typeface="Calibri"/>
                        </a:defRPr>
                      </a:pPr>
                      <a:r>
                        <a:t>Accent Accuracy</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XVector classifier (speechbrain)</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Trained on VCTK/GLOBE, top-1 classification</a:t>
                      </a:r>
                    </a:p>
                  </a:txBody>
                  <a:tcPr marL="101600" marR="101600" marT="63500" marB="63500">
                    <a:solidFill>
                      <a:srgbClr val="142540"/>
                    </a:solidFill>
                  </a:tcPr>
                </a:tc>
              </a:tr>
              <a:tr h="1524">
                <a:tc>
                  <a:txBody>
                    <a:bodyPr/>
                    <a:lstStyle/>
                    <a:p>
                      <a:pPr>
                        <a:spcBef>
                          <a:spcPts val="200"/>
                        </a:spcBef>
                        <a:spcAft>
                          <a:spcPts val="200"/>
                        </a:spcAft>
                        <a:defRPr sz="1200">
                          <a:solidFill>
                            <a:srgbClr val="E0E0E0"/>
                          </a:solidFill>
                          <a:latin typeface="Calibri"/>
                        </a:defRPr>
                      </a:pPr>
                      <a:r>
                        <a:t>Emotion Sim</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wav2vec2-large SER (audeering)</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Cosine similarity of V/A/D embeddings</a:t>
                      </a:r>
                    </a:p>
                  </a:txBody>
                  <a:tcPr marL="101600" marR="101600" marT="63500" marB="63500">
                    <a:solidFill>
                      <a:srgbClr val="111F38"/>
                    </a:solidFill>
                  </a:tcPr>
                </a:tc>
              </a:tr>
              <a:tr h="1524">
                <a:tc>
                  <a:txBody>
                    <a:bodyPr/>
                    <a:lstStyle/>
                    <a:p>
                      <a:pPr>
                        <a:spcBef>
                          <a:spcPts val="200"/>
                        </a:spcBef>
                        <a:spcAft>
                          <a:spcPts val="200"/>
                        </a:spcAft>
                        <a:defRPr sz="1200">
                          <a:solidFill>
                            <a:srgbClr val="E0E0E0"/>
                          </a:solidFill>
                          <a:latin typeface="Calibri"/>
                        </a:defRPr>
                      </a:pPr>
                      <a:r>
                        <a:t>WER</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Whisper large-v3</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Word error rate: source vs re-transcribed output</a:t>
                      </a:r>
                    </a:p>
                  </a:txBody>
                  <a:tcPr marL="101600" marR="101600" marT="63500" marB="63500">
                    <a:solidFill>
                      <a:srgbClr val="142540"/>
                    </a:solidFill>
                  </a:tcPr>
                </a:tc>
              </a:tr>
              <a:tr h="1524">
                <a:tc>
                  <a:txBody>
                    <a:bodyPr/>
                    <a:lstStyle/>
                    <a:p>
                      <a:pPr>
                        <a:spcBef>
                          <a:spcPts val="200"/>
                        </a:spcBef>
                        <a:spcAft>
                          <a:spcPts val="200"/>
                        </a:spcAft>
                        <a:defRPr sz="1200">
                          <a:solidFill>
                            <a:srgbClr val="E0E0E0"/>
                          </a:solidFill>
                          <a:latin typeface="Calibri"/>
                        </a:defRPr>
                      </a:pPr>
                      <a:r>
                        <a:t>UTMOS</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UTMOS-strong (sarulab)</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Automated MOS prediction (1-5 scale)</a:t>
                      </a:r>
                    </a:p>
                  </a:txBody>
                  <a:tcPr marL="101600" marR="101600" marT="63500" marB="63500">
                    <a:solidFill>
                      <a:srgbClr val="111F38"/>
                    </a:solidFill>
                  </a:tcPr>
                </a:tc>
              </a:tr>
              <a:tr h="1524">
                <a:tc>
                  <a:txBody>
                    <a:bodyPr/>
                    <a:lstStyle/>
                    <a:p>
                      <a:pPr>
                        <a:spcBef>
                          <a:spcPts val="200"/>
                        </a:spcBef>
                        <a:spcAft>
                          <a:spcPts val="200"/>
                        </a:spcAft>
                        <a:defRPr sz="1200">
                          <a:solidFill>
                            <a:srgbClr val="E0E0E0"/>
                          </a:solidFill>
                          <a:latin typeface="Calibri"/>
                        </a:defRPr>
                      </a:pPr>
                      <a:r>
                        <a:t>Speaker Agnosticism</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ECAPA-TDNN (speechbrain)</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Speaker embedding cosine sim &lt; 0.5</a:t>
                      </a:r>
                    </a:p>
                  </a:txBody>
                  <a:tcPr marL="101600" marR="101600" marT="63500" marB="63500">
                    <a:solidFill>
                      <a:srgbClr val="142540"/>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Technical Stack</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Everything under the hood</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1463040"/>
            <a:ext cx="5029200" cy="3200400"/>
          </a:xfrm>
          <a:prstGeom prst="roundRect">
            <a:avLst>
              <a:gd name="adj" fmla="val 8000"/>
            </a:avLst>
          </a:prstGeom>
          <a:solidFill>
            <a:srgbClr val="111F38"/>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45920"/>
            <a:ext cx="4297680" cy="274320"/>
          </a:xfrm>
          <a:prstGeom prst="rect">
            <a:avLst/>
          </a:prstGeom>
          <a:noFill/>
        </p:spPr>
        <p:txBody>
          <a:bodyPr wrap="square">
            <a:spAutoFit/>
          </a:bodyPr>
          <a:lstStyle/>
          <a:p>
            <a:pPr algn="l">
              <a:lnSpc>
                <a:spcPts val="1380"/>
              </a:lnSpc>
              <a:spcAft>
                <a:spcPts val="0"/>
              </a:spcAft>
              <a:defRPr sz="1200" b="1">
                <a:solidFill>
                  <a:srgbClr val="EA580C"/>
                </a:solidFill>
                <a:latin typeface="Calibri"/>
              </a:defRPr>
            </a:pPr>
            <a:r>
              <a:t>BACKEND (Python)</a:t>
            </a:r>
          </a:p>
        </p:txBody>
      </p:sp>
      <p:sp>
        <p:nvSpPr>
          <p:cNvPr id="8" name="TextBox 7"/>
          <p:cNvSpPr txBox="1"/>
          <p:nvPr/>
        </p:nvSpPr>
        <p:spPr>
          <a:xfrm>
            <a:off x="1097280" y="2011680"/>
            <a:ext cx="4297680" cy="256032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500"/>
              </a:spcAft>
              <a:defRPr sz="1100" b="0">
                <a:solidFill>
                  <a:srgbClr val="E0E0E0"/>
                </a:solidFill>
                <a:latin typeface="Calibri"/>
              </a:defRPr>
            </a:pPr>
            <a:r>
              <a:t>▸  FastAPI + Uvicorn (async API server)</a:t>
            </a:r>
          </a:p>
          <a:p>
            <a:pPr algn="l">
              <a:spcBef>
                <a:spcPts val="0"/>
              </a:spcBef>
              <a:spcAft>
                <a:spcPts val="500"/>
              </a:spcAft>
              <a:defRPr sz="1100" b="0">
                <a:solidFill>
                  <a:srgbClr val="E0E0E0"/>
                </a:solidFill>
                <a:latin typeface="Calibri"/>
              </a:defRPr>
            </a:pPr>
            <a:r>
              <a:t>▸  PyTorch 2.1 + CUDA 12.1</a:t>
            </a:r>
          </a:p>
          <a:p>
            <a:pPr algn="l">
              <a:spcBef>
                <a:spcPts val="0"/>
              </a:spcBef>
              <a:spcAft>
                <a:spcPts val="500"/>
              </a:spcAft>
              <a:defRPr sz="1100" b="0">
                <a:solidFill>
                  <a:srgbClr val="E0E0E0"/>
                </a:solidFill>
                <a:latin typeface="Calibri"/>
              </a:defRPr>
            </a:pPr>
            <a:r>
              <a:t>▸  Whisper large-v3 — ASR + timestamps (3.0 GB)</a:t>
            </a:r>
          </a:p>
          <a:p>
            <a:pPr algn="l">
              <a:spcBef>
                <a:spcPts val="0"/>
              </a:spcBef>
              <a:spcAft>
                <a:spcPts val="500"/>
              </a:spcAft>
              <a:defRPr sz="1100" b="0">
                <a:solidFill>
                  <a:srgbClr val="E0E0E0"/>
                </a:solidFill>
                <a:latin typeface="Calibri"/>
              </a:defRPr>
            </a:pPr>
            <a:r>
              <a:t>▸  wav2vec2-large SER — Emotion V/A/D (1.2 GB)</a:t>
            </a:r>
          </a:p>
          <a:p>
            <a:pPr algn="l">
              <a:spcBef>
                <a:spcPts val="0"/>
              </a:spcBef>
              <a:spcAft>
                <a:spcPts val="500"/>
              </a:spcAft>
              <a:defRPr sz="1100" b="0">
                <a:solidFill>
                  <a:srgbClr val="E0E0E0"/>
                </a:solidFill>
                <a:latin typeface="Calibri"/>
              </a:defRPr>
            </a:pPr>
            <a:r>
              <a:t>▸  Seed-VC V2 — AR + CFM converter (2.5 GB)</a:t>
            </a:r>
          </a:p>
          <a:p>
            <a:pPr algn="l">
              <a:spcBef>
                <a:spcPts val="0"/>
              </a:spcBef>
              <a:spcAft>
                <a:spcPts val="500"/>
              </a:spcAft>
              <a:defRPr sz="1100" b="0">
                <a:solidFill>
                  <a:srgbClr val="E0E0E0"/>
                </a:solidFill>
                <a:latin typeface="Calibri"/>
              </a:defRPr>
            </a:pPr>
            <a:r>
              <a:t>▸  Vevo-Voice (Amphion) — Flow Matching (1.5 GB, CPU)</a:t>
            </a:r>
          </a:p>
          <a:p>
            <a:pPr algn="l">
              <a:spcBef>
                <a:spcPts val="0"/>
              </a:spcBef>
              <a:spcAft>
                <a:spcPts val="500"/>
              </a:spcAft>
              <a:defRPr sz="1100" b="0">
                <a:solidFill>
                  <a:srgbClr val="E0E0E0"/>
                </a:solidFill>
                <a:latin typeface="Calibri"/>
              </a:defRPr>
            </a:pPr>
            <a:r>
              <a:t>▸  BigVGAN-v2 — Universal vocoder (0.5 GB)</a:t>
            </a:r>
          </a:p>
          <a:p>
            <a:pPr algn="l">
              <a:spcBef>
                <a:spcPts val="0"/>
              </a:spcBef>
              <a:spcAft>
                <a:spcPts val="500"/>
              </a:spcAft>
              <a:defRPr sz="1100" b="0">
                <a:solidFill>
                  <a:srgbClr val="E0E0E0"/>
                </a:solidFill>
                <a:latin typeface="Calibri"/>
              </a:defRPr>
            </a:pPr>
            <a:r>
              <a:t>▸  pyworld · Silero VAD · librosa · pyloudnorm</a:t>
            </a:r>
          </a:p>
        </p:txBody>
      </p:sp>
      <p:sp>
        <p:nvSpPr>
          <p:cNvPr id="9" name="Rounded Rectangle 8"/>
          <p:cNvSpPr/>
          <p:nvPr/>
        </p:nvSpPr>
        <p:spPr>
          <a:xfrm>
            <a:off x="6035040" y="1463040"/>
            <a:ext cx="5029200" cy="1828800"/>
          </a:xfrm>
          <a:prstGeom prst="roundRect">
            <a:avLst>
              <a:gd name="adj" fmla="val 8000"/>
            </a:avLst>
          </a:prstGeom>
          <a:solidFill>
            <a:srgbClr val="111F38"/>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297680" cy="274320"/>
          </a:xfrm>
          <a:prstGeom prst="rect">
            <a:avLst/>
          </a:prstGeom>
          <a:noFill/>
        </p:spPr>
        <p:txBody>
          <a:bodyPr wrap="square">
            <a:spAutoFit/>
          </a:bodyPr>
          <a:lstStyle/>
          <a:p>
            <a:pPr algn="l">
              <a:lnSpc>
                <a:spcPts val="1380"/>
              </a:lnSpc>
              <a:spcAft>
                <a:spcPts val="0"/>
              </a:spcAft>
              <a:defRPr sz="1200" b="1">
                <a:solidFill>
                  <a:srgbClr val="0D9488"/>
                </a:solidFill>
                <a:latin typeface="Calibri"/>
              </a:defRPr>
            </a:pPr>
            <a:r>
              <a:t>FRONTEND (TypeScript)</a:t>
            </a:r>
          </a:p>
        </p:txBody>
      </p:sp>
      <p:sp>
        <p:nvSpPr>
          <p:cNvPr id="11" name="TextBox 10"/>
          <p:cNvSpPr txBox="1"/>
          <p:nvPr/>
        </p:nvSpPr>
        <p:spPr>
          <a:xfrm>
            <a:off x="6400800" y="2011680"/>
            <a:ext cx="4297680" cy="118872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500"/>
              </a:spcAft>
              <a:defRPr sz="1100" b="0">
                <a:solidFill>
                  <a:srgbClr val="E0E0E0"/>
                </a:solidFill>
                <a:latin typeface="Calibri"/>
              </a:defRPr>
            </a:pPr>
            <a:r>
              <a:t>▸  Next.js 14 (App Router)</a:t>
            </a:r>
          </a:p>
          <a:p>
            <a:pPr algn="l">
              <a:spcBef>
                <a:spcPts val="0"/>
              </a:spcBef>
              <a:spcAft>
                <a:spcPts val="500"/>
              </a:spcAft>
              <a:defRPr sz="1100" b="0">
                <a:solidFill>
                  <a:srgbClr val="E0E0E0"/>
                </a:solidFill>
                <a:latin typeface="Calibri"/>
              </a:defRPr>
            </a:pPr>
            <a:r>
              <a:t>▸  WaveSurfer.js (waveform viz)</a:t>
            </a:r>
          </a:p>
          <a:p>
            <a:pPr algn="l">
              <a:spcBef>
                <a:spcPts val="0"/>
              </a:spcBef>
              <a:spcAft>
                <a:spcPts val="500"/>
              </a:spcAft>
              <a:defRPr sz="1100" b="0">
                <a:solidFill>
                  <a:srgbClr val="E0E0E0"/>
                </a:solidFill>
                <a:latin typeface="Calibri"/>
              </a:defRPr>
            </a:pPr>
            <a:r>
              <a:t>▸  Tailwind CSS + shadcn/ui</a:t>
            </a:r>
          </a:p>
          <a:p>
            <a:pPr algn="l">
              <a:spcBef>
                <a:spcPts val="0"/>
              </a:spcBef>
              <a:spcAft>
                <a:spcPts val="500"/>
              </a:spcAft>
              <a:defRPr sz="1100" b="0">
                <a:solidFill>
                  <a:srgbClr val="E0E0E0"/>
                </a:solidFill>
                <a:latin typeface="Calibri"/>
              </a:defRPr>
            </a:pPr>
            <a:r>
              <a:t>▸  React Hook Form + Zod</a:t>
            </a:r>
          </a:p>
        </p:txBody>
      </p:sp>
      <p:sp>
        <p:nvSpPr>
          <p:cNvPr id="12" name="Rounded Rectangle 11"/>
          <p:cNvSpPr/>
          <p:nvPr/>
        </p:nvSpPr>
        <p:spPr>
          <a:xfrm>
            <a:off x="6035040" y="3520440"/>
            <a:ext cx="5029200" cy="1143000"/>
          </a:xfrm>
          <a:prstGeom prst="roundRect">
            <a:avLst>
              <a:gd name="adj" fmla="val 8000"/>
            </a:avLst>
          </a:prstGeom>
          <a:solidFill>
            <a:srgbClr val="111F38"/>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657600"/>
            <a:ext cx="4297680" cy="274320"/>
          </a:xfrm>
          <a:prstGeom prst="rect">
            <a:avLst/>
          </a:prstGeom>
          <a:noFill/>
        </p:spPr>
        <p:txBody>
          <a:bodyPr wrap="square">
            <a:spAutoFit/>
          </a:bodyPr>
          <a:lstStyle/>
          <a:p>
            <a:pPr algn="l">
              <a:lnSpc>
                <a:spcPts val="1380"/>
              </a:lnSpc>
              <a:spcAft>
                <a:spcPts val="0"/>
              </a:spcAft>
              <a:defRPr sz="1200" b="1">
                <a:solidFill>
                  <a:srgbClr val="EAB308"/>
                </a:solidFill>
                <a:latin typeface="Calibri"/>
              </a:defRPr>
            </a:pPr>
            <a:r>
              <a:t>INFRASTRUCTURE</a:t>
            </a:r>
          </a:p>
        </p:txBody>
      </p:sp>
      <p:sp>
        <p:nvSpPr>
          <p:cNvPr id="14" name="TextBox 13"/>
          <p:cNvSpPr txBox="1"/>
          <p:nvPr/>
        </p:nvSpPr>
        <p:spPr>
          <a:xfrm>
            <a:off x="6400800" y="3977639"/>
            <a:ext cx="4297680" cy="64008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400"/>
              </a:spcAft>
              <a:defRPr sz="1100" b="0">
                <a:solidFill>
                  <a:srgbClr val="E0E0E0"/>
                </a:solidFill>
                <a:latin typeface="Calibri"/>
              </a:defRPr>
            </a:pPr>
            <a:r>
              <a:t>▸  Local: RTX 4060 8GB — fits full pipeline (7.2 GB VRAM)</a:t>
            </a:r>
          </a:p>
          <a:p>
            <a:pPr algn="l">
              <a:spcBef>
                <a:spcPts val="0"/>
              </a:spcBef>
              <a:spcAft>
                <a:spcPts val="400"/>
              </a:spcAft>
              <a:defRPr sz="1100" b="0">
                <a:solidFill>
                  <a:srgbClr val="E0E0E0"/>
                </a:solidFill>
                <a:latin typeface="Calibri"/>
              </a:defRPr>
            </a:pPr>
            <a:r>
              <a:t>▸  Cloud Train: DigitalOcean L40S 48GB ($1.57/hr)</a:t>
            </a:r>
          </a:p>
          <a:p>
            <a:pPr algn="l">
              <a:spcBef>
                <a:spcPts val="0"/>
              </a:spcBef>
              <a:spcAft>
                <a:spcPts val="400"/>
              </a:spcAft>
              <a:defRPr sz="1100" b="0">
                <a:solidFill>
                  <a:srgbClr val="E0E0E0"/>
                </a:solidFill>
                <a:latin typeface="Calibri"/>
              </a:defRPr>
            </a:pPr>
            <a:r>
              <a:t>▸  Cloud Infer: A10G 24GB — full ensemble headroom</a:t>
            </a:r>
          </a:p>
        </p:txBody>
      </p:sp>
      <p:sp>
        <p:nvSpPr>
          <p:cNvPr id="15" name="Rounded Rectangle 14"/>
          <p:cNvSpPr/>
          <p:nvPr/>
        </p:nvSpPr>
        <p:spPr>
          <a:xfrm>
            <a:off x="731520" y="4937760"/>
            <a:ext cx="10332720" cy="1371600"/>
          </a:xfrm>
          <a:prstGeom prst="roundRect">
            <a:avLst>
              <a:gd name="adj" fmla="val 8000"/>
            </a:avLst>
          </a:prstGeom>
          <a:solidFill>
            <a:srgbClr val="111F38"/>
          </a:solidFill>
          <a:ln w="19050">
            <a:solidFill>
              <a:srgbClr val="33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074920"/>
            <a:ext cx="9601200" cy="274320"/>
          </a:xfrm>
          <a:prstGeom prst="rect">
            <a:avLst/>
          </a:prstGeom>
          <a:noFill/>
        </p:spPr>
        <p:txBody>
          <a:bodyPr wrap="square">
            <a:spAutoFit/>
          </a:bodyPr>
          <a:lstStyle/>
          <a:p>
            <a:pPr algn="l">
              <a:lnSpc>
                <a:spcPts val="1264"/>
              </a:lnSpc>
              <a:spcAft>
                <a:spcPts val="0"/>
              </a:spcAft>
              <a:defRPr sz="1100" b="1">
                <a:solidFill>
                  <a:srgbClr val="EA580C"/>
                </a:solidFill>
                <a:latin typeface="Calibri"/>
              </a:defRPr>
            </a:pPr>
            <a:r>
              <a:t>VRAM BUDGET — RTX 4060 (8 GB)</a:t>
            </a:r>
          </a:p>
        </p:txBody>
      </p:sp>
      <p:sp>
        <p:nvSpPr>
          <p:cNvPr id="17" name="Rounded Rectangle 16"/>
          <p:cNvSpPr/>
          <p:nvPr/>
        </p:nvSpPr>
        <p:spPr>
          <a:xfrm>
            <a:off x="1097280" y="5486400"/>
            <a:ext cx="3600450" cy="365760"/>
          </a:xfrm>
          <a:prstGeom prst="roundRect">
            <a:avLst>
              <a:gd name="adj" fmla="val 8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spcBef>
                <a:spcPts val="0"/>
              </a:spcBef>
              <a:spcAft>
                <a:spcPts val="0"/>
              </a:spcAft>
              <a:defRPr sz="1000" b="1">
                <a:solidFill>
                  <a:srgbClr val="FFFFFF"/>
                </a:solidFill>
                <a:latin typeface="Calibri"/>
              </a:defRPr>
            </a:pPr>
            <a:r>
              <a:t>Whisper (3.0GB)</a:t>
            </a:r>
          </a:p>
        </p:txBody>
      </p:sp>
      <p:sp>
        <p:nvSpPr>
          <p:cNvPr id="18" name="Rounded Rectangle 17"/>
          <p:cNvSpPr/>
          <p:nvPr/>
        </p:nvSpPr>
        <p:spPr>
          <a:xfrm>
            <a:off x="4743450" y="5486400"/>
            <a:ext cx="3000375" cy="365760"/>
          </a:xfrm>
          <a:prstGeom prst="roundRect">
            <a:avLst>
              <a:gd name="adj" fmla="val 8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spcBef>
                <a:spcPts val="0"/>
              </a:spcBef>
              <a:spcAft>
                <a:spcPts val="0"/>
              </a:spcAft>
              <a:defRPr sz="1000" b="1">
                <a:solidFill>
                  <a:srgbClr val="FFFFFF"/>
                </a:solidFill>
                <a:latin typeface="Calibri"/>
              </a:defRPr>
            </a:pPr>
            <a:r>
              <a:t>Seed-VC (2.5GB)</a:t>
            </a:r>
          </a:p>
        </p:txBody>
      </p:sp>
      <p:sp>
        <p:nvSpPr>
          <p:cNvPr id="19" name="Rounded Rectangle 18"/>
          <p:cNvSpPr/>
          <p:nvPr/>
        </p:nvSpPr>
        <p:spPr>
          <a:xfrm>
            <a:off x="7789545" y="5486400"/>
            <a:ext cx="1440180" cy="365760"/>
          </a:xfrm>
          <a:prstGeom prst="roundRect">
            <a:avLst>
              <a:gd name="adj" fmla="val 8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spcBef>
                <a:spcPts val="0"/>
              </a:spcBef>
              <a:spcAft>
                <a:spcPts val="0"/>
              </a:spcAft>
              <a:defRPr sz="1000" b="1">
                <a:solidFill>
                  <a:srgbClr val="FFFFFF"/>
                </a:solidFill>
                <a:latin typeface="Calibri"/>
              </a:defRPr>
            </a:pPr>
            <a:r>
              <a:t>SER (1.2GB)</a:t>
            </a:r>
          </a:p>
        </p:txBody>
      </p:sp>
      <p:sp>
        <p:nvSpPr>
          <p:cNvPr id="20" name="Rounded Rectangle 19"/>
          <p:cNvSpPr/>
          <p:nvPr/>
        </p:nvSpPr>
        <p:spPr>
          <a:xfrm>
            <a:off x="9275445" y="5486400"/>
            <a:ext cx="600075" cy="365760"/>
          </a:xfrm>
          <a:prstGeom prst="roundRect">
            <a:avLst>
              <a:gd name="adj" fmla="val 8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spcBef>
                <a:spcPts val="0"/>
              </a:spcBef>
              <a:spcAft>
                <a:spcPts val="0"/>
              </a:spcAft>
              <a:defRPr sz="1000" b="1">
                <a:solidFill>
                  <a:srgbClr val="FFFFFF"/>
                </a:solidFill>
                <a:latin typeface="Calibri"/>
              </a:defRPr>
            </a:pPr>
            <a:r>
              <a:t>BigVGAN (0.5GB)</a:t>
            </a:r>
          </a:p>
        </p:txBody>
      </p:sp>
      <p:sp>
        <p:nvSpPr>
          <p:cNvPr id="21" name="TextBox 20"/>
          <p:cNvSpPr txBox="1"/>
          <p:nvPr/>
        </p:nvSpPr>
        <p:spPr>
          <a:xfrm>
            <a:off x="1097280" y="5943600"/>
            <a:ext cx="9601200" cy="228600"/>
          </a:xfrm>
          <a:prstGeom prst="rect">
            <a:avLst/>
          </a:prstGeom>
          <a:noFill/>
        </p:spPr>
        <p:txBody>
          <a:bodyPr wrap="square">
            <a:spAutoFit/>
          </a:bodyPr>
          <a:lstStyle/>
          <a:p>
            <a:pPr algn="l">
              <a:lnSpc>
                <a:spcPts val="1150"/>
              </a:lnSpc>
              <a:spcAft>
                <a:spcPts val="0"/>
              </a:spcAft>
              <a:defRPr sz="1000" b="0">
                <a:solidFill>
                  <a:srgbClr val="78716C"/>
                </a:solidFill>
                <a:latin typeface="Calibri"/>
              </a:defRPr>
            </a:pPr>
            <a:r>
              <a:t>7.2 GB used / 8.0 GB available  ·  Vevo runs on CPU when VRAM-constrained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Edge Deployment — Architecture B</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Raspberry Pi · Jetson · Laptop CPU  ·  ≤ 500ms latency</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731520" y="1463040"/>
          <a:ext cx="10515600" cy="9144"/>
        </p:xfrm>
        <a:graphic>
          <a:graphicData uri="http://schemas.openxmlformats.org/drawingml/2006/table">
            <a:tbl>
              <a:tblPr firstRow="1" bandRow="1">
                <a:tableStyleId>{5C22544A-7EE6-4342-B048-85BDC9FD1C3A}</a:tableStyleId>
              </a:tblPr>
              <a:tblGrid>
                <a:gridCol w="2011680"/>
                <a:gridCol w="2560320"/>
                <a:gridCol w="2926080"/>
                <a:gridCol w="3017520"/>
              </a:tblGrid>
              <a:tr h="1306">
                <a:tc>
                  <a:txBody>
                    <a:bodyPr/>
                    <a:lstStyle/>
                    <a:p>
                      <a:pPr>
                        <a:spcBef>
                          <a:spcPts val="200"/>
                        </a:spcBef>
                        <a:spcAft>
                          <a:spcPts val="200"/>
                        </a:spcAft>
                        <a:defRPr sz="1200" b="1">
                          <a:solidFill>
                            <a:srgbClr val="FFFFFF"/>
                          </a:solidFill>
                          <a:latin typeface="Calibri"/>
                        </a:defRPr>
                      </a:pPr>
                      <a:r>
                        <a:t>Component</a:t>
                      </a:r>
                    </a:p>
                  </a:txBody>
                  <a:tcPr marL="101600" marR="101600" marT="63500" marB="63500">
                    <a:solidFill>
                      <a:srgbClr val="EA580C"/>
                    </a:solidFill>
                  </a:tcPr>
                </a:tc>
                <a:tc>
                  <a:txBody>
                    <a:bodyPr/>
                    <a:lstStyle/>
                    <a:p>
                      <a:pPr>
                        <a:spcBef>
                          <a:spcPts val="200"/>
                        </a:spcBef>
                        <a:spcAft>
                          <a:spcPts val="200"/>
                        </a:spcAft>
                        <a:defRPr sz="1200" b="1">
                          <a:solidFill>
                            <a:srgbClr val="FFFFFF"/>
                          </a:solidFill>
                          <a:latin typeface="Calibri"/>
                        </a:defRPr>
                      </a:pPr>
                      <a:r>
                        <a:t>Cloud (Arch A)</a:t>
                      </a:r>
                    </a:p>
                  </a:txBody>
                  <a:tcPr marL="101600" marR="101600" marT="63500" marB="63500">
                    <a:solidFill>
                      <a:srgbClr val="EA580C"/>
                    </a:solidFill>
                  </a:tcPr>
                </a:tc>
                <a:tc>
                  <a:txBody>
                    <a:bodyPr/>
                    <a:lstStyle/>
                    <a:p>
                      <a:pPr>
                        <a:spcBef>
                          <a:spcPts val="200"/>
                        </a:spcBef>
                        <a:spcAft>
                          <a:spcPts val="200"/>
                        </a:spcAft>
                        <a:defRPr sz="1200" b="1">
                          <a:solidFill>
                            <a:srgbClr val="FFFFFF"/>
                          </a:solidFill>
                          <a:latin typeface="Calibri"/>
                        </a:defRPr>
                      </a:pPr>
                      <a:r>
                        <a:t>Edge (Arch B)</a:t>
                      </a:r>
                    </a:p>
                  </a:txBody>
                  <a:tcPr marL="101600" marR="101600" marT="63500" marB="63500">
                    <a:solidFill>
                      <a:srgbClr val="EA580C"/>
                    </a:solidFill>
                  </a:tcPr>
                </a:tc>
                <a:tc>
                  <a:txBody>
                    <a:bodyPr/>
                    <a:lstStyle/>
                    <a:p>
                      <a:pPr>
                        <a:spcBef>
                          <a:spcPts val="200"/>
                        </a:spcBef>
                        <a:spcAft>
                          <a:spcPts val="200"/>
                        </a:spcAft>
                        <a:defRPr sz="1200" b="1">
                          <a:solidFill>
                            <a:srgbClr val="FFFFFF"/>
                          </a:solidFill>
                          <a:latin typeface="Calibri"/>
                        </a:defRPr>
                      </a:pPr>
                      <a:r>
                        <a:t>Trade-off</a:t>
                      </a:r>
                    </a:p>
                  </a:txBody>
                  <a:tcPr marL="101600" marR="101600" marT="63500" marB="63500">
                    <a:solidFill>
                      <a:srgbClr val="EA580C"/>
                    </a:solidFill>
                  </a:tcPr>
                </a:tc>
              </a:tr>
              <a:tr h="1306">
                <a:tc>
                  <a:txBody>
                    <a:bodyPr/>
                    <a:lstStyle/>
                    <a:p>
                      <a:pPr>
                        <a:spcBef>
                          <a:spcPts val="200"/>
                        </a:spcBef>
                        <a:spcAft>
                          <a:spcPts val="200"/>
                        </a:spcAft>
                        <a:defRPr sz="1200">
                          <a:solidFill>
                            <a:srgbClr val="E0E0E0"/>
                          </a:solidFill>
                          <a:latin typeface="Calibri"/>
                        </a:defRPr>
                      </a:pPr>
                      <a:r>
                        <a:t>ASR</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Whisper large-v3</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Whisper base.en (ONNX)</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~4% WER increase</a:t>
                      </a:r>
                    </a:p>
                  </a:txBody>
                  <a:tcPr marL="101600" marR="101600" marT="63500" marB="63500">
                    <a:solidFill>
                      <a:srgbClr val="142540"/>
                    </a:solidFill>
                  </a:tcPr>
                </a:tc>
              </a:tr>
              <a:tr h="1306">
                <a:tc>
                  <a:txBody>
                    <a:bodyPr/>
                    <a:lstStyle/>
                    <a:p>
                      <a:pPr>
                        <a:spcBef>
                          <a:spcPts val="200"/>
                        </a:spcBef>
                        <a:spcAft>
                          <a:spcPts val="200"/>
                        </a:spcAft>
                        <a:defRPr sz="1200">
                          <a:solidFill>
                            <a:srgbClr val="E0E0E0"/>
                          </a:solidFill>
                          <a:latin typeface="Calibri"/>
                        </a:defRPr>
                      </a:pPr>
                      <a:r>
                        <a:t>Voice Conversion</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Seed-VC + Vevo ensemble</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CosyVoice2-0.5B (ONNX)</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Single pass, no ensemble</a:t>
                      </a:r>
                    </a:p>
                  </a:txBody>
                  <a:tcPr marL="101600" marR="101600" marT="63500" marB="63500">
                    <a:solidFill>
                      <a:srgbClr val="111F38"/>
                    </a:solidFill>
                  </a:tcPr>
                </a:tc>
              </a:tr>
              <a:tr h="1306">
                <a:tc>
                  <a:txBody>
                    <a:bodyPr/>
                    <a:lstStyle/>
                    <a:p>
                      <a:pPr>
                        <a:spcBef>
                          <a:spcPts val="200"/>
                        </a:spcBef>
                        <a:spcAft>
                          <a:spcPts val="200"/>
                        </a:spcAft>
                        <a:defRPr sz="1200">
                          <a:solidFill>
                            <a:srgbClr val="E0E0E0"/>
                          </a:solidFill>
                          <a:latin typeface="Calibri"/>
                        </a:defRPr>
                      </a:pPr>
                      <a:r>
                        <a:t>Prosody Correction</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F0 + Energy + Duration</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F0 only</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Less emotion fidelity</a:t>
                      </a:r>
                    </a:p>
                  </a:txBody>
                  <a:tcPr marL="101600" marR="101600" marT="63500" marB="63500">
                    <a:solidFill>
                      <a:srgbClr val="142540"/>
                    </a:solidFill>
                  </a:tcPr>
                </a:tc>
              </a:tr>
              <a:tr h="1306">
                <a:tc>
                  <a:txBody>
                    <a:bodyPr/>
                    <a:lstStyle/>
                    <a:p>
                      <a:pPr>
                        <a:spcBef>
                          <a:spcPts val="200"/>
                        </a:spcBef>
                        <a:spcAft>
                          <a:spcPts val="200"/>
                        </a:spcAft>
                        <a:defRPr sz="1200">
                          <a:solidFill>
                            <a:srgbClr val="E0E0E0"/>
                          </a:solidFill>
                          <a:latin typeface="Calibri"/>
                        </a:defRPr>
                      </a:pPr>
                      <a:r>
                        <a:t>Vocoder</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BigVGAN-v2 (GPU)</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HiFi-GAN V1 (ONNX)</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Slight artifact increase</a:t>
                      </a:r>
                    </a:p>
                  </a:txBody>
                  <a:tcPr marL="101600" marR="101600" marT="63500" marB="63500">
                    <a:solidFill>
                      <a:srgbClr val="111F38"/>
                    </a:solidFill>
                  </a:tcPr>
                </a:tc>
              </a:tr>
              <a:tr h="1306">
                <a:tc>
                  <a:txBody>
                    <a:bodyPr/>
                    <a:lstStyle/>
                    <a:p>
                      <a:pPr>
                        <a:spcBef>
                          <a:spcPts val="200"/>
                        </a:spcBef>
                        <a:spcAft>
                          <a:spcPts val="200"/>
                        </a:spcAft>
                        <a:defRPr sz="1200">
                          <a:solidFill>
                            <a:srgbClr val="E0E0E0"/>
                          </a:solidFill>
                          <a:latin typeface="Calibri"/>
                        </a:defRPr>
                      </a:pPr>
                      <a:r>
                        <a:t>Latency</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2–4s per utterance</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200–400ms per chunk</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10× faster</a:t>
                      </a:r>
                    </a:p>
                  </a:txBody>
                  <a:tcPr marL="101600" marR="101600" marT="63500" marB="63500">
                    <a:solidFill>
                      <a:srgbClr val="142540"/>
                    </a:solidFill>
                  </a:tcPr>
                </a:tc>
              </a:tr>
              <a:tr h="1308">
                <a:tc>
                  <a:txBody>
                    <a:bodyPr/>
                    <a:lstStyle/>
                    <a:p>
                      <a:pPr>
                        <a:spcBef>
                          <a:spcPts val="200"/>
                        </a:spcBef>
                        <a:spcAft>
                          <a:spcPts val="200"/>
                        </a:spcAft>
                        <a:defRPr sz="1200">
                          <a:solidFill>
                            <a:srgbClr val="E0E0E0"/>
                          </a:solidFill>
                          <a:latin typeface="Calibri"/>
                        </a:defRPr>
                      </a:pPr>
                      <a:r>
                        <a:t>Memory</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~6–8 GB GPU</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≤4 GB RAM (CPU-only)</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No GPU needed</a:t>
                      </a:r>
                    </a:p>
                  </a:txBody>
                  <a:tcPr marL="101600" marR="101600" marT="63500" marB="63500">
                    <a:solidFill>
                      <a:srgbClr val="111F38"/>
                    </a:solidFill>
                  </a:tcPr>
                </a:tc>
              </a:tr>
            </a:tbl>
          </a:graphicData>
        </a:graphic>
      </p:graphicFrame>
      <p:sp>
        <p:nvSpPr>
          <p:cNvPr id="7" name="Rounded Rectangle 6"/>
          <p:cNvSpPr/>
          <p:nvPr/>
        </p:nvSpPr>
        <p:spPr>
          <a:xfrm>
            <a:off x="2743200" y="5029200"/>
            <a:ext cx="5760720" cy="1097280"/>
          </a:xfrm>
          <a:prstGeom prst="roundRect">
            <a:avLst>
              <a:gd name="adj" fmla="val 8000"/>
            </a:avLst>
          </a:prstGeom>
          <a:solidFill>
            <a:srgbClr val="142540"/>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5166360"/>
            <a:ext cx="5212080" cy="320040"/>
          </a:xfrm>
          <a:prstGeom prst="rect">
            <a:avLst/>
          </a:prstGeom>
          <a:noFill/>
        </p:spPr>
        <p:txBody>
          <a:bodyPr wrap="square">
            <a:spAutoFit/>
          </a:bodyPr>
          <a:lstStyle/>
          <a:p>
            <a:pPr algn="ctr">
              <a:lnSpc>
                <a:spcPts val="2070"/>
              </a:lnSpc>
              <a:spcAft>
                <a:spcPts val="0"/>
              </a:spcAft>
              <a:defRPr sz="1800" b="1">
                <a:solidFill>
                  <a:srgbClr val="0D9488"/>
                </a:solidFill>
                <a:latin typeface="Calibri"/>
              </a:defRPr>
            </a:pPr>
            <a:r>
              <a:t>10× faster · CPU-only · Real-time capable</a:t>
            </a:r>
          </a:p>
        </p:txBody>
      </p:sp>
      <p:sp>
        <p:nvSpPr>
          <p:cNvPr id="9" name="TextBox 8"/>
          <p:cNvSpPr txBox="1"/>
          <p:nvPr/>
        </p:nvSpPr>
        <p:spPr>
          <a:xfrm>
            <a:off x="3017520" y="5577840"/>
            <a:ext cx="5212080" cy="320040"/>
          </a:xfrm>
          <a:prstGeom prst="rect">
            <a:avLst/>
          </a:prstGeom>
          <a:noFill/>
        </p:spPr>
        <p:txBody>
          <a:bodyPr wrap="square">
            <a:spAutoFit/>
          </a:bodyPr>
          <a:lstStyle/>
          <a:p>
            <a:pPr algn="ctr">
              <a:lnSpc>
                <a:spcPts val="1495"/>
              </a:lnSpc>
              <a:spcAft>
                <a:spcPts val="0"/>
              </a:spcAft>
              <a:defRPr sz="1300" b="0">
                <a:solidFill>
                  <a:srgbClr val="A8A29E"/>
                </a:solidFill>
                <a:latin typeface="Calibri"/>
              </a:defRPr>
            </a:pPr>
            <a:r>
              <a:t>Enables live accent conversion for calls &amp; video conferencing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Why AccentShift Wins</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Competitive landscape comparison</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48640" y="1463040"/>
          <a:ext cx="10972800" cy="9144"/>
        </p:xfrm>
        <a:graphic>
          <a:graphicData uri="http://schemas.openxmlformats.org/drawingml/2006/table">
            <a:tbl>
              <a:tblPr firstRow="1" bandRow="1">
                <a:tableStyleId>{5C22544A-7EE6-4342-B048-85BDC9FD1C3A}</a:tableStyleId>
              </a:tblPr>
              <a:tblGrid>
                <a:gridCol w="2286000"/>
                <a:gridCol w="2011680"/>
                <a:gridCol w="2011680"/>
                <a:gridCol w="2011680"/>
                <a:gridCol w="2651760"/>
              </a:tblGrid>
              <a:tr h="1306">
                <a:tc>
                  <a:txBody>
                    <a:bodyPr/>
                    <a:lstStyle/>
                    <a:p>
                      <a:pPr>
                        <a:spcBef>
                          <a:spcPts val="200"/>
                        </a:spcBef>
                        <a:spcAft>
                          <a:spcPts val="200"/>
                        </a:spcAft>
                        <a:defRPr sz="1200" b="1">
                          <a:solidFill>
                            <a:srgbClr val="FFFFFF"/>
                          </a:solidFill>
                          <a:latin typeface="Calibri"/>
                        </a:defRPr>
                      </a:pPr>
                      <a:r>
                        <a:t>Capability</a:t>
                      </a:r>
                    </a:p>
                  </a:txBody>
                  <a:tcPr marL="101600" marR="101600" marT="63500" marB="63500">
                    <a:solidFill>
                      <a:srgbClr val="1A3050"/>
                    </a:solidFill>
                  </a:tcPr>
                </a:tc>
                <a:tc>
                  <a:txBody>
                    <a:bodyPr/>
                    <a:lstStyle/>
                    <a:p>
                      <a:pPr>
                        <a:spcBef>
                          <a:spcPts val="200"/>
                        </a:spcBef>
                        <a:spcAft>
                          <a:spcPts val="200"/>
                        </a:spcAft>
                        <a:defRPr sz="1200" b="1">
                          <a:solidFill>
                            <a:srgbClr val="FFFFFF"/>
                          </a:solidFill>
                          <a:latin typeface="Calibri"/>
                        </a:defRPr>
                      </a:pPr>
                      <a:r>
                        <a:t>AccentShift</a:t>
                      </a:r>
                    </a:p>
                  </a:txBody>
                  <a:tcPr marL="101600" marR="101600" marT="63500" marB="63500">
                    <a:solidFill>
                      <a:srgbClr val="1A3050"/>
                    </a:solidFill>
                  </a:tcPr>
                </a:tc>
                <a:tc>
                  <a:txBody>
                    <a:bodyPr/>
                    <a:lstStyle/>
                    <a:p>
                      <a:pPr>
                        <a:spcBef>
                          <a:spcPts val="200"/>
                        </a:spcBef>
                        <a:spcAft>
                          <a:spcPts val="200"/>
                        </a:spcAft>
                        <a:defRPr sz="1200" b="1">
                          <a:solidFill>
                            <a:srgbClr val="FFFFFF"/>
                          </a:solidFill>
                          <a:latin typeface="Calibri"/>
                        </a:defRPr>
                      </a:pPr>
                      <a:r>
                        <a:t>OpenVoice V2</a:t>
                      </a:r>
                    </a:p>
                  </a:txBody>
                  <a:tcPr marL="101600" marR="101600" marT="63500" marB="63500">
                    <a:solidFill>
                      <a:srgbClr val="1A3050"/>
                    </a:solidFill>
                  </a:tcPr>
                </a:tc>
                <a:tc>
                  <a:txBody>
                    <a:bodyPr/>
                    <a:lstStyle/>
                    <a:p>
                      <a:pPr>
                        <a:spcBef>
                          <a:spcPts val="200"/>
                        </a:spcBef>
                        <a:spcAft>
                          <a:spcPts val="200"/>
                        </a:spcAft>
                        <a:defRPr sz="1200" b="1">
                          <a:solidFill>
                            <a:srgbClr val="FFFFFF"/>
                          </a:solidFill>
                          <a:latin typeface="Calibri"/>
                        </a:defRPr>
                      </a:pPr>
                      <a:r>
                        <a:t>CosyVoice</a:t>
                      </a:r>
                    </a:p>
                  </a:txBody>
                  <a:tcPr marL="101600" marR="101600" marT="63500" marB="63500">
                    <a:solidFill>
                      <a:srgbClr val="1A3050"/>
                    </a:solidFill>
                  </a:tcPr>
                </a:tc>
                <a:tc>
                  <a:txBody>
                    <a:bodyPr/>
                    <a:lstStyle/>
                    <a:p>
                      <a:pPr>
                        <a:spcBef>
                          <a:spcPts val="200"/>
                        </a:spcBef>
                        <a:spcAft>
                          <a:spcPts val="200"/>
                        </a:spcAft>
                        <a:defRPr sz="1200" b="1">
                          <a:solidFill>
                            <a:srgbClr val="FFFFFF"/>
                          </a:solidFill>
                          <a:latin typeface="Calibri"/>
                        </a:defRPr>
                      </a:pPr>
                      <a:r>
                        <a:t>StyleStream</a:t>
                      </a:r>
                    </a:p>
                  </a:txBody>
                  <a:tcPr marL="101600" marR="101600" marT="63500" marB="63500">
                    <a:solidFill>
                      <a:srgbClr val="1A3050"/>
                    </a:solidFill>
                  </a:tcPr>
                </a:tc>
              </a:tr>
              <a:tr h="1306">
                <a:tc>
                  <a:txBody>
                    <a:bodyPr/>
                    <a:lstStyle/>
                    <a:p>
                      <a:pPr>
                        <a:spcBef>
                          <a:spcPts val="200"/>
                        </a:spcBef>
                        <a:spcAft>
                          <a:spcPts val="200"/>
                        </a:spcAft>
                        <a:defRPr sz="1200">
                          <a:solidFill>
                            <a:srgbClr val="E0E0E0"/>
                          </a:solidFill>
                          <a:latin typeface="Calibri"/>
                        </a:defRPr>
                      </a:pPr>
                      <a:r>
                        <a:t>Accent conversion</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Dual engine</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Basic VC</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LLM-based</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SOTA</a:t>
                      </a:r>
                    </a:p>
                  </a:txBody>
                  <a:tcPr marL="101600" marR="101600" marT="63500" marB="63500">
                    <a:solidFill>
                      <a:srgbClr val="142540"/>
                    </a:solidFill>
                  </a:tcPr>
                </a:tc>
              </a:tr>
              <a:tr h="1306">
                <a:tc>
                  <a:txBody>
                    <a:bodyPr/>
                    <a:lstStyle/>
                    <a:p>
                      <a:pPr>
                        <a:spcBef>
                          <a:spcPts val="200"/>
                        </a:spcBef>
                        <a:spcAft>
                          <a:spcPts val="200"/>
                        </a:spcAft>
                        <a:defRPr sz="1200">
                          <a:solidFill>
                            <a:srgbClr val="E0E0E0"/>
                          </a:solidFill>
                          <a:latin typeface="Calibri"/>
                        </a:defRPr>
                      </a:pPr>
                      <a:r>
                        <a:t>Emotion preservation</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3-layer guard</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Not addressed</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Instruct tokens</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Joint model</a:t>
                      </a:r>
                    </a:p>
                  </a:txBody>
                  <a:tcPr marL="101600" marR="101600" marT="63500" marB="63500">
                    <a:solidFill>
                      <a:srgbClr val="111F38"/>
                    </a:solidFill>
                  </a:tcPr>
                </a:tc>
              </a:tr>
              <a:tr h="1306">
                <a:tc>
                  <a:txBody>
                    <a:bodyPr/>
                    <a:lstStyle/>
                    <a:p>
                      <a:pPr>
                        <a:spcBef>
                          <a:spcPts val="200"/>
                        </a:spcBef>
                        <a:spcAft>
                          <a:spcPts val="200"/>
                        </a:spcAft>
                        <a:defRPr sz="1200">
                          <a:solidFill>
                            <a:srgbClr val="E0E0E0"/>
                          </a:solidFill>
                          <a:latin typeface="Calibri"/>
                        </a:defRPr>
                      </a:pPr>
                      <a:r>
                        <a:t>Zero-shot</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5s reference</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No weights</a:t>
                      </a:r>
                    </a:p>
                  </a:txBody>
                  <a:tcPr marL="101600" marR="101600" marT="63500" marB="63500">
                    <a:solidFill>
                      <a:srgbClr val="142540"/>
                    </a:solidFill>
                  </a:tcPr>
                </a:tc>
              </a:tr>
              <a:tr h="1306">
                <a:tc>
                  <a:txBody>
                    <a:bodyPr/>
                    <a:lstStyle/>
                    <a:p>
                      <a:pPr>
                        <a:spcBef>
                          <a:spcPts val="200"/>
                        </a:spcBef>
                        <a:spcAft>
                          <a:spcPts val="200"/>
                        </a:spcAft>
                        <a:defRPr sz="1200">
                          <a:solidFill>
                            <a:srgbClr val="E0E0E0"/>
                          </a:solidFill>
                          <a:latin typeface="Calibri"/>
                        </a:defRPr>
                      </a:pPr>
                      <a:r>
                        <a:t>Edge-ready</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Arch B</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ONNX only</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a:t>
                      </a:r>
                    </a:p>
                  </a:txBody>
                  <a:tcPr marL="101600" marR="101600" marT="63500" marB="63500">
                    <a:solidFill>
                      <a:srgbClr val="111F38"/>
                    </a:solidFill>
                  </a:tcPr>
                </a:tc>
              </a:tr>
              <a:tr h="1306">
                <a:tc>
                  <a:txBody>
                    <a:bodyPr/>
                    <a:lstStyle/>
                    <a:p>
                      <a:pPr>
                        <a:spcBef>
                          <a:spcPts val="200"/>
                        </a:spcBef>
                        <a:spcAft>
                          <a:spcPts val="200"/>
                        </a:spcAft>
                        <a:defRPr sz="1200">
                          <a:solidFill>
                            <a:srgbClr val="E0E0E0"/>
                          </a:solidFill>
                          <a:latin typeface="Calibri"/>
                        </a:defRPr>
                      </a:pPr>
                      <a:r>
                        <a:t>Ensemble quality</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Dual + scoring</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Single</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Single</a:t>
                      </a:r>
                    </a:p>
                  </a:txBody>
                  <a:tcPr marL="101600" marR="101600" marT="63500" marB="63500">
                    <a:solidFill>
                      <a:srgbClr val="142540"/>
                    </a:solidFill>
                  </a:tcPr>
                </a:tc>
                <a:tc>
                  <a:txBody>
                    <a:bodyPr/>
                    <a:lstStyle/>
                    <a:p>
                      <a:pPr>
                        <a:spcBef>
                          <a:spcPts val="200"/>
                        </a:spcBef>
                        <a:spcAft>
                          <a:spcPts val="200"/>
                        </a:spcAft>
                        <a:defRPr sz="1200">
                          <a:solidFill>
                            <a:srgbClr val="E0E0E0"/>
                          </a:solidFill>
                          <a:latin typeface="Calibri"/>
                        </a:defRPr>
                      </a:pPr>
                      <a:r>
                        <a:t>❌ Single</a:t>
                      </a:r>
                    </a:p>
                  </a:txBody>
                  <a:tcPr marL="101600" marR="101600" marT="63500" marB="63500">
                    <a:solidFill>
                      <a:srgbClr val="142540"/>
                    </a:solidFill>
                  </a:tcPr>
                </a:tc>
              </a:tr>
              <a:tr h="1308">
                <a:tc>
                  <a:txBody>
                    <a:bodyPr/>
                    <a:lstStyle/>
                    <a:p>
                      <a:pPr>
                        <a:spcBef>
                          <a:spcPts val="200"/>
                        </a:spcBef>
                        <a:spcAft>
                          <a:spcPts val="200"/>
                        </a:spcAft>
                        <a:defRPr sz="1200">
                          <a:solidFill>
                            <a:srgbClr val="E0E0E0"/>
                          </a:solidFill>
                          <a:latin typeface="Calibri"/>
                        </a:defRPr>
                      </a:pPr>
                      <a:r>
                        <a:t>Open source</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Fully open</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a:t>
                      </a:r>
                    </a:p>
                  </a:txBody>
                  <a:tcPr marL="101600" marR="101600" marT="63500" marB="63500">
                    <a:solidFill>
                      <a:srgbClr val="111F38"/>
                    </a:solidFill>
                  </a:tcPr>
                </a:tc>
                <a:tc>
                  <a:txBody>
                    <a:bodyPr/>
                    <a:lstStyle/>
                    <a:p>
                      <a:pPr>
                        <a:spcBef>
                          <a:spcPts val="200"/>
                        </a:spcBef>
                        <a:spcAft>
                          <a:spcPts val="200"/>
                        </a:spcAft>
                        <a:defRPr sz="1200">
                          <a:solidFill>
                            <a:srgbClr val="E0E0E0"/>
                          </a:solidFill>
                          <a:latin typeface="Calibri"/>
                        </a:defRPr>
                      </a:pPr>
                      <a:r>
                        <a:t>⚠️ No weights</a:t>
                      </a:r>
                    </a:p>
                  </a:txBody>
                  <a:tcPr marL="101600" marR="101600" marT="63500" marB="63500">
                    <a:solidFill>
                      <a:srgbClr val="111F38"/>
                    </a:solidFill>
                  </a:tcPr>
                </a:tc>
              </a:tr>
            </a:tbl>
          </a:graphicData>
        </a:graphic>
      </p:graphicFrame>
      <p:sp>
        <p:nvSpPr>
          <p:cNvPr id="7" name="Rounded Rectangle 6"/>
          <p:cNvSpPr/>
          <p:nvPr/>
        </p:nvSpPr>
        <p:spPr>
          <a:xfrm>
            <a:off x="1371600" y="5303520"/>
            <a:ext cx="8503920" cy="914400"/>
          </a:xfrm>
          <a:prstGeom prst="roundRect">
            <a:avLst>
              <a:gd name="adj" fmla="val 8000"/>
            </a:avLst>
          </a:prstGeom>
          <a:solidFill>
            <a:srgbClr val="142540"/>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5440680"/>
            <a:ext cx="7955279" cy="548640"/>
          </a:xfrm>
          <a:prstGeom prst="rect">
            <a:avLst/>
          </a:prstGeom>
          <a:noFill/>
        </p:spPr>
        <p:txBody>
          <a:bodyPr wrap="square">
            <a:spAutoFit/>
          </a:bodyPr>
          <a:lstStyle/>
          <a:p>
            <a:pPr algn="ctr">
              <a:lnSpc>
                <a:spcPts val="1609"/>
              </a:lnSpc>
              <a:spcAft>
                <a:spcPts val="0"/>
              </a:spcAft>
              <a:defRPr sz="1400" b="1">
                <a:solidFill>
                  <a:srgbClr val="EA580C"/>
                </a:solidFill>
                <a:latin typeface="Calibri"/>
              </a:defRPr>
            </a:pPr>
            <a:r>
              <a:t>AccentShift is the only system combining dual-engine ensemble</a:t>
            </a:r>
            <a:br/>
            <a:r>
              <a:t>with explicit 3-layer emotion preservation + edge deployment.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731520" y="502920"/>
            <a:ext cx="27432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20040"/>
            <a:ext cx="9144000" cy="548640"/>
          </a:xfrm>
          <a:prstGeom prst="rect">
            <a:avLst/>
          </a:prstGeom>
          <a:noFill/>
        </p:spPr>
        <p:txBody>
          <a:bodyPr wrap="square">
            <a:spAutoFit/>
          </a:bodyPr>
          <a:lstStyle/>
          <a:p>
            <a:pPr algn="l">
              <a:lnSpc>
                <a:spcPts val="3219"/>
              </a:lnSpc>
              <a:spcAft>
                <a:spcPts val="0"/>
              </a:spcAft>
              <a:defRPr sz="2800" b="1">
                <a:solidFill>
                  <a:srgbClr val="FFFFFF"/>
                </a:solidFill>
                <a:latin typeface="Calibri"/>
              </a:defRPr>
            </a:pPr>
            <a:r>
              <a:t>Roadmap</a:t>
            </a:r>
          </a:p>
        </p:txBody>
      </p:sp>
      <p:sp>
        <p:nvSpPr>
          <p:cNvPr id="4" name="TextBox 3"/>
          <p:cNvSpPr txBox="1"/>
          <p:nvPr/>
        </p:nvSpPr>
        <p:spPr>
          <a:xfrm>
            <a:off x="1143000" y="822960"/>
            <a:ext cx="9144000" cy="365760"/>
          </a:xfrm>
          <a:prstGeom prst="rect">
            <a:avLst/>
          </a:prstGeom>
          <a:noFill/>
        </p:spPr>
        <p:txBody>
          <a:bodyPr wrap="square">
            <a:spAutoFit/>
          </a:bodyPr>
          <a:lstStyle/>
          <a:p>
            <a:pPr algn="l">
              <a:lnSpc>
                <a:spcPts val="1609"/>
              </a:lnSpc>
              <a:spcAft>
                <a:spcPts val="0"/>
              </a:spcAft>
              <a:defRPr sz="1400" b="0">
                <a:solidFill>
                  <a:srgbClr val="A8A29E"/>
                </a:solidFill>
                <a:latin typeface="Calibri"/>
              </a:defRPr>
            </a:pPr>
            <a:r>
              <a:t>What's next for AccentShift</a:t>
            </a:r>
          </a:p>
        </p:txBody>
      </p:sp>
      <p:cxnSp>
        <p:nvCxnSpPr>
          <p:cNvPr id="5" name="Connector 4"/>
          <p:cNvCxnSpPr/>
          <p:nvPr/>
        </p:nvCxnSpPr>
        <p:spPr>
          <a:xfrm>
            <a:off x="731520" y="1188720"/>
            <a:ext cx="10698480" cy="0"/>
          </a:xfrm>
          <a:prstGeom prst="line">
            <a:avLst/>
          </a:prstGeom>
          <a:ln w="9525">
            <a:solidFill>
              <a:srgbClr val="334455"/>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1463040"/>
            <a:ext cx="4846320" cy="3200400"/>
          </a:xfrm>
          <a:prstGeom prst="roundRect">
            <a:avLst>
              <a:gd name="adj" fmla="val 8000"/>
            </a:avLst>
          </a:prstGeom>
          <a:solidFill>
            <a:srgbClr val="111F38"/>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297680" cy="274320"/>
          </a:xfrm>
          <a:prstGeom prst="rect">
            <a:avLst/>
          </a:prstGeom>
          <a:noFill/>
        </p:spPr>
        <p:txBody>
          <a:bodyPr wrap="square">
            <a:spAutoFit/>
          </a:bodyPr>
          <a:lstStyle/>
          <a:p>
            <a:pPr algn="l">
              <a:lnSpc>
                <a:spcPts val="1495"/>
              </a:lnSpc>
              <a:spcAft>
                <a:spcPts val="0"/>
              </a:spcAft>
              <a:defRPr sz="1300" b="1">
                <a:solidFill>
                  <a:srgbClr val="EA580C"/>
                </a:solidFill>
                <a:latin typeface="Calibri"/>
              </a:defRPr>
            </a:pPr>
            <a:r>
              <a:t>PHASE 1</a:t>
            </a:r>
          </a:p>
        </p:txBody>
      </p:sp>
      <p:sp>
        <p:nvSpPr>
          <p:cNvPr id="8" name="TextBox 7"/>
          <p:cNvSpPr txBox="1"/>
          <p:nvPr/>
        </p:nvSpPr>
        <p:spPr>
          <a:xfrm>
            <a:off x="1005840" y="1920240"/>
            <a:ext cx="4297680" cy="228600"/>
          </a:xfrm>
          <a:prstGeom prst="rect">
            <a:avLst/>
          </a:prstGeom>
          <a:noFill/>
        </p:spPr>
        <p:txBody>
          <a:bodyPr wrap="square">
            <a:spAutoFit/>
          </a:bodyPr>
          <a:lstStyle/>
          <a:p>
            <a:pPr algn="l">
              <a:lnSpc>
                <a:spcPts val="1264"/>
              </a:lnSpc>
              <a:spcAft>
                <a:spcPts val="0"/>
              </a:spcAft>
              <a:defRPr sz="1100" b="0">
                <a:solidFill>
                  <a:srgbClr val="78716C"/>
                </a:solidFill>
                <a:latin typeface="Calibri"/>
              </a:defRPr>
            </a:pPr>
            <a:r>
              <a:t>Next 2 weeks</a:t>
            </a:r>
          </a:p>
        </p:txBody>
      </p:sp>
      <p:sp>
        <p:nvSpPr>
          <p:cNvPr id="9" name="TextBox 8"/>
          <p:cNvSpPr txBox="1"/>
          <p:nvPr/>
        </p:nvSpPr>
        <p:spPr>
          <a:xfrm>
            <a:off x="1005840" y="2286000"/>
            <a:ext cx="4297680" cy="219456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800"/>
              </a:spcAft>
              <a:defRPr sz="1200" b="0">
                <a:solidFill>
                  <a:srgbClr val="E0E0E0"/>
                </a:solidFill>
                <a:latin typeface="Calibri"/>
              </a:defRPr>
            </a:pPr>
            <a:r>
              <a:t>▸  StyleStream integration (when weights release)</a:t>
            </a:r>
          </a:p>
          <a:p>
            <a:pPr algn="l">
              <a:spcBef>
                <a:spcPts val="0"/>
              </a:spcBef>
              <a:spcAft>
                <a:spcPts val="800"/>
              </a:spcAft>
              <a:defRPr sz="1200" b="0">
                <a:solidFill>
                  <a:srgbClr val="E0E0E0"/>
                </a:solidFill>
                <a:latin typeface="Calibri"/>
              </a:defRPr>
            </a:pPr>
            <a:r>
              <a:t>▸  Real-time streaming mode (WebSocket)</a:t>
            </a:r>
          </a:p>
          <a:p>
            <a:pPr algn="l">
              <a:spcBef>
                <a:spcPts val="0"/>
              </a:spcBef>
              <a:spcAft>
                <a:spcPts val="800"/>
              </a:spcAft>
              <a:defRPr sz="1200" b="0">
                <a:solidFill>
                  <a:srgbClr val="E0E0E0"/>
                </a:solidFill>
                <a:latin typeface="Calibri"/>
              </a:defRPr>
            </a:pPr>
            <a:r>
              <a:t>▸  10+ accent support (Arabic, Korean, Spanish, Vietnamese)</a:t>
            </a:r>
          </a:p>
          <a:p>
            <a:pPr algn="l">
              <a:spcBef>
                <a:spcPts val="0"/>
              </a:spcBef>
              <a:spcAft>
                <a:spcPts val="800"/>
              </a:spcAft>
              <a:defRPr sz="1200" b="0">
                <a:solidFill>
                  <a:srgbClr val="E0E0E0"/>
                </a:solidFill>
                <a:latin typeface="Calibri"/>
              </a:defRPr>
            </a:pPr>
            <a:r>
              <a:t>▸  Browser-based live demo with WebRTC</a:t>
            </a:r>
          </a:p>
        </p:txBody>
      </p:sp>
      <p:sp>
        <p:nvSpPr>
          <p:cNvPr id="10" name="Rounded Rectangle 9"/>
          <p:cNvSpPr/>
          <p:nvPr/>
        </p:nvSpPr>
        <p:spPr>
          <a:xfrm>
            <a:off x="5943600" y="1463040"/>
            <a:ext cx="4846320" cy="3200400"/>
          </a:xfrm>
          <a:prstGeom prst="roundRect">
            <a:avLst>
              <a:gd name="adj" fmla="val 8000"/>
            </a:avLst>
          </a:prstGeom>
          <a:solidFill>
            <a:srgbClr val="111F38"/>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645920"/>
            <a:ext cx="4297680" cy="274320"/>
          </a:xfrm>
          <a:prstGeom prst="rect">
            <a:avLst/>
          </a:prstGeom>
          <a:noFill/>
        </p:spPr>
        <p:txBody>
          <a:bodyPr wrap="square">
            <a:spAutoFit/>
          </a:bodyPr>
          <a:lstStyle/>
          <a:p>
            <a:pPr algn="l">
              <a:lnSpc>
                <a:spcPts val="1495"/>
              </a:lnSpc>
              <a:spcAft>
                <a:spcPts val="0"/>
              </a:spcAft>
              <a:defRPr sz="1300" b="1">
                <a:solidFill>
                  <a:srgbClr val="0D9488"/>
                </a:solidFill>
                <a:latin typeface="Calibri"/>
              </a:defRPr>
            </a:pPr>
            <a:r>
              <a:t>PHASE 2</a:t>
            </a:r>
          </a:p>
        </p:txBody>
      </p:sp>
      <p:sp>
        <p:nvSpPr>
          <p:cNvPr id="12" name="TextBox 11"/>
          <p:cNvSpPr txBox="1"/>
          <p:nvPr/>
        </p:nvSpPr>
        <p:spPr>
          <a:xfrm>
            <a:off x="6217920" y="1920240"/>
            <a:ext cx="4297680" cy="228600"/>
          </a:xfrm>
          <a:prstGeom prst="rect">
            <a:avLst/>
          </a:prstGeom>
          <a:noFill/>
        </p:spPr>
        <p:txBody>
          <a:bodyPr wrap="square">
            <a:spAutoFit/>
          </a:bodyPr>
          <a:lstStyle/>
          <a:p>
            <a:pPr algn="l">
              <a:lnSpc>
                <a:spcPts val="1264"/>
              </a:lnSpc>
              <a:spcAft>
                <a:spcPts val="0"/>
              </a:spcAft>
              <a:defRPr sz="1100" b="0">
                <a:solidFill>
                  <a:srgbClr val="78716C"/>
                </a:solidFill>
                <a:latin typeface="Calibri"/>
              </a:defRPr>
            </a:pPr>
            <a:r>
              <a:t>Next quarter</a:t>
            </a:r>
          </a:p>
        </p:txBody>
      </p:sp>
      <p:sp>
        <p:nvSpPr>
          <p:cNvPr id="13" name="TextBox 12"/>
          <p:cNvSpPr txBox="1"/>
          <p:nvPr/>
        </p:nvSpPr>
        <p:spPr>
          <a:xfrm>
            <a:off x="6217920" y="2286000"/>
            <a:ext cx="4297680" cy="2194560"/>
          </a:xfrm>
          <a:prstGeom prst="rect">
            <a:avLst/>
          </a:prstGeom>
          <a:noFill/>
        </p:spPr>
        <p:txBody>
          <a:bodyPr wrap="square">
            <a:spAutoFit/>
          </a:bodyPr>
          <a:lstStyle/>
          <a:p>
            <a:pPr algn="l">
              <a:lnSpc>
                <a:spcPts val="2070"/>
              </a:lnSpc>
              <a:spcAft>
                <a:spcPts val="0"/>
              </a:spcAft>
              <a:defRPr sz="1800" b="0">
                <a:solidFill>
                  <a:srgbClr val="FFFFFF"/>
                </a:solidFill>
                <a:latin typeface="Calibri"/>
              </a:defRPr>
            </a:pPr>
          </a:p>
          <a:p>
            <a:pPr algn="l">
              <a:spcBef>
                <a:spcPts val="0"/>
              </a:spcBef>
              <a:spcAft>
                <a:spcPts val="800"/>
              </a:spcAft>
              <a:defRPr sz="1200" b="0">
                <a:solidFill>
                  <a:srgbClr val="E0E0E0"/>
                </a:solidFill>
                <a:latin typeface="Calibri"/>
              </a:defRPr>
            </a:pPr>
            <a:r>
              <a:t>▸  Mobile SDK (iOS / Android)</a:t>
            </a:r>
          </a:p>
          <a:p>
            <a:pPr algn="l">
              <a:spcBef>
                <a:spcPts val="0"/>
              </a:spcBef>
              <a:spcAft>
                <a:spcPts val="800"/>
              </a:spcAft>
              <a:defRPr sz="1200" b="0">
                <a:solidFill>
                  <a:srgbClr val="E0E0E0"/>
                </a:solidFill>
                <a:latin typeface="Calibri"/>
              </a:defRPr>
            </a:pPr>
            <a:r>
              <a:t>▸  Browser inference via WebGPU</a:t>
            </a:r>
          </a:p>
          <a:p>
            <a:pPr algn="l">
              <a:spcBef>
                <a:spcPts val="0"/>
              </a:spcBef>
              <a:spcAft>
                <a:spcPts val="800"/>
              </a:spcAft>
              <a:defRPr sz="1200" b="0">
                <a:solidFill>
                  <a:srgbClr val="E0E0E0"/>
                </a:solidFill>
                <a:latin typeface="Calibri"/>
              </a:defRPr>
            </a:pPr>
            <a:r>
              <a:t>▸  API marketplace for developers</a:t>
            </a:r>
          </a:p>
          <a:p>
            <a:pPr algn="l">
              <a:spcBef>
                <a:spcPts val="0"/>
              </a:spcBef>
              <a:spcAft>
                <a:spcPts val="800"/>
              </a:spcAft>
              <a:defRPr sz="1200" b="0">
                <a:solidFill>
                  <a:srgbClr val="E0E0E0"/>
                </a:solidFill>
                <a:latin typeface="Calibri"/>
              </a:defRPr>
            </a:pPr>
            <a:r>
              <a:t>▸  Enterprise integration: call centers, video conferencing</a:t>
            </a:r>
          </a:p>
        </p:txBody>
      </p:sp>
      <p:sp>
        <p:nvSpPr>
          <p:cNvPr id="14" name="Rounded Rectangle 13"/>
          <p:cNvSpPr/>
          <p:nvPr/>
        </p:nvSpPr>
        <p:spPr>
          <a:xfrm>
            <a:off x="1828800" y="5029200"/>
            <a:ext cx="8229600" cy="1097280"/>
          </a:xfrm>
          <a:prstGeom prst="roundRect">
            <a:avLst>
              <a:gd name="adj" fmla="val 8000"/>
            </a:avLst>
          </a:prstGeom>
          <a:solidFill>
            <a:srgbClr val="142540"/>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5120640"/>
            <a:ext cx="7680960" cy="274320"/>
          </a:xfrm>
          <a:prstGeom prst="rect">
            <a:avLst/>
          </a:prstGeom>
          <a:noFill/>
        </p:spPr>
        <p:txBody>
          <a:bodyPr wrap="square">
            <a:spAutoFit/>
          </a:bodyPr>
          <a:lstStyle/>
          <a:p>
            <a:pPr algn="ctr">
              <a:lnSpc>
                <a:spcPts val="1150"/>
              </a:lnSpc>
              <a:spcAft>
                <a:spcPts val="0"/>
              </a:spcAft>
              <a:defRPr sz="1000" b="1">
                <a:solidFill>
                  <a:srgbClr val="EA580C"/>
                </a:solidFill>
                <a:latin typeface="Calibri"/>
              </a:defRPr>
            </a:pPr>
            <a:r>
              <a:t>VISION</a:t>
            </a:r>
          </a:p>
        </p:txBody>
      </p:sp>
      <p:sp>
        <p:nvSpPr>
          <p:cNvPr id="16" name="TextBox 15"/>
          <p:cNvSpPr txBox="1"/>
          <p:nvPr/>
        </p:nvSpPr>
        <p:spPr>
          <a:xfrm>
            <a:off x="2103120" y="5440680"/>
            <a:ext cx="7680960" cy="457200"/>
          </a:xfrm>
          <a:prstGeom prst="rect">
            <a:avLst/>
          </a:prstGeom>
          <a:noFill/>
        </p:spPr>
        <p:txBody>
          <a:bodyPr wrap="square">
            <a:spAutoFit/>
          </a:bodyPr>
          <a:lstStyle/>
          <a:p>
            <a:pPr algn="ctr">
              <a:lnSpc>
                <a:spcPts val="2529"/>
              </a:lnSpc>
              <a:spcAft>
                <a:spcPts val="0"/>
              </a:spcAft>
              <a:defRPr sz="2200" b="1">
                <a:solidFill>
                  <a:srgbClr val="FFFFFF"/>
                </a:solidFill>
                <a:latin typeface="Calibri"/>
              </a:defRPr>
            </a:pPr>
            <a:r>
              <a:t>A world where accent is a choice, not a barrier.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1828800" y="1371600"/>
            <a:ext cx="2286000" cy="2286000"/>
          </a:xfrm>
          <a:prstGeom prst="ellipse">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4572000"/>
            <a:ext cx="2743200" cy="2743200"/>
          </a:xfrm>
          <a:prstGeom prst="ellipse">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914400"/>
          </a:xfrm>
          <a:prstGeom prst="rect">
            <a:avLst/>
          </a:prstGeom>
          <a:noFill/>
        </p:spPr>
        <p:txBody>
          <a:bodyPr wrap="square">
            <a:spAutoFit/>
          </a:bodyPr>
          <a:lstStyle/>
          <a:p>
            <a:pPr algn="ctr">
              <a:lnSpc>
                <a:spcPts val="6439"/>
              </a:lnSpc>
              <a:spcAft>
                <a:spcPts val="0"/>
              </a:spcAft>
              <a:defRPr sz="5600" b="1">
                <a:solidFill>
                  <a:srgbClr val="FFFFFF"/>
                </a:solidFill>
                <a:latin typeface="Calibri"/>
              </a:defRPr>
            </a:pPr>
            <a:r>
              <a:t>AccentShift</a:t>
            </a:r>
          </a:p>
        </p:txBody>
      </p:sp>
      <p:sp>
        <p:nvSpPr>
          <p:cNvPr id="5" name="TextBox 4"/>
          <p:cNvSpPr txBox="1"/>
          <p:nvPr/>
        </p:nvSpPr>
        <p:spPr>
          <a:xfrm>
            <a:off x="1371600" y="2651760"/>
            <a:ext cx="9144000" cy="548640"/>
          </a:xfrm>
          <a:prstGeom prst="rect">
            <a:avLst/>
          </a:prstGeom>
          <a:noFill/>
        </p:spPr>
        <p:txBody>
          <a:bodyPr wrap="square">
            <a:spAutoFit/>
          </a:bodyPr>
          <a:lstStyle/>
          <a:p>
            <a:pPr algn="ctr">
              <a:lnSpc>
                <a:spcPts val="2760"/>
              </a:lnSpc>
              <a:spcAft>
                <a:spcPts val="0"/>
              </a:spcAft>
              <a:defRPr sz="2400" b="0">
                <a:solidFill>
                  <a:srgbClr val="EA580C"/>
                </a:solidFill>
                <a:latin typeface="Calibri"/>
              </a:defRPr>
            </a:pPr>
            <a:r>
              <a:t>Your Voice, Any Accent.</a:t>
            </a:r>
          </a:p>
        </p:txBody>
      </p:sp>
      <p:sp>
        <p:nvSpPr>
          <p:cNvPr id="6" name="TextBox 5"/>
          <p:cNvSpPr txBox="1"/>
          <p:nvPr/>
        </p:nvSpPr>
        <p:spPr>
          <a:xfrm>
            <a:off x="1371600" y="3474720"/>
            <a:ext cx="9144000" cy="548640"/>
          </a:xfrm>
          <a:prstGeom prst="rect">
            <a:avLst/>
          </a:prstGeom>
          <a:noFill/>
        </p:spPr>
        <p:txBody>
          <a:bodyPr wrap="square">
            <a:spAutoFit/>
          </a:bodyPr>
          <a:lstStyle/>
          <a:p>
            <a:pPr algn="ctr">
              <a:lnSpc>
                <a:spcPts val="4140"/>
              </a:lnSpc>
              <a:spcAft>
                <a:spcPts val="0"/>
              </a:spcAft>
              <a:defRPr sz="3600" b="0">
                <a:solidFill>
                  <a:srgbClr val="FFFFFF"/>
                </a:solidFill>
                <a:latin typeface="Calibri"/>
              </a:defRPr>
            </a:pPr>
            <a:r>
              <a:t>🇮🇳     🇨🇳     🇯🇵     🇬🇧     🇺🇸</a:t>
            </a:r>
          </a:p>
        </p:txBody>
      </p:sp>
      <p:sp>
        <p:nvSpPr>
          <p:cNvPr id="7" name="Rectangle 6"/>
          <p:cNvSpPr/>
          <p:nvPr/>
        </p:nvSpPr>
        <p:spPr>
          <a:xfrm>
            <a:off x="5029200" y="4297680"/>
            <a:ext cx="2103120"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572000"/>
            <a:ext cx="9144000" cy="548640"/>
          </a:xfrm>
          <a:prstGeom prst="rect">
            <a:avLst/>
          </a:prstGeom>
          <a:noFill/>
        </p:spPr>
        <p:txBody>
          <a:bodyPr wrap="square">
            <a:spAutoFit/>
          </a:bodyPr>
          <a:lstStyle/>
          <a:p>
            <a:pPr algn="ctr">
              <a:lnSpc>
                <a:spcPts val="2990"/>
              </a:lnSpc>
              <a:spcAft>
                <a:spcPts val="0"/>
              </a:spcAft>
              <a:defRPr sz="2600" b="1">
                <a:solidFill>
                  <a:srgbClr val="FFFFFF"/>
                </a:solidFill>
                <a:latin typeface="Calibri"/>
              </a:defRPr>
            </a:pPr>
            <a:r>
              <a:t>Thank You · Questions?</a:t>
            </a:r>
          </a:p>
        </p:txBody>
      </p:sp>
      <p:sp>
        <p:nvSpPr>
          <p:cNvPr id="9" name="TextBox 8"/>
          <p:cNvSpPr txBox="1"/>
          <p:nvPr/>
        </p:nvSpPr>
        <p:spPr>
          <a:xfrm>
            <a:off x="1371600" y="5394960"/>
            <a:ext cx="9144000" cy="365760"/>
          </a:xfrm>
          <a:prstGeom prst="rect">
            <a:avLst/>
          </a:prstGeom>
          <a:noFill/>
        </p:spPr>
        <p:txBody>
          <a:bodyPr wrap="square">
            <a:spAutoFit/>
          </a:bodyPr>
          <a:lstStyle/>
          <a:p>
            <a:pPr algn="ctr">
              <a:lnSpc>
                <a:spcPts val="1495"/>
              </a:lnSpc>
              <a:spcAft>
                <a:spcPts val="0"/>
              </a:spcAft>
              <a:defRPr sz="1300" b="0">
                <a:solidFill>
                  <a:srgbClr val="78716C"/>
                </a:solidFill>
                <a:latin typeface="Calibri"/>
              </a:defRPr>
            </a:pPr>
            <a:r>
              <a:t>Team [Your Team Name]  ·  DP6 Honeywell Designathon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